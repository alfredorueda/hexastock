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70" r:id="rId19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9" r:id="rId12"/>
    <p:sldId id="266" r:id="rId1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38"/>
  </p:normalViewPr>
  <p:slideViewPr>
    <p:cSldViewPr snapToGrid="0">
      <p:cViewPr varScale="1">
        <p:scale>
          <a:sx n="128" d="100"/>
          <a:sy n="128" d="100"/>
        </p:scale>
        <p:origin x="17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631BB4B-9592-4554-8EE5-C4A07A43FD2D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t>FUNCIÓ (0:20): obrir la microlliçó: salutació i títol de la classe.</a:t>
            </a:r>
          </a:p>
          <a:p>
            <a:r>
              <a:t>Assenyalar el títol; el context s’explica amb la diapositiva següent.</a:t>
            </a:r>
          </a:p>
          <a:p>
            <a:r>
              <a:t>TRANSICIÓ: avançar a la diapositiva «Una trobada entre dos mons».</a:t>
            </a:r>
          </a:p>
        </p:txBody>
      </p:sp>
      <p:sp>
        <p:nvSpPr>
          <p:cNvPr id="19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6F1B75C-4B08-4CC7-9796-A276BB086824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(1:05): justificar l’encaix de la sessió en el pla docent.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Assenyalar: DSI, 3r curs i 6 ECTS.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Bloc: Clean Architecture, arquitectura hexagonal, ports i adaptadors, mapping, modularització i DDD.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fer una enumeració llarga del temari: el focus és una decisió concreta sobre ports de sortida.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«Amb aquest context, formulem l’objectiu mínim de la sessió.»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7ADFA09-EE7C-43EF-856C-EE6392323D30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(0:55): diapositiva pont; passar-hi ràpid i no anticipar tota la teoria.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CLAU, mirant el tribunal: «El cas d’ús necessita una capacitat, no una tecnologia.»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Assenyalar les tres decisions: identificar necessitat, definir port i implementar adaptador(s).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Metodologia: primer el cas real; després, l’abstracció arquitectònica.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«Comencem, per tant, pel procediment de beca.»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FDB0473-3FF7-4E97-994D-3625B2D467F3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(1:45): establir el problema funcional abans de parlar de tecnologia.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Assenyalar la seqüència: sol·licitud, expedient, requisits, revisió i resolució.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Focus: l’avaluació econòmica necessita renda i patrimoni fiables.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OBLIDAR: la decisió administrativa i el mecanisme tècnic són nivells diferents.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Evitar encara SOAP, REST, PICA o bases de dades.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«Quina informació externa necessita el procediment per prendre aquesta decisió?»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EBB6F08-9FC4-4E16-ADC5-A771378993CE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(1:45): separar necessitat funcional, font administrativa i canal d’interoperabilitat.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Necessitats: renda, patrimoni i béns immobles. Fonts: AEAT i Cadastre. Canal: PICA.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OBLIDAR: PICA no és una font original del mateix tipus que AEAT o Cadastre.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CLAU, amb pausa: «El procediment necessita informació administrativa, no una API concreta.»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«Quan aquesta separació no es respecta, apareix el problema arquitectònic.»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3A4757E-1D4F-4A13-8566-361925C4050A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(2:20): diagnosticar una cadena causal, no enumerar tres riscos independents.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Assenyalar d’esquerra a dreta: CAUSA (acoblament) → PROPAGACIÓ (el canvi travessa la frontera) → CONSEQÜÈNCIA (més codi afectat i manteniment més fràgil).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Idea: un únic acoblament converteix el canvi d’infraestructura en un canvi que arriba al procediment.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OBLIDAR: el problema no és PICA; és la dependència directa dels seus detalls tècnics.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PREGUNTA DOCENT, literal: «Com podem permetre que el cas d’ús necessiti dades externes, però sense dependre directament de la tecnologia que les proporciona?»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PAUSA. TRANSICIÓ: «La resposta és introduir un port de sortida.»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47FB541-E37B-4E36-BB98-0E226F01602E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(2:20): frontissa conceptual forta; baixar el ritme.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Primera línia: flux d’execució, del cas d’ús cap al sistema extern.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Segona línia: dependència de codi; el cas d’ús depèn del port i l’adaptador implementa el port.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Assenyalar el mini-UML: el port és un contracte; en Java el representem amb una interfície.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«El servei usa el port; l’adaptador implementa el port.»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Inversió: la infraestructura depèn del port definit per l’aplicació.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«Apliquem ara aquesta distinció a la informació patrimonial.»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019A241-8106-4F4D-910A-78FA45E9ED70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(1:45): aplicar la distinció al cas administratiu.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Nucli: servei d’aplicació i domini; el servei depèn de contractes propis.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Exterior: adaptadors PICA/JDBC i mecanismes SOAP/XML o REST.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Llegir bé les fletxes: el servei usa el port; l’adaptador implementa el port.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OBLIDAR: el domini no coneix ni PICA ni els adaptadors.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«Transferim la mateixa decisió arquitectònica a un domini financer.»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E1A0FBC-446E-4632-82A2-E5240C67175D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8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(1:25): demostrar que la decisió es transfereix entre dominis.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Canvi explícit: beca → cartera d’inversió personal.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Cas d’ús: vendre accions. Necessitat: preu actual. Port: StockPriceProviderPort.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Finnhub, Alpha Vantage o mock són adaptadors que encapsulen APIs concretes.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«El servei coordina; el domini decideix; l’adaptador integra.»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Matís: la substitució exigeix preservar el contracte funcional i la semàntica.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«Canvia el domini, però es manté la decisió arquitectònica.»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6F4BD54-7309-4D8F-B416-C2CE833940FF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FUNCIÓ (0:45): tancar el contingut tècnic, sense introduir res de nou.</a:t>
            </a:r>
          </a:p>
          <a:p>
            <a:r>
              <a:rPr lang="ca-ES"/>
              <a:t>Recuperar les tres decisions: necessitat funcional, port i adaptador.</a:t>
            </a:r>
          </a:p>
          <a:p>
            <a:r>
              <a:rPr lang="ca-ES"/>
              <a:t>Matís: l’arquitectura no elimina la dependència externa ni tots els canvis; en localitza l’impacte.</a:t>
            </a:r>
          </a:p>
          <a:p>
            <a:r>
              <a:rPr lang="ca-ES"/>
              <a:t>FRASE FINAL, amb pausa i mirant el tribunal: «L’arquitectura no elimina el canvi; el localitza.»</a:t>
            </a:r>
          </a:p>
          <a:p>
            <a:r>
              <a:rPr lang="ca-ES"/>
              <a:t>No fer encara l’agraïment: donar pas net a la diapositiva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FUNCIÓ (0:25): tancament institucional i protocol·lari.</a:t>
            </a:r>
          </a:p>
          <a:p>
            <a:r>
              <a:rPr lang="ca-ES"/>
              <a:t>Llegir la frase d’agraïment literal; no resumir-la ni canviar-ne cap paraula.</a:t>
            </a:r>
          </a:p>
          <a:p>
            <a:r>
              <a:rPr lang="ca-ES"/>
              <a:t>No afegir noms de persones ni altres agraïments.</a:t>
            </a:r>
          </a:p>
          <a:p>
            <a:r>
              <a:rPr lang="ca-ES"/>
              <a:t>Fer una pausa natural abans de «Moltes gràcies» i dir-ho mirant el tribunal.</a:t>
            </a:r>
          </a:p>
          <a:p>
            <a:r>
              <a:rPr lang="ca-ES"/>
              <a:t>Després de «Moltes gràcies», la classe queda formalment tancada.</a:t>
            </a:r>
          </a:p>
          <a:p>
            <a:r>
              <a:rPr lang="ca-ES"/>
              <a:t>No obrir la demo si el tribunal no la demana o si no hi ha temps explícit.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FUNCIÓ (1:30–2:30): verificació pràctica opcional, posterior al tancament formal.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Activar només si el tribunal ho demana o hi ha temps explícit.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Assenyalar: mateix cas d’ús, mateix servei i mateix domini; canvia l’adaptador.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Finnhub, Alpha Vantage o mock són implementacions, no el contracte.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Utilitat docent: provar sense claus reals ni disponibilitat del proveïdor.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«Canvia la infraestructura; el cas d’ús i el domini romanen estables.»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convertir l’annex en una segona explicació llarga.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FCD26F0-68A2-4F90-A117-9A4BFB6DC3AF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12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FUNCIÓ (1:15): contextualitzar la sessió i delimitar-ne el focus.</a:t>
            </a:r>
          </a:p>
          <a:p>
            <a:r>
              <a:t>Context: classe de DSI i cas real acreditat de consultoria per a la Generalitat/AGAUR.</a:t>
            </a:r>
          </a:p>
          <a:p>
            <a:r>
              <a:t>Missatge: trobada entre dimensió acadèmica i professional, sense detalls interns.</a:t>
            </a:r>
          </a:p>
          <a:p>
            <a:r>
              <a:t>NO OBLIDAR: no és una panoràmica completa de l’arquitectura hexagonal.</a:t>
            </a:r>
          </a:p>
          <a:p>
            <a:r>
              <a:t>Frase de focus: dissenyar un port de sortida quan el cas d’ús necessita informació externa.</a:t>
            </a:r>
          </a:p>
          <a:p>
            <a:r>
              <a:t>TRANSICIÓ: «Situem primer la sessió dins l’assignatura.»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6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B4FE3A9-50D1-4980-BB14-42AE98E162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2DC0793-2F3D-4585-A464-DC7AD7B4123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F97B0A1-CAEB-4CC6-8503-C391DA0EA1E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A861ABC-A83C-4C5F-A337-D925B57A52D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43F6B2A-DBBB-44AA-A556-26BD00646BB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A58E916-EAE0-4030-89D9-2E376B95F17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8F2C998-3D89-4B39-858E-EC3F1395F35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224A710-4F74-414A-B8A2-A74AE7CB931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8C20B3E-F971-40A3-8A7C-23D29FF610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6D2AE38-5CC7-4435-A1DC-DDCF3E4375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FA35B38-5923-446D-9135-73EC5A9A492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89357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Picture 1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Box 2"/>
          <p:cNvSpPr/>
          <p:nvPr/>
        </p:nvSpPr>
        <p:spPr>
          <a:xfrm>
            <a:off x="658440" y="1234440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Disseny de ports de sortida en arquitectura hexagonal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685800" y="2041560"/>
            <a:ext cx="9326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s-ES" sz="2100" b="0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Desacoblament entre casos d'ús, domini i serveis externs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685800" y="2788920"/>
            <a:ext cx="960084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Una classe de Disseny de Sistemes d'Informació a partir d'un cas real de </a:t>
            </a:r>
            <a:r>
              <a:rPr lang="es-ES" sz="18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la Generalitat de Catalunya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685800" y="4663440"/>
            <a:ext cx="68576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Alfredo Rueda Unsain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Defensa de plaça de professorat permanent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TecnoCampus · classe magistral reduïda, 20 minuts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1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ol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 lIns="90000" tIns="45000" rIns="90000" bIns="45000">
            <a:spAutoFit/>
          </a:bodyPr>
          <a:lstStyle/>
          <a:p>
            <a:pPr/>
            <a:r>
              <a:rPr sz="2800" b="1" lang="ca-ES">
                <a:solidFill>
                  <a:srgbClr val="192D3E"/>
                </a:solidFill>
                <a:latin typeface="Arial"/>
              </a:rPr>
              <a:t>Una trobada entre dos mons</a:t>
            </a:r>
          </a:p>
        </p:txBody>
      </p:sp>
      <p:sp>
        <p:nvSpPr>
          <p:cNvPr id="5" name="Subtitol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 lIns="90000" tIns="45000" rIns="90000" bIns="45000">
            <a:spAutoFit/>
          </a:bodyPr>
          <a:lstStyle/>
          <a:p>
            <a:pPr/>
            <a:r>
              <a:rPr sz="1300" b="0" lang="ca-ES">
                <a:solidFill>
                  <a:srgbClr val="66707A"/>
                </a:solidFill>
                <a:latin typeface="Arial"/>
              </a:rPr>
              <a:t>Consultoria especialitzada acreditada per a la Generalitat de Catalunya (AGAUR)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488" y="292608"/>
            <a:ext cx="3044952" cy="576072"/>
          </a:xfrm>
          <a:prstGeom prst="rect">
            <a:avLst/>
          </a:prstGeom>
        </p:spPr>
      </p:pic>
      <p:sp>
        <p:nvSpPr>
          <p:cNvPr id="7" name="Linia divisoria"/>
          <p:cNvSpPr/>
          <p:nvPr/>
        </p:nvSpPr>
        <p:spPr>
          <a:xfrm>
            <a:off x="594360" y="1115568"/>
            <a:ext cx="1097280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n academic"/>
          <p:cNvSpPr/>
          <p:nvPr/>
        </p:nvSpPr>
        <p:spPr>
          <a:xfrm>
            <a:off x="822960" y="1737360"/>
            <a:ext cx="4846320" cy="2377440"/>
          </a:xfrm>
          <a:prstGeom prst="roundRect">
            <a:avLst>
              <a:gd name="adj" fmla="val 16667"/>
            </a:avLst>
          </a:prstGeom>
          <a:solidFill>
            <a:srgbClr val="E8F1F8"/>
          </a:solidFill>
          <a:ln>
            <a:solidFill>
              <a:srgbClr val="DCE0E4"/>
            </a:solidFill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tIns="45000" rIns="90000" bIns="45000" wrap="square"/>
          <a:lstStyle/>
          <a:p>
            <a:pPr algn="ctr"/>
            <a:r>
              <a:rPr sz="2000" b="1" lang="ca-ES">
                <a:solidFill>
                  <a:srgbClr val="192D3E"/>
                </a:solidFill>
                <a:latin typeface="Arial"/>
              </a:rPr>
              <a:t>Món acadèmic</a:t>
            </a:r>
          </a:p>
          <a:p>
            <a:pPr algn="ctr"/>
            <a:r>
              <a:rPr sz="1500" b="0" lang="ca-ES">
                <a:solidFill>
                  <a:srgbClr val="262626"/>
                </a:solidFill>
                <a:latin typeface="Arial"/>
              </a:rPr>
              <a:t>Disseny de Sistemes d’Informació</a:t>
            </a:r>
          </a:p>
          <a:p>
            <a:pPr algn="ctr"/>
            <a:r>
              <a:rPr sz="1300" b="0" lang="ca-ES">
                <a:solidFill>
                  <a:srgbClr val="66707A"/>
                </a:solidFill>
                <a:latin typeface="Arial"/>
              </a:rPr>
              <a:t>arquitectura hexagonal, ports i adaptadors, inversió de dependències</a:t>
            </a:r>
          </a:p>
        </p:txBody>
      </p:sp>
      <p:sp>
        <p:nvSpPr>
          <p:cNvPr id="9" name="Mon professional"/>
          <p:cNvSpPr/>
          <p:nvPr/>
        </p:nvSpPr>
        <p:spPr>
          <a:xfrm>
            <a:off x="6492240" y="1737360"/>
            <a:ext cx="4846320" cy="237744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tIns="45000" rIns="90000" bIns="45000" wrap="square"/>
          <a:lstStyle/>
          <a:p>
            <a:pPr algn="ctr"/>
            <a:r>
              <a:rPr sz="2000" b="1" lang="ca-ES">
                <a:solidFill>
                  <a:srgbClr val="192D3E"/>
                </a:solidFill>
                <a:latin typeface="Arial"/>
              </a:rPr>
              <a:t>Món professional</a:t>
            </a:r>
          </a:p>
          <a:p>
            <a:pPr algn="ctr"/>
            <a:r>
              <a:rPr sz="1500" b="0" lang="ca-ES">
                <a:solidFill>
                  <a:srgbClr val="262626"/>
                </a:solidFill>
                <a:latin typeface="Arial"/>
              </a:rPr>
              <a:t>Cas real de consultoria per a l’AGAUR</a:t>
            </a:r>
          </a:p>
          <a:p>
            <a:pPr algn="ctr"/>
            <a:r>
              <a:rPr sz="1300" b="0" lang="ca-ES">
                <a:solidFill>
                  <a:srgbClr val="66707A"/>
                </a:solidFill>
                <a:latin typeface="Arial"/>
              </a:rPr>
              <a:t>reptes concrets d’arquitectura de software</a:t>
            </a:r>
          </a:p>
        </p:txBody>
      </p:sp>
      <p:sp>
        <p:nvSpPr>
          <p:cNvPr id="10" name="Focus"/>
          <p:cNvSpPr txBox="1"/>
          <p:nvPr/>
        </p:nvSpPr>
        <p:spPr>
          <a:xfrm>
            <a:off x="960120" y="4617720"/>
            <a:ext cx="10241280" cy="868680"/>
          </a:xfrm>
          <a:prstGeom prst="rect">
            <a:avLst/>
          </a:prstGeom>
          <a:noFill/>
        </p:spPr>
        <p:txBody>
          <a:bodyPr wrap="square" lIns="90000" tIns="45000" rIns="90000" bIns="45000">
            <a:spAutoFit/>
          </a:bodyPr>
          <a:lstStyle/>
          <a:p>
            <a:pPr algn="ctr"/>
            <a:r>
              <a:rPr sz="2200" b="1" lang="ca-ES">
                <a:solidFill>
                  <a:srgbClr val="192D3E"/>
                </a:solidFill>
                <a:latin typeface="Arial"/>
              </a:rPr>
              <a:t>En vint minuts, una decisió concreta: dissenyar un port de sortida quan el cas d’ús necessita informació externa.</a:t>
            </a:r>
          </a:p>
        </p:txBody>
      </p:sp>
      <p:sp>
        <p:nvSpPr>
          <p:cNvPr id="11" name="Peu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 lIns="90000" tIns="45000" rIns="90000" bIns="45000">
            <a:spAutoFit/>
          </a:bodyPr>
          <a:lstStyle/>
          <a:p>
            <a:pPr/>
            <a:r>
              <a:rPr sz="800" b="0" lang="ca-ES">
                <a:solidFill>
                  <a:srgbClr val="66707A"/>
                </a:solidFill>
                <a:latin typeface="Arial"/>
              </a:rPr>
              <a:t>Disseny de Sistemes d’Informació · Ports de sortida en arquitectura hexagonal</a:t>
            </a:r>
          </a:p>
        </p:txBody>
      </p:sp>
      <p:sp>
        <p:nvSpPr>
          <p:cNvPr id="12" name="Numero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 lIns="90000" tIns="45000" rIns="90000" bIns="45000">
            <a:spAutoFit/>
          </a:bodyPr>
          <a:lstStyle/>
          <a:p>
            <a:pPr algn="r"/>
            <a:r>
              <a:rPr sz="800" b="0" lang="ca-ES">
                <a:solidFill>
                  <a:srgbClr val="66707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On som dins l'assignatura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5"/>
          <p:cNvSpPr/>
          <p:nvPr/>
        </p:nvSpPr>
        <p:spPr>
          <a:xfrm>
            <a:off x="822960" y="1508760"/>
            <a:ext cx="374868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Disseny de Sistemes d'Informació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3r curs · 6 ECTS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ounded Rectangle 6"/>
          <p:cNvSpPr/>
          <p:nvPr/>
        </p:nvSpPr>
        <p:spPr>
          <a:xfrm>
            <a:off x="4800600" y="1508760"/>
            <a:ext cx="45360" cy="3200040"/>
          </a:xfrm>
          <a:prstGeom prst="roundRect">
            <a:avLst>
              <a:gd name="adj" fmla="val 16667"/>
            </a:avLst>
          </a:prstGeom>
          <a:solidFill>
            <a:srgbClr val="236092"/>
          </a:solidFill>
          <a:ln>
            <a:solidFill>
              <a:srgbClr val="23609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7"/>
          <p:cNvSpPr/>
          <p:nvPr/>
        </p:nvSpPr>
        <p:spPr>
          <a:xfrm>
            <a:off x="5166360" y="1508760"/>
            <a:ext cx="539460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Ports de sortida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en </a:t>
            </a:r>
            <a:r>
              <a:rPr lang="es-E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</a:t>
            </a: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rquitectura </a:t>
            </a:r>
            <a:r>
              <a:rPr lang="es-E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</a:t>
            </a: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exagonal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8"/>
          <p:cNvSpPr/>
          <p:nvPr/>
        </p:nvSpPr>
        <p:spPr>
          <a:xfrm>
            <a:off x="5394960" y="2971800"/>
            <a:ext cx="4983120" cy="11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2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 La sessió se centra en el disseny de ports de sortida com a mecanisme per separar les necessitats del cas d’ús dels detalls tècnics de les integracions externes.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9"/>
          <p:cNvSpPr/>
          <p:nvPr/>
        </p:nvSpPr>
        <p:spPr>
          <a:xfrm>
            <a:off x="960120" y="5669280"/>
            <a:ext cx="98751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Pla docent 103322: Clean Architecture i arquitectura hexagonal, ports i adaptadors, mapping, modularització i Domain-Driven Design.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0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1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3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Objectiu de la sessió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Rectangle 3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4"/>
          <p:cNvSpPr/>
          <p:nvPr/>
        </p:nvSpPr>
        <p:spPr>
          <a:xfrm>
            <a:off x="960120" y="1417320"/>
            <a:ext cx="1006164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Principi de treball: el cas d’ús necessita una capacitat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funcional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, no una tecnologia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específica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.</a:t>
            </a:r>
            <a:br>
              <a:rPr sz="2400"/>
            </a:b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Ho explorarem a partir d’un cas real d’administració pública.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5"/>
          <p:cNvSpPr/>
          <p:nvPr/>
        </p:nvSpPr>
        <p:spPr>
          <a:xfrm>
            <a:off x="81396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6"/>
          <p:cNvSpPr/>
          <p:nvPr/>
        </p:nvSpPr>
        <p:spPr>
          <a:xfrm>
            <a:off x="1014840" y="4106880"/>
            <a:ext cx="2845800" cy="97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Identificar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necessitat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Rounded Rectangle 7"/>
          <p:cNvSpPr/>
          <p:nvPr/>
        </p:nvSpPr>
        <p:spPr>
          <a:xfrm>
            <a:off x="454464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Box 8"/>
          <p:cNvSpPr/>
          <p:nvPr/>
        </p:nvSpPr>
        <p:spPr>
          <a:xfrm>
            <a:off x="4745880" y="4106880"/>
            <a:ext cx="283428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Definir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ounded Rectangle 9"/>
          <p:cNvSpPr/>
          <p:nvPr/>
        </p:nvSpPr>
        <p:spPr>
          <a:xfrm>
            <a:off x="827532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8476560" y="4106880"/>
            <a:ext cx="283428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Implementar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adaptador(s)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1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2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4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Avaluació econòmica d'una beca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Abans de parlar d'arquitectura</a:t>
            </a: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 de software</a:t>
            </a: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, cal entendre el procediment</a:t>
            </a: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 administratiu. 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1" name="Picture 5" descr="agaur-functional-scholarship.png"/>
          <p:cNvPicPr/>
          <p:nvPr/>
        </p:nvPicPr>
        <p:blipFill>
          <a:blip r:embed="rId4"/>
          <a:stretch/>
        </p:blipFill>
        <p:spPr>
          <a:xfrm>
            <a:off x="2185200" y="1234440"/>
            <a:ext cx="3950280" cy="47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TextBox 6"/>
          <p:cNvSpPr/>
          <p:nvPr/>
        </p:nvSpPr>
        <p:spPr>
          <a:xfrm>
            <a:off x="8001000" y="1691640"/>
            <a:ext cx="3062880" cy="123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Sol·licitud → Expedient → Requisits generals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→ Requisits econòmics → Revisió acadèmica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→ Resolució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Rounded Rectangle 7"/>
          <p:cNvSpPr/>
          <p:nvPr/>
        </p:nvSpPr>
        <p:spPr>
          <a:xfrm>
            <a:off x="7867440" y="3304440"/>
            <a:ext cx="3375360" cy="1578960"/>
          </a:xfrm>
          <a:prstGeom prst="roundRect">
            <a:avLst>
              <a:gd name="adj" fmla="val 16667"/>
            </a:avLst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8229600" y="3566160"/>
            <a:ext cx="2871720" cy="95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2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Quan no s’acredita el compliment dels requisits econòmics, l’expedient no obté una valoració favorable en aquesta fase.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8001000" y="5166360"/>
            <a:ext cx="30628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Fonts públiques: AGAUR requisits econòmics i BOE 2025-2026.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11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5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ca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Quina informació externa necessita el procediment?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ca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Renda, patrimoni i informació cadastral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086400" y="293040"/>
            <a:ext cx="243468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ca-E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2" name="Picture 5" descr="agaur-data-interoperability.png"/>
          <p:cNvPicPr/>
          <p:nvPr/>
        </p:nvPicPr>
        <p:blipFill>
          <a:blip r:embed="rId4"/>
          <a:stretch/>
        </p:blipFill>
        <p:spPr>
          <a:xfrm>
            <a:off x="2460600" y="1234440"/>
            <a:ext cx="3399840" cy="470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Box 10"/>
          <p:cNvSpPr/>
          <p:nvPr/>
        </p:nvSpPr>
        <p:spPr>
          <a:xfrm>
            <a:off x="7850160" y="5180040"/>
            <a:ext cx="3369600" cy="51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19999"/>
          </a:bodyPr>
          <a:lstStyle/>
          <a:p>
            <a:r>
              <a:rPr lang="ca-ES" sz="1370" b="1" u="none" strike="noStrike" dirty="0">
                <a:solidFill>
                  <a:srgbClr val="192D3E"/>
                </a:solidFill>
                <a:effectLst/>
                <a:uFillTx/>
                <a:latin typeface="Arial"/>
              </a:rPr>
              <a:t>El procediment necessita informació administrativa, no una API concreta.</a:t>
            </a:r>
            <a:endParaRPr lang="es-ES" sz="137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11"/>
          <p:cNvSpPr/>
          <p:nvPr/>
        </p:nvSpPr>
        <p:spPr>
          <a:xfrm>
            <a:off x="1028880" y="6019920"/>
            <a:ext cx="10492560" cy="41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PICA = Plataforma d’Integració i Col·laboració Administrativa. En aquesta sessió es tracta com a canal corporatiu d’interoperabilitat, no com a font administrativa original del mateix tipus que AEAT o Cadastre.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12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ca-E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3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ca-E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6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rup necessitat"/>
          <p:cNvSpPr/>
          <p:nvPr/>
        </p:nvSpPr>
        <p:spPr>
          <a:xfrm>
            <a:off x="7850160" y="1374840"/>
            <a:ext cx="3369600" cy="1329480"/>
          </a:xfrm>
          <a:prstGeom prst="roundRect">
            <a:avLst>
              <a:gd name="adj" fmla="val 16667"/>
            </a:avLst>
          </a:prstGeom>
          <a:solidFill>
            <a:srgbClr val="F4F9FD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NECESSITAT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Renda familiar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Patrimoni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Béns immobles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rup fonts administratives"/>
          <p:cNvSpPr/>
          <p:nvPr/>
        </p:nvSpPr>
        <p:spPr>
          <a:xfrm>
            <a:off x="7850160" y="2859840"/>
            <a:ext cx="3369600" cy="1119600"/>
          </a:xfrm>
          <a:prstGeom prst="roundRect">
            <a:avLst>
              <a:gd name="adj" fmla="val 16667"/>
            </a:avLst>
          </a:prstGeom>
          <a:solidFill>
            <a:srgbClr val="F8FBF6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FONTS ADMINISTRATIVES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AEAT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Cadastre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rup canal interoperabilitat"/>
          <p:cNvSpPr/>
          <p:nvPr/>
        </p:nvSpPr>
        <p:spPr>
          <a:xfrm>
            <a:off x="7850160" y="4129920"/>
            <a:ext cx="3369600" cy="779760"/>
          </a:xfrm>
          <a:prstGeom prst="roundRect">
            <a:avLst>
              <a:gd name="adj" fmla="val 16667"/>
            </a:avLst>
          </a:prstGeom>
          <a:solidFill>
            <a:srgbClr val="FFF7E3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CANAL D’INTEROPERABILITAT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PICA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3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Dependència directa entre procediment i integració</a:t>
            </a:r>
            <a:endParaRPr lang="es-E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108000" y="293040"/>
            <a:ext cx="24130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Rectangle 3"/>
          <p:cNvSpPr/>
          <p:nvPr/>
        </p:nvSpPr>
        <p:spPr>
          <a:xfrm>
            <a:off x="594360" y="13388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Box 4"/>
          <p:cNvSpPr/>
          <p:nvPr/>
        </p:nvSpPr>
        <p:spPr>
          <a:xfrm>
            <a:off x="960120" y="252396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Escenari d'acoblament indesitjable:</a:t>
            </a:r>
            <a:endParaRPr lang="es-E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 →  SOAP/XML  →  PICA  →  AEAT / Cadastre</a:t>
            </a:r>
            <a:endParaRPr lang="es-E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Rectangle 5"/>
          <p:cNvSpPr/>
          <p:nvPr/>
        </p:nvSpPr>
        <p:spPr>
          <a:xfrm>
            <a:off x="914400" y="3519360"/>
            <a:ext cx="3062880" cy="1188360"/>
          </a:xfrm>
          <a:prstGeom prst="rect">
            <a:avLst/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TextBox 6"/>
          <p:cNvSpPr/>
          <p:nvPr/>
        </p:nvSpPr>
        <p:spPr>
          <a:xfrm>
            <a:off x="1143000" y="3793680"/>
            <a:ext cx="2605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Causa: acoblament tecnològic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cas d’ús coneix SOAP/XML i detalls de PICA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Rectangle 7"/>
          <p:cNvSpPr/>
          <p:nvPr/>
        </p:nvSpPr>
        <p:spPr>
          <a:xfrm>
            <a:off x="4526280" y="3519360"/>
            <a:ext cx="3062880" cy="1188360"/>
          </a:xfrm>
          <a:prstGeom prst="rect">
            <a:avLst/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4754880" y="3793680"/>
            <a:ext cx="2656080" cy="65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Propagació del canvi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La integració travessa la frontera del cas d’ús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9"/>
          <p:cNvSpPr/>
          <p:nvPr/>
        </p:nvSpPr>
        <p:spPr>
          <a:xfrm>
            <a:off x="8138160" y="3519360"/>
            <a:ext cx="3062880" cy="1188360"/>
          </a:xfrm>
          <a:prstGeom prst="rect">
            <a:avLst/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10"/>
          <p:cNvSpPr/>
          <p:nvPr/>
        </p:nvSpPr>
        <p:spPr>
          <a:xfrm>
            <a:off x="8260200" y="3736440"/>
            <a:ext cx="2788560" cy="80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n-US" sz="1700" b="1" u="none" strike="noStrike" dirty="0" err="1">
                <a:solidFill>
                  <a:srgbClr val="192D3E"/>
                </a:solidFill>
                <a:effectLst/>
                <a:uFillTx/>
                <a:latin typeface="Arial"/>
              </a:rPr>
              <a:t>Conseqüència</a:t>
            </a:r>
            <a:r>
              <a:rPr lang="en-US" sz="1700" b="1" u="none" strike="noStrike" dirty="0">
                <a:solidFill>
                  <a:srgbClr val="192D3E"/>
                </a:solidFill>
                <a:effectLst/>
                <a:uFillTx/>
                <a:latin typeface="Arial"/>
              </a:rPr>
              <a:t>: </a:t>
            </a:r>
            <a:r>
              <a:rPr lang="en-US" sz="1700" b="1" dirty="0" err="1">
                <a:solidFill>
                  <a:srgbClr val="192D3E"/>
                </a:solidFill>
                <a:latin typeface="Arial"/>
              </a:rPr>
              <a:t>dificultat</a:t>
            </a:r>
            <a:r>
              <a:rPr lang="en-US"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n-US" sz="1700" b="1" dirty="0" err="1">
                <a:solidFill>
                  <a:srgbClr val="192D3E"/>
                </a:solidFill>
                <a:latin typeface="Arial"/>
              </a:rPr>
              <a:t>manteniment</a:t>
            </a:r>
            <a:r>
              <a:rPr lang="en-US" sz="1700" b="1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n-US" sz="1700" b="1" dirty="0" err="1">
                <a:solidFill>
                  <a:srgbClr val="192D3E"/>
                </a:solidFill>
                <a:latin typeface="Arial"/>
              </a:rPr>
              <a:t>codi</a:t>
            </a:r>
            <a:endParaRPr lang="es-ES" sz="1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11"/>
          <p:cNvSpPr/>
          <p:nvPr/>
        </p:nvSpPr>
        <p:spPr>
          <a:xfrm>
            <a:off x="914400" y="5267520"/>
            <a:ext cx="102409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El problema no és consumir PICA; és que el procediment depengui directament dels detalls tècnics de la integració.</a:t>
            </a:r>
            <a:endParaRPr lang="es-E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12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13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7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CTTI diagnostic subtitle"/>
          <p:cNvSpPr/>
          <p:nvPr/>
        </p:nvSpPr>
        <p:spPr>
          <a:xfrm>
            <a:off x="829800" y="1735920"/>
            <a:ext cx="10532160" cy="787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4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Els principis del CTTI orienten cap a sistemes desacoblats i serveis substituïbles; per això, si la lògica del procediment queda vinculada a crides SOAP/XML contra la integració, qualsevol evolució del mecanisme pot impactar directament la tramitació.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ICA definition slide 7"/>
          <p:cNvSpPr/>
          <p:nvPr/>
        </p:nvSpPr>
        <p:spPr>
          <a:xfrm>
            <a:off x="1097280" y="5938200"/>
            <a:ext cx="10532160" cy="53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CTTI: Centre de Telecomunicacions i Tecnologies de la Informació de la Generalitat de Catalunya. És l’organisme de la Generalitat de Catalunya que presta serveis TIC corporatius i impulsa l’arquitectura i les solucions tecnològiques transversals de la Generalitat.</a:t>
            </a:r>
            <a:br>
              <a:rPr sz="1000"/>
            </a:b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 i adaptador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Rectangle 3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Rounded Rectangle 4"/>
          <p:cNvSpPr/>
          <p:nvPr/>
        </p:nvSpPr>
        <p:spPr>
          <a:xfrm>
            <a:off x="2514600" y="141732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Box 5"/>
          <p:cNvSpPr/>
          <p:nvPr/>
        </p:nvSpPr>
        <p:spPr>
          <a:xfrm>
            <a:off x="2514600" y="151776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62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Flux d'execució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6"/>
          <p:cNvSpPr/>
          <p:nvPr/>
        </p:nvSpPr>
        <p:spPr>
          <a:xfrm>
            <a:off x="5897880" y="198432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Rounded Rectangle 7"/>
          <p:cNvSpPr/>
          <p:nvPr/>
        </p:nvSpPr>
        <p:spPr>
          <a:xfrm>
            <a:off x="2514600" y="237744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Box 8"/>
          <p:cNvSpPr/>
          <p:nvPr/>
        </p:nvSpPr>
        <p:spPr>
          <a:xfrm>
            <a:off x="2514600" y="247788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62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→ Port → Adaptador → Sistema extern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9"/>
          <p:cNvSpPr/>
          <p:nvPr/>
        </p:nvSpPr>
        <p:spPr>
          <a:xfrm>
            <a:off x="5897880" y="294444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" name="Rounded Rectangle 10"/>
          <p:cNvSpPr/>
          <p:nvPr/>
        </p:nvSpPr>
        <p:spPr>
          <a:xfrm>
            <a:off x="2514600" y="333756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Box 11"/>
          <p:cNvSpPr/>
          <p:nvPr/>
        </p:nvSpPr>
        <p:spPr>
          <a:xfrm>
            <a:off x="2514600" y="343800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62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Dependència de codi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12"/>
          <p:cNvSpPr/>
          <p:nvPr/>
        </p:nvSpPr>
        <p:spPr>
          <a:xfrm>
            <a:off x="5897880" y="390456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Rounded Rectangle 13"/>
          <p:cNvSpPr/>
          <p:nvPr/>
        </p:nvSpPr>
        <p:spPr>
          <a:xfrm>
            <a:off x="2514600" y="429768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14"/>
          <p:cNvSpPr/>
          <p:nvPr/>
        </p:nvSpPr>
        <p:spPr>
          <a:xfrm>
            <a:off x="2514600" y="439812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62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→ Port de sortida ← Adaptador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15"/>
          <p:cNvSpPr/>
          <p:nvPr/>
        </p:nvSpPr>
        <p:spPr>
          <a:xfrm>
            <a:off x="914400" y="5349240"/>
            <a:ext cx="47545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port defineix què necessita el cas d’ús</a:t>
            </a:r>
            <a:endParaRPr lang="es-E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16"/>
          <p:cNvSpPr/>
          <p:nvPr/>
        </p:nvSpPr>
        <p:spPr>
          <a:xfrm>
            <a:off x="6400800" y="5349240"/>
            <a:ext cx="516600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Conceptualment és un contracte; en Java el representem amb una interfície</a:t>
            </a:r>
            <a:endParaRPr lang="es-E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17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18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8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Java concretion container"/>
          <p:cNvSpPr/>
          <p:nvPr/>
        </p:nvSpPr>
        <p:spPr>
          <a:xfrm>
            <a:off x="7498079" y="1371600"/>
            <a:ext cx="3657600" cy="3703320"/>
          </a:xfrm>
          <a:prstGeom prst="roundRect">
            <a:avLst>
              <a:gd name="adj" fmla="val 5500"/>
            </a:avLst>
          </a:prstGeom>
          <a:solidFill>
            <a:srgbClr val="F4F8FB"/>
          </a:solidFill>
          <a:ln w="9525">
            <a:solidFill>
              <a:srgbClr val="DC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Java concretion title"/>
          <p:cNvSpPr txBox="1"/>
          <p:nvPr/>
        </p:nvSpPr>
        <p:spPr>
          <a:xfrm>
            <a:off x="7498079" y="1499616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 i="0">
                <a:solidFill>
                  <a:srgbClr val="192D3E"/>
                </a:solidFill>
                <a:latin typeface="Arial"/>
              </a:rPr>
              <a:t>Concreció en Java</a:t>
            </a:r>
          </a:p>
        </p:txBody>
      </p:sp>
      <p:sp>
        <p:nvSpPr>
          <p:cNvPr id="156" name="Port interface card"/>
          <p:cNvSpPr/>
          <p:nvPr/>
        </p:nvSpPr>
        <p:spPr>
          <a:xfrm>
            <a:off x="7818120" y="1874519"/>
            <a:ext cx="3017520" cy="9692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AEBE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Port interface name"/>
          <p:cNvSpPr txBox="1"/>
          <p:nvPr/>
        </p:nvSpPr>
        <p:spPr>
          <a:xfrm>
            <a:off x="7818120" y="1947672"/>
            <a:ext cx="3017520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1">
                <a:solidFill>
                  <a:srgbClr val="66707A"/>
                </a:solidFill>
                <a:latin typeface="Arial"/>
              </a:rPr>
              <a:t>«interface»</a:t>
            </a:r>
          </a:p>
          <a:p>
            <a:pPr algn="ctr"/>
            <a:r>
              <a:rPr sz="1550" b="1" i="0">
                <a:solidFill>
                  <a:srgbClr val="192D3E"/>
                </a:solidFill>
                <a:latin typeface="Arial"/>
              </a:rPr>
              <a:t>Port de sortida</a:t>
            </a:r>
          </a:p>
        </p:txBody>
      </p:sp>
      <p:sp>
        <p:nvSpPr>
          <p:cNvPr id="158" name="Port card divider"/>
          <p:cNvSpPr/>
          <p:nvPr/>
        </p:nvSpPr>
        <p:spPr>
          <a:xfrm>
            <a:off x="8001000" y="2505456"/>
            <a:ext cx="2651760" cy="9525"/>
          </a:xfrm>
          <a:prstGeom prst="rect">
            <a:avLst/>
          </a:prstGeom>
          <a:solidFill>
            <a:srgbClr val="D6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Port card subtitle"/>
          <p:cNvSpPr txBox="1"/>
          <p:nvPr/>
        </p:nvSpPr>
        <p:spPr>
          <a:xfrm>
            <a:off x="7818120" y="2560320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0" i="0">
                <a:solidFill>
                  <a:srgbClr val="192D3E"/>
                </a:solidFill>
                <a:latin typeface="Arial"/>
              </a:rPr>
              <a:t>contracte de l’aplicació</a:t>
            </a:r>
          </a:p>
        </p:txBody>
      </p:sp>
      <p:sp>
        <p:nvSpPr>
          <p:cNvPr id="160" name="Implements arrow head"/>
          <p:cNvSpPr/>
          <p:nvPr/>
        </p:nvSpPr>
        <p:spPr>
          <a:xfrm>
            <a:off x="9226296" y="2871216"/>
            <a:ext cx="201168" cy="155448"/>
          </a:xfrm>
          <a:prstGeom prst="triangle">
            <a:avLst/>
          </a:prstGeom>
          <a:solidFill>
            <a:srgbClr val="FFFFFF"/>
          </a:solidFill>
          <a:ln w="15875">
            <a:solidFill>
              <a:srgbClr val="192D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1" name="Implements arrow shaft"/>
          <p:cNvCxnSpPr/>
          <p:nvPr/>
        </p:nvCxnSpPr>
        <p:spPr>
          <a:xfrm>
            <a:off x="9326880" y="3026664"/>
            <a:ext cx="0" cy="768096"/>
          </a:xfrm>
          <a:prstGeom prst="line">
            <a:avLst/>
          </a:prstGeom>
          <a:ln w="19050">
            <a:solidFill>
              <a:srgbClr val="192D3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Implements label"/>
          <p:cNvSpPr txBox="1"/>
          <p:nvPr/>
        </p:nvSpPr>
        <p:spPr>
          <a:xfrm>
            <a:off x="9464040" y="3246120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i="1">
                <a:solidFill>
                  <a:srgbClr val="66707A"/>
                </a:solidFill>
                <a:latin typeface="Consolas"/>
              </a:rPr>
              <a:t>implements</a:t>
            </a:r>
          </a:p>
        </p:txBody>
      </p:sp>
      <p:sp>
        <p:nvSpPr>
          <p:cNvPr id="163" name="Adapter card"/>
          <p:cNvSpPr/>
          <p:nvPr/>
        </p:nvSpPr>
        <p:spPr>
          <a:xfrm>
            <a:off x="7818120" y="3794760"/>
            <a:ext cx="3017520" cy="9692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AEBE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Adapter name"/>
          <p:cNvSpPr txBox="1"/>
          <p:nvPr/>
        </p:nvSpPr>
        <p:spPr>
          <a:xfrm>
            <a:off x="7818120" y="388620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50" b="1" i="0">
                <a:solidFill>
                  <a:srgbClr val="192D3E"/>
                </a:solidFill>
                <a:latin typeface="Arial"/>
              </a:rPr>
              <a:t>Adaptador</a:t>
            </a:r>
          </a:p>
        </p:txBody>
      </p:sp>
      <p:sp>
        <p:nvSpPr>
          <p:cNvPr id="165" name="Adapter card divider"/>
          <p:cNvSpPr/>
          <p:nvPr/>
        </p:nvSpPr>
        <p:spPr>
          <a:xfrm>
            <a:off x="8001000" y="4224528"/>
            <a:ext cx="2651760" cy="9525"/>
          </a:xfrm>
          <a:prstGeom prst="rect">
            <a:avLst/>
          </a:prstGeom>
          <a:solidFill>
            <a:srgbClr val="D6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Adapter subtitle"/>
          <p:cNvSpPr txBox="1"/>
          <p:nvPr/>
        </p:nvSpPr>
        <p:spPr>
          <a:xfrm>
            <a:off x="7955279" y="4279392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0" i="0">
                <a:solidFill>
                  <a:srgbClr val="192D3E"/>
                </a:solidFill>
                <a:latin typeface="Arial"/>
              </a:rPr>
              <a:t>classe que implementa</a:t>
            </a:r>
          </a:p>
          <a:p>
            <a:pPr algn="ctr"/>
            <a:r>
              <a:rPr sz="1150" b="0" i="0">
                <a:solidFill>
                  <a:srgbClr val="192D3E"/>
                </a:solidFill>
                <a:latin typeface="Arial"/>
              </a:rPr>
              <a:t>aquesta interfície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 per a informació patrimonial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El cas d’ús depèn d’un contracte de l’aplicació, no dels detalls de PICA, SOAP/XML o API REST.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7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" name="TextBox 8"/>
          <p:cNvSpPr/>
          <p:nvPr/>
        </p:nvSpPr>
        <p:spPr>
          <a:xfrm>
            <a:off x="6051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9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" name="Imagen 6"/>
          <p:cNvPicPr/>
          <p:nvPr/>
        </p:nvPicPr>
        <p:blipFill>
          <a:blip r:embed="rId4"/>
          <a:stretch/>
        </p:blipFill>
        <p:spPr>
          <a:xfrm>
            <a:off x="594360" y="1197720"/>
            <a:ext cx="11228760" cy="5234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Transferència al domini financer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14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cas d’ús «Venda d’accions» necessita el preu actual, independentment del proveïdor de dades i de l’API concreta.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3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Box 9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10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10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lide 10 port note"/>
          <p:cNvSpPr/>
          <p:nvPr/>
        </p:nvSpPr>
        <p:spPr>
          <a:xfrm>
            <a:off x="4275000" y="6523200"/>
            <a:ext cx="105609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Port: StockPriceProviderPort · Adaptadors: Finnhub, Alpha Vantage, mock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Imagen 6"/>
          <p:cNvPicPr/>
          <p:nvPr/>
        </p:nvPicPr>
        <p:blipFill>
          <a:blip r:embed="rId4"/>
          <a:stretch/>
        </p:blipFill>
        <p:spPr>
          <a:xfrm>
            <a:off x="702000" y="1101240"/>
            <a:ext cx="10756800" cy="5347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Idea clau i tancament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77877" y="1756956"/>
            <a:ext cx="3245760" cy="1150000"/>
          </a:xfrm>
          <a:prstGeom prst="roundRect">
            <a:avLst>
              <a:gd name="adj" fmla="val 16667"/>
            </a:avLst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" name="TextBox 11"/>
          <p:cNvSpPr/>
          <p:nvPr/>
        </p:nvSpPr>
        <p:spPr>
          <a:xfrm>
            <a:off x="777877" y="1756956"/>
            <a:ext cx="3245760" cy="115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/>
            <a:r>
              <a:rPr lang="ca-ES" sz="16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1. Necessitat funcional</a:t>
            </a:r>
          </a:p>
          <a:p>
            <a:pPr algn="ctr"/>
            <a:r>
              <a:rPr lang="ca-ES" sz="13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cas d’ús expressa què necessita.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08557" y="1756956"/>
            <a:ext cx="3245760" cy="115000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Box 13"/>
          <p:cNvSpPr/>
          <p:nvPr/>
        </p:nvSpPr>
        <p:spPr>
          <a:xfrm>
            <a:off x="4508557" y="1756956"/>
            <a:ext cx="3245760" cy="115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/>
            <a:r>
              <a:rPr lang="ca-ES" sz="16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2. Port de sortida</a:t>
            </a:r>
          </a:p>
          <a:p>
            <a:pPr algn="ctr"/>
            <a:r>
              <a:rPr lang="ca-ES" sz="13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port defineix el contracte de l’aplicació.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39237" y="1756956"/>
            <a:ext cx="3245760" cy="115000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" name="TextBox 15"/>
          <p:cNvSpPr/>
          <p:nvPr/>
        </p:nvSpPr>
        <p:spPr>
          <a:xfrm>
            <a:off x="8239237" y="1756956"/>
            <a:ext cx="3245760" cy="115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/>
            <a:r>
              <a:rPr lang="ca-ES" sz="16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3. Adaptador</a:t>
            </a:r>
          </a:p>
          <a:p>
            <a:pPr algn="ctr"/>
            <a:r>
              <a:rPr lang="ca-ES" sz="13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L’adaptador encapsula la integració externa.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33757" y="3846956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994309" y="3950942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ca-ES" sz="2800" b="1" dirty="0">
                <a:solidFill>
                  <a:srgbClr val="192D3E"/>
                </a:solidFill>
                <a:latin typeface="Arial"/>
              </a:rPr>
              <a:t>L’arquitectura no elimina el canvi; el localitza.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lang="es-ES" sz="800" b="0" dirty="0">
                <a:solidFill>
                  <a:srgbClr val="66707A"/>
                </a:solidFill>
                <a:latin typeface="Arial"/>
              </a:rPr>
              <a:t>11</a:t>
            </a:r>
          </a:p>
          <a:p>
            <a:pPr algn="r"/>
            <a:endParaRPr sz="8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78973" y="2600000"/>
            <a:ext cx="9834053" cy="178052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meu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per un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entorn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que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m'encoratja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lang="es-ES" sz="2400" b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costat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d'un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qual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aprenc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comparteixo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responsabilitat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compromís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. </a:t>
            </a:r>
            <a:br>
              <a:rPr lang="es-ES" sz="2400" b="0" dirty="0">
                <a:solidFill>
                  <a:srgbClr val="192D3E"/>
                </a:solidFill>
                <a:latin typeface="Arial"/>
              </a:rPr>
            </a:br>
            <a:endParaRPr lang="es-ES" sz="24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030392" y="4800000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ca-ES" sz="2800" b="1" dirty="0">
                <a:solidFill>
                  <a:srgbClr val="192D3E"/>
                </a:solidFill>
                <a:latin typeface="Arial"/>
              </a:rPr>
              <a:t>Moltes gràcies.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lang="es-ES" sz="800" b="0" dirty="0">
                <a:solidFill>
                  <a:srgbClr val="66707A"/>
                </a:solidFill>
                <a:latin typeface="Arial"/>
              </a:rPr>
              <a:t>12</a:t>
            </a:r>
          </a:p>
          <a:p>
            <a:pPr algn="r"/>
            <a:endParaRPr sz="8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Annex. Demo opcional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Mateix cas d'ús, adaptador substituïble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0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5"/>
          <p:cNvSpPr/>
          <p:nvPr/>
        </p:nvSpPr>
        <p:spPr>
          <a:xfrm>
            <a:off x="914400" y="1325880"/>
            <a:ext cx="10286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HexaStock és un projecte open source propi utilitzat en docència universitària i formació o consultoria professional.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Rounded Rectangle 6"/>
          <p:cNvSpPr/>
          <p:nvPr/>
        </p:nvSpPr>
        <p:spPr>
          <a:xfrm>
            <a:off x="86868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" name="TextBox 7"/>
          <p:cNvSpPr/>
          <p:nvPr/>
        </p:nvSpPr>
        <p:spPr>
          <a:xfrm>
            <a:off x="105156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cas d'ús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ounded Rectangle 8"/>
          <p:cNvSpPr/>
          <p:nvPr/>
        </p:nvSpPr>
        <p:spPr>
          <a:xfrm>
            <a:off x="457200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9"/>
          <p:cNvSpPr/>
          <p:nvPr/>
        </p:nvSpPr>
        <p:spPr>
          <a:xfrm>
            <a:off x="475488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</a:t>
            </a:r>
            <a:r>
              <a:rPr lang="es-E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</a:t>
            </a: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ervei</a:t>
            </a:r>
            <a:r>
              <a:rPr lang="es-E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d’Aplicació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Rounded Rectangle 10"/>
          <p:cNvSpPr/>
          <p:nvPr/>
        </p:nvSpPr>
        <p:spPr>
          <a:xfrm>
            <a:off x="827532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TextBox 11"/>
          <p:cNvSpPr/>
          <p:nvPr/>
        </p:nvSpPr>
        <p:spPr>
          <a:xfrm>
            <a:off x="845820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domini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12"/>
          <p:cNvSpPr/>
          <p:nvPr/>
        </p:nvSpPr>
        <p:spPr>
          <a:xfrm>
            <a:off x="1051560" y="3886200"/>
            <a:ext cx="100580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260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Canvi tecnològic: adaptador Finnhub ↔ adaptador Alpha Vantage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3"/>
          <p:cNvSpPr/>
          <p:nvPr/>
        </p:nvSpPr>
        <p:spPr>
          <a:xfrm>
            <a:off x="1051560" y="5074920"/>
            <a:ext cx="100580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Canvia la infraestructura; el cas d'ús 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 el domini 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roman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en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estable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.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4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15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Annex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1774</TotalTime>
  <Words>1934</Words>
  <Application>Microsoft Macintosh PowerPoint</Application>
  <PresentationFormat>Panorámica</PresentationFormat>
  <Paragraphs>200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9" baseType="lpstr">
      <vt:lpstr>Arial</vt:lpstr>
      <vt:lpstr>Calibri</vt:lpstr>
      <vt:lpstr>Consolas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>generated using python-pptx</dc:description>
  <cp:lastModifiedBy>Alfredo Rueda Unsain</cp:lastModifiedBy>
  <cp:revision>49</cp:revision>
  <cp:lastPrinted>2026-07-01T20:23:23Z</cp:lastPrinted>
  <dcterms:created xsi:type="dcterms:W3CDTF">2013-01-27T09:14:16Z</dcterms:created>
  <dcterms:modified xsi:type="dcterms:W3CDTF">2026-07-14T20:07:28Z</dcterms:modified>
  <dc:language>es-ES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12</vt:r8>
  </property>
  <property fmtid="{D5CDD505-2E9C-101B-9397-08002B2CF9AE}" pid="3" name="PresentationFormat">
    <vt:lpwstr>Panorámica</vt:lpwstr>
  </property>
  <property fmtid="{D5CDD505-2E9C-101B-9397-08002B2CF9AE}" pid="4" name="Slides">
    <vt:r8>12</vt:r8>
  </property>
</Properties>
</file>