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38"/>
  </p:normalViewPr>
  <p:slideViewPr>
    <p:cSldViewPr snapToGrid="0" snapToObjects="1">
      <p:cViewPr varScale="1">
        <p:scale>
          <a:sx n="133" d="100"/>
          <a:sy n="133" d="100"/>
        </p:scale>
        <p:origin x="32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58368" y="1234440"/>
            <a:ext cx="9875520" cy="82296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l"/>
            <a:r>
              <a:rPr sz="3200" b="1">
                <a:solidFill>
                  <a:srgbClr val="192D3E"/>
                </a:solidFill>
                <a:latin typeface="Arial"/>
              </a:rPr>
              <a:t>Disseny de ports de sortida en arquitectura hexagonal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41517"/>
            <a:ext cx="9326880" cy="4114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2100" dirty="0">
                <a:solidFill>
                  <a:srgbClr val="236092"/>
                </a:solidFill>
                <a:latin typeface="Arial"/>
              </a:rPr>
              <a:t>D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esacoblament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entre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, domini </a:t>
            </a:r>
            <a:r>
              <a:rPr sz="2100" b="0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100" b="0" dirty="0">
                <a:solidFill>
                  <a:srgbClr val="236092"/>
                </a:solidFill>
                <a:latin typeface="Arial"/>
              </a:rPr>
              <a:t> APIs externes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88920"/>
            <a:ext cx="9601200" cy="7315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800" b="0" dirty="0">
                <a:solidFill>
                  <a:srgbClr val="262626"/>
                </a:solidFill>
                <a:latin typeface="Arial"/>
              </a:rPr>
              <a:t>Una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microlliçó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Sistemes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d'Informació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a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partir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d'un </a:t>
            </a:r>
            <a:r>
              <a:rPr sz="1800" b="0" dirty="0" err="1">
                <a:solidFill>
                  <a:srgbClr val="262626"/>
                </a:solidFill>
                <a:latin typeface="Arial"/>
              </a:rPr>
              <a:t>cas</a:t>
            </a:r>
            <a:r>
              <a:rPr sz="1800" b="0" dirty="0">
                <a:solidFill>
                  <a:srgbClr val="262626"/>
                </a:solidFill>
                <a:latin typeface="Arial"/>
              </a:rPr>
              <a:t> real de </a:t>
            </a:r>
            <a:r>
              <a:rPr lang="es-ES" dirty="0">
                <a:solidFill>
                  <a:srgbClr val="262626"/>
                </a:solidFill>
                <a:latin typeface="Arial"/>
              </a:rPr>
              <a:t>la Generalitat de Catalunya</a:t>
            </a:r>
          </a:p>
          <a:p>
            <a:pPr algn="l"/>
            <a:endParaRPr sz="18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85800" y="4663440"/>
            <a:ext cx="685800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500" b="0">
                <a:solidFill>
                  <a:srgbClr val="66707A"/>
                </a:solidFill>
                <a:latin typeface="Arial"/>
              </a:rPr>
              <a:t>Alfredo Rueda Unsain
Defensa de plaça de professorat permanent
TecnoCampus · classe magistral reduïda, 20 minuts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On som dins l'assignatura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Disseny de Sistemes d'Informació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749039" cy="9144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800" b="1">
                <a:solidFill>
                  <a:srgbClr val="192D3E"/>
                </a:solidFill>
                <a:latin typeface="Arial"/>
              </a:rPr>
              <a:t>Disseny de Sistemes d'Informació
3r curs · 6 ECTS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508760"/>
            <a:ext cx="45720" cy="3200400"/>
          </a:xfrm>
          <a:prstGeom prst="roundRect">
            <a:avLst/>
          </a:prstGeom>
          <a:solidFill>
            <a:srgbClr val="236092"/>
          </a:solidFill>
          <a:ln w="9525">
            <a:solidFill>
              <a:srgbClr val="2360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166360" y="1508760"/>
            <a:ext cx="5394960" cy="10515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000" b="1" dirty="0">
                <a:solidFill>
                  <a:srgbClr val="192D3E"/>
                </a:solidFill>
                <a:latin typeface="Arial"/>
              </a:rPr>
              <a:t>Ports de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en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3000" b="1" dirty="0" err="1">
                <a:solidFill>
                  <a:srgbClr val="192D3E"/>
                </a:solidFill>
                <a:latin typeface="Arial"/>
              </a:rPr>
              <a:t>arquitectura</a:t>
            </a:r>
            <a:r>
              <a:rPr sz="3000" b="1" dirty="0">
                <a:solidFill>
                  <a:srgbClr val="192D3E"/>
                </a:solidFill>
                <a:latin typeface="Arial"/>
              </a:rPr>
              <a:t> hexagonal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94960" y="2971800"/>
            <a:ext cx="4983480" cy="114300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2200" b="0" dirty="0">
                <a:solidFill>
                  <a:srgbClr val="262626"/>
                </a:solidFill>
                <a:latin typeface="Arial"/>
              </a:rPr>
              <a:t>
Ens </a:t>
            </a:r>
            <a:r>
              <a:rPr sz="2200" b="0" dirty="0" err="1">
                <a:solidFill>
                  <a:srgbClr val="262626"/>
                </a:solidFill>
                <a:latin typeface="Arial"/>
              </a:rPr>
              <a:t>centr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are</a:t>
            </a:r>
            <a:r>
              <a:rPr sz="2200" b="0" dirty="0">
                <a:solidFill>
                  <a:srgbClr val="262626"/>
                </a:solidFill>
                <a:latin typeface="Arial"/>
              </a:rPr>
              <a:t>m </a:t>
            </a:r>
            <a:r>
              <a:rPr sz="2200" b="0" dirty="0" err="1">
                <a:solidFill>
                  <a:srgbClr val="262626"/>
                </a:solidFill>
                <a:latin typeface="Arial"/>
              </a:rPr>
              <a:t>en</a:t>
            </a:r>
            <a:r>
              <a:rPr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el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disseny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ports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de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sortida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per interactuar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amb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</a:t>
            </a:r>
            <a:r>
              <a:rPr lang="es-ES" sz="2200" b="0" dirty="0" err="1">
                <a:solidFill>
                  <a:srgbClr val="262626"/>
                </a:solidFill>
                <a:latin typeface="Arial"/>
              </a:rPr>
              <a:t>APIs</a:t>
            </a:r>
            <a:r>
              <a:rPr lang="es-ES" sz="2200" b="0" dirty="0">
                <a:solidFill>
                  <a:srgbClr val="262626"/>
                </a:solidFill>
                <a:latin typeface="Arial"/>
              </a:rPr>
              <a:t> externes de manera desacoplada. </a:t>
            </a:r>
            <a:endParaRPr sz="2200" b="0" dirty="0">
              <a:solidFill>
                <a:srgbClr val="262626"/>
              </a:solidFill>
              <a:latin typeface="Arial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60120" y="5669280"/>
            <a:ext cx="987552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1300" b="0">
                <a:solidFill>
                  <a:srgbClr val="66707A"/>
                </a:solidFill>
                <a:latin typeface="Arial"/>
              </a:rPr>
              <a:t>Microlliçó dins el bloc de clean / hexagonal architecture, ports, adaptadors i DDD.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ns3="http://schemas.microsoft.com/office/drawing/2014/main" xmlns:ns4="http://schemas.microsoft.com/office/drawing/2010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Objectiu d'aprenentatge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417320"/>
            <a:ext cx="10241280" cy="640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7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servei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d'aplicació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necessita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capacitat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, no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una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700" b="1" dirty="0" err="1">
                <a:solidFill>
                  <a:srgbClr val="192D3E"/>
                </a:solidFill>
                <a:latin typeface="Arial"/>
              </a:rPr>
              <a:t>tecnologia</a:t>
            </a:r>
            <a:r>
              <a:rPr sz="2700" b="1" dirty="0">
                <a:solidFill>
                  <a:srgbClr val="192D3E"/>
                </a:solidFill>
                <a:latin typeface="Arial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  <p:pic>
        <p:nvPicPr>
          <p:cNvPr id="1026" name="Picture 2">
            <a:extLst>
              <a:ext uri="{FF2B5EF4-FFF2-40B4-BE49-F238E27FC236}">
                <ns3:creationId id="{24324096-D33B-3CBF-C022-BFBBD6A63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ns4:useLocalDpi val="0"/>
              </a:ext>
            </a:extLst>
          </a:blip>
          <a:srcRect/>
          <a:stretch>
            <a:fillRect/>
          </a:stretch>
        </p:blipFill>
        <p:spPr bwMode="auto">
          <a:xfrm>
            <a:off x="1759017" y="2139756"/>
            <a:ext cx="8085221" cy="4027872"/>
          </a:xfrm>
          <a:prstGeom prst="rect">
            <a:avLst/>
          </a:prstGeom>
          <a:noFill/>
          <a:extLst>
            <a:ext uri="{909E8E84-426E-40DD-AFC4-6F175D3DCCD1}">
              <ns4:hiddenFill>
                <a:solidFill>
                  <a:srgbClr val="FFFFFF"/>
                </a:solidFill>
              </ns4:hiddenFill>
            </a:ext>
          </a:ex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ns2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spTree>
      <p:nvGrpSpPr>
        <p:cNvPr id="1" name="">
          <a:extLst>
            <a:ext uri="{FF2B5EF4-FFF2-40B4-BE49-F238E27FC236}">
              <ns2:creationId id="{91787A17-E989-2125-8BF4-9FD64C66B0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ns2:creationId id="{6113BE6D-4BF0-DC81-2CE8-23039C4C9D58}"/>
              </a:ext>
            </a:extLst>
          </p:cNvPr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Objectiu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800" b="1" dirty="0" err="1">
                <a:solidFill>
                  <a:srgbClr val="192D3E"/>
                </a:solidFill>
                <a:latin typeface="Arial"/>
              </a:rPr>
              <a:t>d'aprenentatge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II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pic>
        <p:nvPicPr>
          <p:cNvPr id="3" name="Picture 2" descr="logotip-oficial-tecnocampus-upf-horitzontal-color.png">
            <a:extLst>
              <a:ext uri="{FF2B5EF4-FFF2-40B4-BE49-F238E27FC236}">
                <ns2:creationId id="{6E5AEF9E-E38C-2981-74C2-DA381C8551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ns2:creationId id="{565CC16B-626E-E880-45E7-0DBECBCD6306}"/>
              </a:ext>
            </a:extLst>
          </p:cNvPr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ns2:creationId id="{E5442AE4-020C-7BAB-E612-2262DEB4097A}"/>
              </a:ext>
            </a:extLst>
          </p:cNvPr>
          <p:cNvSpPr txBox="1"/>
          <p:nvPr/>
        </p:nvSpPr>
        <p:spPr>
          <a:xfrm>
            <a:off x="960120" y="1417320"/>
            <a:ext cx="10241280" cy="640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/>
            <a:r>
              <a:rPr sz="2700" b="1">
                <a:solidFill>
                  <a:srgbClr val="192D3E"/>
                </a:solidFill>
                <a:latin typeface="Arial"/>
              </a:rPr>
              <a:t>El servei d'aplicació necessita una capacitat, no una tecnologia.</a:t>
            </a:r>
          </a:p>
        </p:txBody>
      </p:sp>
      <p:sp>
        <p:nvSpPr>
          <p:cNvPr id="6" name="Rounded Rectangle 5">
            <a:extLst>
              <a:ext uri="{FF2B5EF4-FFF2-40B4-BE49-F238E27FC236}">
                <ns2:creationId id="{064EE3A6-5D0D-EFE6-3907-91BB6540F213}"/>
              </a:ext>
            </a:extLst>
          </p:cNvPr>
          <p:cNvSpPr/>
          <p:nvPr/>
        </p:nvSpPr>
        <p:spPr>
          <a:xfrm>
            <a:off x="822960" y="2743200"/>
            <a:ext cx="3246120" cy="160020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ns2:creationId id="{C0F1223D-ADAB-E817-C2A8-78FB596BC6F8}"/>
              </a:ext>
            </a:extLst>
          </p:cNvPr>
          <p:cNvSpPr txBox="1"/>
          <p:nvPr/>
        </p:nvSpPr>
        <p:spPr>
          <a:xfrm>
            <a:off x="1024128" y="3063240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Identificar
acoblament</a:t>
            </a:r>
          </a:p>
        </p:txBody>
      </p:sp>
      <p:sp>
        <p:nvSpPr>
          <p:cNvPr id="8" name="Rounded Rectangle 7">
            <a:extLst>
              <a:ext uri="{FF2B5EF4-FFF2-40B4-BE49-F238E27FC236}">
                <ns2:creationId id="{460CDC97-EADA-2158-DAC3-FD27FD257839}"/>
              </a:ext>
            </a:extLst>
          </p:cNvPr>
          <p:cNvSpPr/>
          <p:nvPr/>
        </p:nvSpPr>
        <p:spPr>
          <a:xfrm>
            <a:off x="4553712" y="2743200"/>
            <a:ext cx="3246120" cy="160020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ns2:creationId id="{57DA438C-C49C-5E46-6F61-14F3896E8657}"/>
              </a:ext>
            </a:extLst>
          </p:cNvPr>
          <p:cNvSpPr txBox="1"/>
          <p:nvPr/>
        </p:nvSpPr>
        <p:spPr>
          <a:xfrm>
            <a:off x="4754880" y="3063240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Definir
un port</a:t>
            </a:r>
          </a:p>
        </p:txBody>
      </p:sp>
      <p:sp>
        <p:nvSpPr>
          <p:cNvPr id="10" name="Rounded Rectangle 9">
            <a:extLst>
              <a:ext uri="{FF2B5EF4-FFF2-40B4-BE49-F238E27FC236}">
                <ns2:creationId id="{54F82A2A-9916-E9F8-2F4C-A47E7CF470BE}"/>
              </a:ext>
            </a:extLst>
          </p:cNvPr>
          <p:cNvSpPr/>
          <p:nvPr/>
        </p:nvSpPr>
        <p:spPr>
          <a:xfrm>
            <a:off x="8284464" y="2743200"/>
            <a:ext cx="3246120" cy="160020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>
            <a:extLst>
              <a:ext uri="{FF2B5EF4-FFF2-40B4-BE49-F238E27FC236}">
                <ns2:creationId id="{C6C32489-28BB-E0B4-6D88-054802179775}"/>
              </a:ext>
            </a:extLst>
          </p:cNvPr>
          <p:cNvSpPr txBox="1"/>
          <p:nvPr/>
        </p:nvSpPr>
        <p:spPr>
          <a:xfrm>
            <a:off x="8485632" y="3063240"/>
            <a:ext cx="2834640" cy="7772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Substituir
adaptadors</a:t>
            </a:r>
          </a:p>
        </p:txBody>
      </p:sp>
      <p:sp>
        <p:nvSpPr>
          <p:cNvPr id="12" name="TextBox 11">
            <a:extLst>
              <a:ext uri="{FF2B5EF4-FFF2-40B4-BE49-F238E27FC236}">
                <ns2:creationId id="{5298AC41-2EA2-3BF1-14F5-5DF9647D4D84}"/>
              </a:ext>
            </a:extLst>
          </p:cNvPr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3" name="TextBox 12">
            <a:extLst>
              <a:ext uri="{FF2B5EF4-FFF2-40B4-BE49-F238E27FC236}">
                <ns2:creationId id="{88D08D29-A0AD-1C10-91EF-4939D83B6478}"/>
              </a:ext>
            </a:extLst>
          </p:cNvPr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3</a:t>
            </a:r>
          </a:p>
        </p:txBody>
      </p:sp>
    </p:spTree>
    <p:extLst>
      <p:ext uri="{BB962C8B-B14F-4D97-AF65-F5344CB8AC3E}">
        <ns4:creationId val="1026507124"/>
      </p:ext>
    </p:extLst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Avaluació econòmica d'una beca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Abans de parlar d'arquitectura, cal entendre el procediment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functional-scholarshi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5147" y="1234440"/>
            <a:ext cx="3950745" cy="4754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01000" y="1691640"/>
            <a:ext cx="3063240" cy="12344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Sol·licitud → Expedient → Requisits generals
→ Requisits econòmics → Revisió acadèmica
→ Resolució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337560"/>
            <a:ext cx="3063240" cy="1234440"/>
          </a:xfrm>
          <a:prstGeom prst="round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0" y="3566160"/>
            <a:ext cx="2606040" cy="749808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2000" b="1">
                <a:solidFill>
                  <a:srgbClr val="192D3E"/>
                </a:solidFill>
                <a:latin typeface="Arial"/>
              </a:rPr>
              <a:t>Si no es compleixen
requisits econòmics,
l'expedient no avança.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5166360"/>
            <a:ext cx="3063240" cy="292608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Fonts públiques: AGAUR requisits econòmics i BOE 2025-2026.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Quina informació externa necessita el procediment?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Renda, patrimoni i informació cadastral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agaur-data-interope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9754" y="1234440"/>
            <a:ext cx="2541531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1732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NECESSITAT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75320" y="1828800"/>
            <a:ext cx="2743200" cy="96012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Renda familiar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Patrimoni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Béns immobles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3063240"/>
            <a:ext cx="2926080" cy="32004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1600" b="1">
                <a:solidFill>
                  <a:srgbClr val="236092"/>
                </a:solidFill>
                <a:latin typeface="Arial"/>
              </a:rPr>
              <a:t>FONTS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3474720"/>
            <a:ext cx="2743200" cy="9144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AEAT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Cadastre</a:t>
            </a:r>
          </a:p>
          <a:p>
            <a:pPr>
              <a:spcAft>
                <a:spcPts val="800"/>
              </a:spcAft>
              <a:defRPr sz="1700">
                <a:solidFill>
                  <a:srgbClr val="262626"/>
                </a:solidFill>
                <a:latin typeface="Arial"/>
              </a:defRPr>
            </a:pPr>
            <a:r>
              <a:t>PICA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4892040"/>
            <a:ext cx="3063240" cy="68580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600" b="1">
                <a:solidFill>
                  <a:srgbClr val="192D3E"/>
                </a:solidFill>
                <a:latin typeface="Arial"/>
              </a:rPr>
              <a:t>El procediment necessita informació administrativa,
no una API concreta.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897880"/>
            <a:ext cx="10332720" cy="2286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00" b="0">
                <a:solidFill>
                  <a:srgbClr val="66707A"/>
                </a:solidFill>
                <a:latin typeface="Arial"/>
              </a:rPr>
              <a:t>PICA: interoperabilitat administrativa · Cadastre: registre de béns immobles · SOAP/XML: missatgeria i format d'integració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Quan canvia la integració, canvia massa codi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600200"/>
            <a:ext cx="10241280" cy="777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3100" b="1">
                <a:solidFill>
                  <a:srgbClr val="192D3E"/>
                </a:solidFill>
                <a:latin typeface="Arial"/>
              </a:rPr>
              <a:t>Cas d'ús  →  SOAP/XML  →  PICA  →  AEAT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743200"/>
            <a:ext cx="3063240" cy="1188720"/>
          </a:xfrm>
          <a:prstGeom prst="rect">
            <a:avLst/>
          </a:prstGeom>
          <a:solidFill>
            <a:srgbClr val="F8EAE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43000" y="3017520"/>
            <a:ext cx="2606040" cy="54864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1800" b="1">
                <a:solidFill>
                  <a:srgbClr val="192D3E"/>
                </a:solidFill>
                <a:latin typeface="Arial"/>
              </a:rPr>
              <a:t>El cas d'ús coneix
la infraestructura</a:t>
            </a:r>
          </a:p>
        </p:txBody>
      </p:sp>
      <p:sp>
        <p:nvSpPr>
          <p:cNvPr id="8" name="Rectangle 7"/>
          <p:cNvSpPr/>
          <p:nvPr/>
        </p:nvSpPr>
        <p:spPr>
          <a:xfrm>
            <a:off x="4526280" y="2743200"/>
            <a:ext cx="3063240" cy="1188720"/>
          </a:xfrm>
          <a:prstGeom prst="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4880" y="3017520"/>
            <a:ext cx="2656574" cy="653796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800" b="1" dirty="0">
                <a:solidFill>
                  <a:srgbClr val="192D3E"/>
                </a:solidFill>
                <a:latin typeface="Arial"/>
              </a:rPr>
              <a:t>El 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canvi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b="1" dirty="0">
                <a:solidFill>
                  <a:srgbClr val="192D3E"/>
                </a:solidFill>
                <a:latin typeface="Arial"/>
              </a:rPr>
              <a:t>de tecnología de la API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
</a:t>
            </a:r>
            <a:r>
              <a:rPr sz="1800" b="1" dirty="0" err="1">
                <a:solidFill>
                  <a:srgbClr val="192D3E"/>
                </a:solidFill>
                <a:latin typeface="Arial"/>
              </a:rPr>
              <a:t>impacta</a:t>
            </a:r>
            <a:r>
              <a:rPr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en el cas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d’ús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138160" y="2743200"/>
            <a:ext cx="3063240" cy="1188720"/>
          </a:xfrm>
          <a:prstGeom prst="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60080" y="2960370"/>
            <a:ext cx="2788920" cy="809244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/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L'acoplement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del cas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d’ús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amb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infraestructura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tecnològica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concreta dificulta el </a:t>
            </a:r>
            <a:r>
              <a:rPr lang="es-ES" sz="1800" b="1" dirty="0" err="1">
                <a:solidFill>
                  <a:srgbClr val="192D3E"/>
                </a:solidFill>
                <a:latin typeface="Arial"/>
              </a:rPr>
              <a:t>manteniment</a:t>
            </a:r>
            <a:r>
              <a:rPr lang="es-ES" sz="1800" b="1" dirty="0">
                <a:solidFill>
                  <a:srgbClr val="192D3E"/>
                </a:solidFill>
                <a:latin typeface="Arial"/>
              </a:rPr>
              <a:t> de software. </a:t>
            </a:r>
            <a:endParaRPr sz="1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60120" y="5074920"/>
            <a:ext cx="1024128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500" b="1" dirty="0" err="1">
                <a:solidFill>
                  <a:srgbClr val="236092"/>
                </a:solidFill>
                <a:latin typeface="Arial"/>
              </a:rPr>
              <a:t>Separar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casos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d'ús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, </a:t>
            </a:r>
            <a:r>
              <a:rPr lang="es-ES" sz="2500" b="1" dirty="0" err="1">
                <a:solidFill>
                  <a:srgbClr val="236092"/>
                </a:solidFill>
                <a:latin typeface="Arial"/>
              </a:rPr>
              <a:t>domini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i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 </a:t>
            </a:r>
            <a:r>
              <a:rPr sz="2500" b="1" dirty="0" err="1">
                <a:solidFill>
                  <a:srgbClr val="236092"/>
                </a:solidFill>
                <a:latin typeface="Arial"/>
              </a:rPr>
              <a:t>infraestructura</a:t>
            </a:r>
            <a:r>
              <a:rPr sz="2500" b="1" dirty="0">
                <a:solidFill>
                  <a:srgbClr val="236092"/>
                </a:solidFill>
                <a:latin typeface="Arial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Port de sortida i adaptador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794760" y="1417320"/>
            <a:ext cx="4480560" cy="566928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977639" y="151790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Cas d'ús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98424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94760" y="2377440"/>
            <a:ext cx="4480560" cy="566928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77639" y="247802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Port de sortida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294436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3337560"/>
            <a:ext cx="4480560" cy="566928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977639" y="343814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Adaptador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3904488"/>
            <a:ext cx="274320" cy="29260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2200" b="1">
                <a:solidFill>
                  <a:srgbClr val="236092"/>
                </a:solidFill>
                <a:latin typeface="Arial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94760" y="4297680"/>
            <a:ext cx="4480560" cy="566928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77639" y="4398264"/>
            <a:ext cx="4114800" cy="25603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/>
            <a:r>
              <a:rPr sz="2100" b="1">
                <a:solidFill>
                  <a:srgbClr val="192D3E"/>
                </a:solidFill>
                <a:latin typeface="Arial"/>
              </a:rPr>
              <a:t>Sistema extern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2300" b="1">
                <a:solidFill>
                  <a:srgbClr val="192D3E"/>
                </a:solidFill>
                <a:latin typeface="Arial"/>
              </a:rPr>
              <a:t>El port defineix què.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5349240"/>
            <a:ext cx="4754880" cy="347472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/>
            <a:r>
              <a:rPr sz="2300" b="1">
                <a:solidFill>
                  <a:srgbClr val="192D3E"/>
                </a:solidFill>
                <a:latin typeface="Arial"/>
              </a:rPr>
              <a:t>L'adaptador resol com.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ns3="http://schemas.microsoft.com/office/drawing/2014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lang="es-ES" sz="2800" b="1" dirty="0">
                <a:solidFill>
                  <a:srgbClr val="192D3E"/>
                </a:solidFill>
                <a:latin typeface="Arial"/>
              </a:rPr>
              <a:t>Port de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sortida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per a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informació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patrimonial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lang="es-ES" sz="1300" b="0" dirty="0">
                <a:solidFill>
                  <a:srgbClr val="66707A"/>
                </a:solidFill>
                <a:latin typeface="Arial"/>
              </a:rPr>
              <a:t>El cas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d’ús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depèn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d’un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contracte de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l’aplicació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, no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detalls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 de PICA, AEAT o </a:t>
            </a:r>
            <a:r>
              <a:rPr lang="es-ES" sz="1300" b="0" dirty="0" err="1">
                <a:solidFill>
                  <a:srgbClr val="66707A"/>
                </a:solidFill>
                <a:latin typeface="Arial"/>
              </a:rPr>
              <a:t>Cadastre</a:t>
            </a:r>
            <a:r>
              <a:rPr lang="es-ES" sz="1300" b="0" dirty="0">
                <a:solidFill>
                  <a:srgbClr val="66707A"/>
                </a:solidFill>
                <a:latin typeface="Arial"/>
              </a:rPr>
              <a:t>.</a:t>
            </a:r>
            <a:endParaRPr sz="1300" b="0" dirty="0">
              <a:solidFill>
                <a:srgbClr val="66707A"/>
              </a:solidFill>
              <a:latin typeface="Arial"/>
            </a:endParaRP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8</a:t>
            </a:r>
          </a:p>
        </p:txBody>
      </p:sp>
      <p:pic>
        <p:nvPicPr>
          <p:cNvPr id="11" name="Imagen 10">
            <a:extLst>
              <a:ext uri="{FF2B5EF4-FFF2-40B4-BE49-F238E27FC236}">
                <ns3:creationId id="{B6A73A3E-C968-EC80-D679-F89DCA1ECD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054" y="1308010"/>
            <a:ext cx="11102753" cy="51659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 dirty="0" err="1">
                <a:solidFill>
                  <a:srgbClr val="192D3E"/>
                </a:solidFill>
                <a:latin typeface="Arial"/>
              </a:rPr>
              <a:t>Transferència</a:t>
            </a:r>
            <a:r>
              <a:rPr sz="2800" b="1" dirty="0">
                <a:solidFill>
                  <a:srgbClr val="192D3E"/>
                </a:solidFill>
                <a:latin typeface="Arial"/>
              </a:rPr>
              <a:t> a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domini</a:t>
            </a:r>
            <a:r>
              <a:rPr lang="es-ES" sz="2800" b="1" dirty="0">
                <a:solidFill>
                  <a:srgbClr val="192D3E"/>
                </a:solidFill>
                <a:latin typeface="Arial"/>
              </a:rPr>
              <a:t> </a:t>
            </a:r>
            <a:r>
              <a:rPr lang="es-ES" sz="2800" b="1" dirty="0" err="1">
                <a:solidFill>
                  <a:srgbClr val="192D3E"/>
                </a:solidFill>
                <a:latin typeface="Arial"/>
              </a:rPr>
              <a:t>financer</a:t>
            </a:r>
            <a:endParaRPr sz="2800" b="1" dirty="0">
              <a:solidFill>
                <a:srgbClr val="192D3E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Venda d'accions amb proveïdor de preus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hexastock-sellstocks-arquitectura-vp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64444"/>
            <a:ext cx="7863840" cy="4414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49640" y="1481328"/>
            <a:ext cx="2743200" cy="7315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200" b="1" dirty="0" err="1">
                <a:solidFill>
                  <a:srgbClr val="192D3E"/>
                </a:solidFill>
                <a:latin typeface="Arial"/>
              </a:rPr>
              <a:t>Mateix</a:t>
            </a:r>
            <a:r>
              <a:rPr sz="2200" b="1" dirty="0">
                <a:solidFill>
                  <a:srgbClr val="192D3E"/>
                </a:solidFill>
                <a:latin typeface="Arial"/>
              </a:rPr>
              <a:t> </a:t>
            </a:r>
            <a:r>
              <a:rPr sz="2200" b="1" dirty="0" err="1">
                <a:solidFill>
                  <a:srgbClr val="192D3E"/>
                </a:solidFill>
                <a:latin typeface="Arial"/>
              </a:rPr>
              <a:t>problema</a:t>
            </a:r>
            <a:r>
              <a:rPr sz="2200" b="1" dirty="0">
                <a:solidFill>
                  <a:srgbClr val="192D3E"/>
                </a:solidFill>
                <a:latin typeface="Arial"/>
              </a:rPr>
              <a:t>,
</a:t>
            </a:r>
            <a:r>
              <a:rPr sz="2200" b="1" dirty="0" err="1">
                <a:solidFill>
                  <a:srgbClr val="192D3E"/>
                </a:solidFill>
                <a:latin typeface="Arial"/>
              </a:rPr>
              <a:t>diferent</a:t>
            </a:r>
            <a:r>
              <a:rPr sz="2200" b="1" dirty="0">
                <a:solidFill>
                  <a:srgbClr val="192D3E"/>
                </a:solidFill>
                <a:latin typeface="Arial"/>
              </a:rPr>
              <a:t> domini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2788920"/>
            <a:ext cx="2743200" cy="1417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62626"/>
                </a:solidFill>
                <a:latin typeface="Arial"/>
              </a:defRPr>
            </a:pPr>
            <a:r>
              <a:rPr dirty="0"/>
              <a:t>Cas </a:t>
            </a:r>
            <a:r>
              <a:rPr dirty="0" err="1"/>
              <a:t>d'ús</a:t>
            </a:r>
            <a:r>
              <a:rPr dirty="0"/>
              <a:t>: </a:t>
            </a:r>
            <a:r>
              <a:rPr dirty="0" err="1"/>
              <a:t>venda</a:t>
            </a:r>
            <a:r>
              <a:rPr dirty="0"/>
              <a:t> </a:t>
            </a:r>
            <a:r>
              <a:rPr dirty="0" err="1"/>
              <a:t>d'accions</a:t>
            </a:r>
            <a:endParaRPr dirty="0"/>
          </a:p>
          <a:p>
            <a:pPr>
              <a:spcAft>
                <a:spcPts val="800"/>
              </a:spcAft>
              <a:defRPr sz="1500">
                <a:solidFill>
                  <a:srgbClr val="262626"/>
                </a:solidFill>
                <a:latin typeface="Arial"/>
              </a:defRPr>
            </a:pPr>
            <a:r>
              <a:rPr dirty="0" err="1"/>
              <a:t>Necessitat</a:t>
            </a:r>
            <a:r>
              <a:rPr dirty="0"/>
              <a:t>: </a:t>
            </a:r>
            <a:r>
              <a:rPr dirty="0" err="1"/>
              <a:t>preu</a:t>
            </a:r>
            <a:r>
              <a:rPr dirty="0"/>
              <a:t> actual</a:t>
            </a:r>
          </a:p>
          <a:p>
            <a:pPr>
              <a:spcAft>
                <a:spcPts val="800"/>
              </a:spcAft>
              <a:defRPr sz="1500">
                <a:solidFill>
                  <a:srgbClr val="262626"/>
                </a:solidFill>
                <a:latin typeface="Arial"/>
              </a:defRPr>
            </a:pPr>
            <a:r>
              <a:rPr dirty="0"/>
              <a:t>No </a:t>
            </a:r>
            <a:r>
              <a:rPr dirty="0" err="1"/>
              <a:t>depèn</a:t>
            </a:r>
            <a:r>
              <a:rPr dirty="0"/>
              <a:t> de </a:t>
            </a:r>
            <a:r>
              <a:rPr dirty="0" err="1"/>
              <a:t>proveïdors</a:t>
            </a:r>
            <a:r>
              <a:rPr dirty="0"/>
              <a:t> </a:t>
            </a:r>
            <a:r>
              <a:rPr dirty="0" err="1"/>
              <a:t>concrets</a:t>
            </a:r>
            <a:endParaRPr dirty="0"/>
          </a:p>
        </p:txBody>
      </p:sp>
      <p:sp>
        <p:nvSpPr>
          <p:cNvPr id="9" name="TextBox 8"/>
          <p:cNvSpPr txBox="1"/>
          <p:nvPr/>
        </p:nvSpPr>
        <p:spPr>
          <a:xfrm>
            <a:off x="8549640" y="5669280"/>
            <a:ext cx="2743200" cy="228600"/>
          </a:xfrm>
          <a:prstGeom prst="rect">
            <a:avLst/>
          </a:prstGeom>
          <a:noFill/>
        </p:spPr>
        <p:txBody>
          <a:bodyPr wrap="square">
            <a:normAutofit fontScale="47500" lnSpcReduction="20000"/>
          </a:bodyPr>
          <a:lstStyle/>
          <a:p>
            <a:pPr algn="ctr"/>
            <a:r>
              <a:rPr sz="1000" b="0">
                <a:solidFill>
                  <a:srgbClr val="66707A"/>
                </a:solidFill>
                <a:latin typeface="Arial"/>
              </a:rPr>
              <a:t>Port: StockPriceProviderPort
Adaptadors: Finnhub, Alpha Vantage, mock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Flux i codi essencial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El servei coordina. El domini decideix. La infraestructura adapta.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sell-stock-sequ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2677"/>
            <a:ext cx="7315200" cy="306980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92440" y="1645920"/>
            <a:ext cx="3520440" cy="1417320"/>
          </a:xfrm>
          <a:prstGeom prst="roundRect">
            <a:avLst/>
          </a:prstGeom>
          <a:solidFill>
            <a:srgbClr val="1F2429"/>
          </a:solidFill>
          <a:ln>
            <a:solidFill>
              <a:srgbClr val="1F242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93608" y="1810512"/>
            <a:ext cx="3118104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F5F6F7"/>
                </a:solidFill>
                <a:latin typeface="Consolas"/>
              </a:rPr>
              <a:t>stockPrice = port.fetch(ticker);
result = portfolio.sell(...);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3657600"/>
            <a:ext cx="306324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62626"/>
                </a:solidFill>
                <a:latin typeface="Arial"/>
              </a:defRPr>
            </a:pPr>
            <a:r>
              <a:t>El servei coordina</a:t>
            </a:r>
          </a:p>
          <a:p>
            <a:pPr>
              <a:spcAft>
                <a:spcPts val="800"/>
              </a:spcAft>
              <a:defRPr sz="1600">
                <a:solidFill>
                  <a:srgbClr val="262626"/>
                </a:solidFill>
                <a:latin typeface="Arial"/>
              </a:defRPr>
            </a:pPr>
            <a:r>
              <a:t>El port obté informació</a:t>
            </a:r>
          </a:p>
          <a:p>
            <a:pPr>
              <a:spcAft>
                <a:spcPts val="800"/>
              </a:spcAft>
              <a:defRPr sz="1600">
                <a:solidFill>
                  <a:srgbClr val="262626"/>
                </a:solidFill>
                <a:latin typeface="Arial"/>
              </a:defRPr>
            </a:pPr>
            <a:r>
              <a:t>El domini decideix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Demo controlada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Mateix cas d'ús, adaptador substituïble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325880"/>
            <a:ext cx="10287000" cy="502920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/>
            <a:r>
              <a:rPr sz="1800" b="0">
                <a:solidFill>
                  <a:srgbClr val="192D3E"/>
                </a:solidFill>
                <a:latin typeface="Arial"/>
              </a:rPr>
              <a:t>HexaStock és un projecte open source propi utilitzat en docència universitària i formació o consultoria amb institucions financeres.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240280"/>
            <a:ext cx="3246120" cy="960120"/>
          </a:xfrm>
          <a:prstGeom prst="roundRect">
            <a:avLst/>
          </a:prstGeom>
          <a:solidFill>
            <a:srgbClr val="E8F1F8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>
                <a:solidFill>
                  <a:srgbClr val="192D3E"/>
                </a:solidFill>
                <a:latin typeface="Arial"/>
              </a:rPr>
              <a:t>Mateix cas d'ús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2240280"/>
            <a:ext cx="3246120" cy="960120"/>
          </a:xfrm>
          <a:prstGeom prst="roundRect">
            <a:avLst/>
          </a:prstGeom>
          <a:solidFill>
            <a:srgbClr val="FFF3D6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>
                <a:solidFill>
                  <a:srgbClr val="192D3E"/>
                </a:solidFill>
                <a:latin typeface="Arial"/>
              </a:rPr>
              <a:t>Mateix servei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19" y="2240280"/>
            <a:ext cx="3246120" cy="960120"/>
          </a:xfrm>
          <a:prstGeom prst="roundRect">
            <a:avLst/>
          </a:prstGeom>
          <a:solidFill>
            <a:srgbClr val="EBF6F0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58199" y="2542032"/>
            <a:ext cx="2880360" cy="2560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/>
            <a:r>
              <a:rPr sz="1900" b="1">
                <a:solidFill>
                  <a:srgbClr val="192D3E"/>
                </a:solidFill>
                <a:latin typeface="Arial"/>
              </a:rPr>
              <a:t>Mateix domini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886200"/>
            <a:ext cx="10058400" cy="5029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600" b="1">
                <a:solidFill>
                  <a:srgbClr val="236092"/>
                </a:solidFill>
                <a:latin typeface="Arial"/>
              </a:rPr>
              <a:t>Canvi: adaptador real  ↔  adaptador 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074920"/>
            <a:ext cx="10058400" cy="4572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Canvia la infraestructura; el cas d'ús roman estable.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Conclusió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2648" y="822960"/>
            <a:ext cx="8869680" cy="3200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0">
                <a:solidFill>
                  <a:srgbClr val="66707A"/>
                </a:solidFill>
                <a:latin typeface="Arial"/>
              </a:rPr>
              <a:t>L'arquitectura no elimina el canvi. El localitza.</a:t>
            </a:r>
          </a:p>
        </p:txBody>
      </p:sp>
      <p:pic>
        <p:nvPicPr>
          <p:cNvPr id="4" name="Picture 3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before-after-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91858"/>
            <a:ext cx="7086600" cy="44857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874519"/>
            <a:ext cx="2971800" cy="173736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2400" b="1">
                <a:solidFill>
                  <a:srgbClr val="192D3E"/>
                </a:solidFill>
                <a:latin typeface="Arial"/>
              </a:rPr>
              <a:t>Quan el proveïdor canvia, volem canviar l'adaptador, no el cas d'ús ni el model de domini.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94360" y="320040"/>
            <a:ext cx="8961120" cy="50292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2800" b="1">
                <a:solidFill>
                  <a:srgbClr val="192D3E"/>
                </a:solidFill>
                <a:latin typeface="Arial"/>
              </a:rPr>
              <a:t>Agraïment</a:t>
            </a:r>
          </a:p>
        </p:txBody>
      </p:sp>
      <p:pic>
        <p:nvPicPr>
          <p:cNvPr id="3" name="Picture 2" descr="logotip-oficial-tecnocampus-upf-horitzontal-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0078" y="293025"/>
            <a:ext cx="3041362" cy="575655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94360" y="1115568"/>
            <a:ext cx="10972800" cy="13716"/>
          </a:xfrm>
          <a:prstGeom prst="rect">
            <a:avLst/>
          </a:prstGeom>
          <a:solidFill>
            <a:srgbClr val="D6DB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34440" y="1600200"/>
            <a:ext cx="9601200" cy="100584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/>
            <a:r>
              <a:rPr sz="2400" b="0">
                <a:solidFill>
                  <a:srgbClr val="192D3E"/>
                </a:solidFill>
                <a:latin typeface="Arial"/>
              </a:rPr>
              <a:t>Vull expressar el meu agraïment al TecnoCampus per l'oportunitat d'aprendre, créixer com a docent i transferir coneixement entre l'empresa i la universitat.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2971800"/>
            <a:ext cx="9052560" cy="68580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ctr"/>
            <a:r>
              <a:rPr sz="2100" b="0">
                <a:solidFill>
                  <a:srgbClr val="262626"/>
                </a:solidFill>
                <a:latin typeface="Arial"/>
              </a:rPr>
              <a:t>Aquesta experiència m'ha permès portar casos reals, criteri professional i arquitectura aplicada a l'aula.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65960" y="4343400"/>
            <a:ext cx="8275320" cy="914400"/>
          </a:xfrm>
          <a:prstGeom prst="roundRect">
            <a:avLst/>
          </a:prstGeom>
          <a:solidFill>
            <a:srgbClr val="F7F8FA"/>
          </a:solidFill>
          <a:ln w="9525">
            <a:solidFill>
              <a:srgbClr val="DC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240280" y="4553712"/>
            <a:ext cx="7726679" cy="43891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/>
            <a:r>
              <a:rPr sz="1600" b="0">
                <a:solidFill>
                  <a:srgbClr val="192D3E"/>
                </a:solidFill>
                <a:latin typeface="Arial"/>
              </a:rPr>
              <a:t>Agraïment especial al Dr. Josep Roure, company professor del TecnoCampus, amb qui he tingut l'oportunitat d'aprendre molt sobre arquitectura i software.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473952"/>
            <a:ext cx="859536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l"/>
            <a:r>
              <a:rPr sz="800" b="0">
                <a:solidFill>
                  <a:srgbClr val="66707A"/>
                </a:solidFill>
                <a:latin typeface="Arial"/>
              </a:rPr>
              <a:t>Disseny de Sistemes d'Informació · Ports de sortida en arquitectura hexagonal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73952"/>
            <a:ext cx="411480" cy="201168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 algn="r"/>
            <a:r>
              <a:rPr sz="800" b="0">
                <a:solidFill>
                  <a:srgbClr val="66707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</TotalTime>
  <Words>773</Words>
  <Application>Microsoft Macintosh PowerPoint</Application>
  <PresentationFormat>Panorámica</PresentationFormat>
  <Paragraphs>108</Paragraphs>
  <Slides>14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8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Alfredo Rueda Unsain</cp:lastModifiedBy>
  <cp:revision>3</cp:revision>
  <dcterms:created xsi:type="dcterms:W3CDTF">2013-01-27T09:14:16Z</dcterms:created>
  <dcterms:modified xsi:type="dcterms:W3CDTF">2026-06-29T18:22:58Z</dcterms:modified>
  <cp:category/>
</cp:coreProperties>
</file>