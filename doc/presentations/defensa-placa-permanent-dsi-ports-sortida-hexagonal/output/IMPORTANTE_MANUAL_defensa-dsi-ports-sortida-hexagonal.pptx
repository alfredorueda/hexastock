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8" r:id="rId12"/>
    <p:sldId id="266" r:id="rId1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1850"/>
    <p:restoredTop sz="94658"/>
  </p:normalViewPr>
  <p:slideViewPr>
    <p:cSldViewPr snapToGrid="0" snapToObjects="1">
      <p:cViewPr varScale="1">
        <p:scale>
          <a:sx n="120" d="100"/>
          <a:sy n="120" d="100"/>
        </p:scale>
        <p:origin x="400" y="18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ABAC575-8351-9441-AF95-237B22BB45B7}" type="datetimeFigureOut">
              <a:rPr lang="es-ES" smtClean="0"/>
              <a:t>5/7/26</a:t>
            </a:fld>
            <a:endParaRPr lang="es-ES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ES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98C99D2-5180-AE4F-A32B-A5730E8BE3FA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23383862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ca-ES" dirty="0"/>
              <a:t>Context: classe de DSI.</a:t>
            </a:r>
          </a:p>
          <a:p>
            <a:r>
              <a:rPr lang="ca-ES" dirty="0"/>
              <a:t>Cas real acreditat: consultoria Generalitat / AGAUR.</a:t>
            </a:r>
          </a:p>
          <a:p>
            <a:r>
              <a:rPr lang="ca-ES" dirty="0"/>
              <a:t>Idea: trobada entre dimensió acadèmica i professional.</a:t>
            </a:r>
          </a:p>
          <a:p>
            <a:r>
              <a:rPr lang="ca-ES" dirty="0"/>
              <a:t>Focus: ports de sortida quan cal informació externa. No panoràmica completa de Arquitectura Hexagonal.</a:t>
            </a:r>
          </a:p>
          <a:p>
            <a:r>
              <a:rPr lang="ca-ES" dirty="0"/>
              <a:t>Transició: situar la sessió dins l’assignatura.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ca-ES" dirty="0"/>
              <a:t>Situar: DSI, tercer curs, 6 ECTS.</a:t>
            </a:r>
          </a:p>
          <a:p>
            <a:r>
              <a:rPr lang="ca-ES" dirty="0"/>
              <a:t>El temari inclou arquitectura capes, hexagonal, </a:t>
            </a:r>
            <a:r>
              <a:rPr lang="ca-ES" dirty="0" err="1"/>
              <a:t>microserveis</a:t>
            </a:r>
            <a:r>
              <a:rPr lang="ca-ES" dirty="0"/>
              <a:t>, ports i adaptadors.</a:t>
            </a:r>
          </a:p>
          <a:p>
            <a:r>
              <a:rPr lang="ca-ES" dirty="0"/>
              <a:t>Focus limitat: port de sortida.</a:t>
            </a:r>
          </a:p>
          <a:p>
            <a:r>
              <a:rPr lang="ca-ES" dirty="0"/>
              <a:t>Transició: formular l’objectiu de treball.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ca-ES" dirty="0"/>
              <a:t>Frase clau: capacitat, no tecnologia específica.</a:t>
            </a:r>
          </a:p>
          <a:p>
            <a:r>
              <a:rPr lang="ca-ES" dirty="0"/>
              <a:t>Tres decisions: identificar necessitat, definir port, implementar adaptador.</a:t>
            </a:r>
          </a:p>
          <a:p>
            <a:r>
              <a:rPr lang="ca-ES" dirty="0"/>
              <a:t>No explicar encara tota l’abstracció.</a:t>
            </a:r>
          </a:p>
          <a:p>
            <a:r>
              <a:rPr lang="ca-ES" dirty="0"/>
              <a:t>Primer cas real, després decisió arquitectònica.</a:t>
            </a:r>
          </a:p>
          <a:p>
            <a:r>
              <a:rPr lang="ca-ES" dirty="0"/>
              <a:t>Transició: procediment administratiu de beca.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ca-ES" dirty="0"/>
              <a:t>Primer entendre el procediment; després la tecnologia.</a:t>
            </a:r>
          </a:p>
          <a:p>
            <a:r>
              <a:rPr lang="ca-ES" dirty="0"/>
              <a:t>Sol·licitud -&gt; expedient -&gt; requisits -&gt; resolució.</a:t>
            </a:r>
          </a:p>
          <a:p>
            <a:r>
              <a:rPr lang="ca-ES" dirty="0"/>
              <a:t>Avaluació econòmica: renda i patrimoni.</a:t>
            </a:r>
          </a:p>
          <a:p>
            <a:r>
              <a:rPr lang="ca-ES" dirty="0"/>
              <a:t>Encara no parlar de SOAP, XML, REST o BD.</a:t>
            </a:r>
          </a:p>
          <a:p>
            <a:r>
              <a:rPr lang="ca-ES" dirty="0"/>
              <a:t>Transició: quina informació externa cal?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ca-ES"/>
              <a:t>Necessitat funcional: informació fiable de renda i patrimoni.</a:t>
            </a:r>
          </a:p>
          <a:p>
            <a:r>
              <a:rPr lang="ca-ES"/>
              <a:t>Fonts possibles: AEAT, Cadastre, PICA.</a:t>
            </a:r>
          </a:p>
          <a:p>
            <a:r>
              <a:rPr lang="ca-ES"/>
              <a:t>PICA = interoperabilitat administrativa, no “el problema”.</a:t>
            </a:r>
          </a:p>
          <a:p>
            <a:r>
              <a:rPr lang="ca-ES"/>
              <a:t>Frase clau: informació administrativa, no API concreta.</a:t>
            </a:r>
          </a:p>
          <a:p>
            <a:r>
              <a:rPr lang="ca-ES"/>
              <a:t>Transició: què passa si el cas d’ús coneix la integració?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ca-ES"/>
              <a:t>Problema: acoblament directe amb detalls tècnics.</a:t>
            </a:r>
          </a:p>
          <a:p>
            <a:r>
              <a:rPr lang="ca-ES"/>
              <a:t>El cas d’ús acaba coneixent SOAP/XML, DTOs, clients i errors.</a:t>
            </a:r>
          </a:p>
          <a:p>
            <a:r>
              <a:rPr lang="ca-ES"/>
              <a:t>Si canvia la integració, el canvi travessa el cas d’ús.</a:t>
            </a:r>
          </a:p>
          <a:p>
            <a:r>
              <a:rPr lang="ca-ES"/>
              <a:t>Riscos: manteniment fràgil i continuïtat operativa.</a:t>
            </a:r>
          </a:p>
          <a:p>
            <a:r>
              <a:rPr lang="ca-ES"/>
              <a:t>Transició: resposta arquitectònica, port de sortida.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ca-ES" dirty="0"/>
              <a:t>Distingir dues fletxes: flux i dependència de codi.</a:t>
            </a:r>
          </a:p>
          <a:p>
            <a:r>
              <a:rPr lang="ca-ES" dirty="0"/>
              <a:t>Flux: el cas d’ús demana informació cap enfora.</a:t>
            </a:r>
          </a:p>
          <a:p>
            <a:r>
              <a:rPr lang="ca-ES" dirty="0"/>
              <a:t>Dependència: cas d’ús -&gt; port; adaptador -&gt; port.</a:t>
            </a:r>
          </a:p>
          <a:p>
            <a:r>
              <a:rPr lang="ca-ES" dirty="0"/>
              <a:t>Java: port = interfície; adaptador = classe que la implementa.</a:t>
            </a:r>
          </a:p>
          <a:p>
            <a:r>
              <a:rPr lang="ca-ES" dirty="0"/>
              <a:t>Frase clau: la infraestructura depèn del port de l’aplicació.</a:t>
            </a:r>
          </a:p>
          <a:p>
            <a:r>
              <a:rPr lang="ca-ES" dirty="0"/>
              <a:t>Transició: aplicar-ho a la necessitat de informació econòmica.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ca-ES"/>
              <a:t>Servei d’aplicació depèn de contractes propis.</a:t>
            </a:r>
          </a:p>
          <a:p>
            <a:r>
              <a:rPr lang="ca-ES"/>
              <a:t>Ports dins del llenguatge de l’aplicació.</a:t>
            </a:r>
          </a:p>
          <a:p>
            <a:r>
              <a:rPr lang="ca-ES"/>
              <a:t>Adaptadors fora del nucli: PICA, JDBC, REST, SOAP/XML.</a:t>
            </a:r>
          </a:p>
          <a:p>
            <a:r>
              <a:rPr lang="ca-ES"/>
              <a:t>Fletxa important: l’adaptador implementa el port.</a:t>
            </a:r>
          </a:p>
          <a:p>
            <a:r>
              <a:rPr lang="ca-ES"/>
              <a:t>Transició: mateix patró, canvi de domini.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ca-ES"/>
              <a:t>Canvi explícit: beca -&gt; cartera d’inversió personal.</a:t>
            </a:r>
          </a:p>
          <a:p>
            <a:r>
              <a:rPr lang="ca-ES"/>
              <a:t>Cas d’ús: vendre accions.</a:t>
            </a:r>
          </a:p>
          <a:p>
            <a:r>
              <a:rPr lang="ca-ES"/>
              <a:t>Necessitat: preu actual de l’acció.</a:t>
            </a:r>
          </a:p>
          <a:p>
            <a:r>
              <a:rPr lang="ca-ES"/>
              <a:t>No dependre de proveïdor, API, endpoint o format.</a:t>
            </a:r>
          </a:p>
          <a:p>
            <a:r>
              <a:rPr lang="ca-ES"/>
              <a:t>Patró: necessitat -&gt; port -&gt; adaptador.</a:t>
            </a:r>
          </a:p>
          <a:p>
            <a:r>
              <a:rPr lang="ca-ES"/>
              <a:t>Transició: projecte concret HexaStock.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ca-ES"/>
              <a:t>Diagrama de seqüència = flux temporal.</a:t>
            </a:r>
          </a:p>
          <a:p>
            <a:r>
              <a:rPr lang="ca-ES"/>
              <a:t>Controller -&gt; port d’entrada -&gt; servei d’aplicació.</a:t>
            </a:r>
          </a:p>
          <a:p>
            <a:r>
              <a:rPr lang="ca-ES"/>
              <a:t>El servei coordina: portfolio, preu, domini.</a:t>
            </a:r>
          </a:p>
          <a:p>
            <a:r>
              <a:rPr lang="ca-ES"/>
              <a:t>El domini decideix la venda; l’adaptador integra.</a:t>
            </a:r>
          </a:p>
          <a:p>
            <a:r>
              <a:rPr lang="ca-ES"/>
              <a:t>Frase clau: servei coordina, domini decideix, adaptador integra.</a:t>
            </a:r>
          </a:p>
          <a:p>
            <a:r>
              <a:rPr lang="ca-ES"/>
              <a:t>Transició: tancament conceptual.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ca-ES"/>
              <a:t>Tancament: l’arquitectura no elimina el canvi; el localitza.</a:t>
            </a:r>
          </a:p>
          <a:p>
            <a:r>
              <a:rPr lang="ca-ES"/>
              <a:t>Quan canvia proveïdor o API, volem canviar l’adaptador.</a:t>
            </a:r>
          </a:p>
          <a:p>
            <a:r>
              <a:rPr lang="ca-ES"/>
              <a:t>No reescriure cas d’ús ni deformar domini.</a:t>
            </a:r>
          </a:p>
          <a:p>
            <a:r>
              <a:rPr lang="ca-ES"/>
              <a:t>Agrair TecnoCampus i Dr. Josep Roure.</a:t>
            </a:r>
          </a:p>
          <a:p>
            <a:r>
              <a:rPr lang="ca-ES"/>
              <a:t>Tancar mirant el tribunal: Moltes gràcies.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ca-ES"/>
              <a:t>Annex opcional: només si el tribunal ho demana o queda temps clar.</a:t>
            </a:r>
          </a:p>
          <a:p>
            <a:r>
              <a:rPr lang="ca-ES"/>
              <a:t>No forma part del cos principal de 20 minuts.</a:t>
            </a:r>
          </a:p>
          <a:p>
            <a:r>
              <a:rPr lang="ca-ES"/>
              <a:t>Missatge demo: mateix cas d’ús, servei i domini.</a:t>
            </a:r>
          </a:p>
          <a:p>
            <a:r>
              <a:rPr lang="ca-ES"/>
              <a:t>Canvia l’adaptador: Finnhub, Alpha Vantage o mock.</a:t>
            </a:r>
          </a:p>
          <a:p>
            <a:r>
              <a:rPr lang="ca-ES"/>
              <a:t>Objectiu docent: contracte estable, infraestructura substituïble.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7/5/26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7/5/26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7/5/26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7/5/26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7/5/26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7/5/26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6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logotip-oficial-tecnocampus-upf-horitzontal-colo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80078" y="293025"/>
            <a:ext cx="3041362" cy="575655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58368" y="1234440"/>
            <a:ext cx="9875520" cy="822960"/>
          </a:xfrm>
          <a:prstGeom prst="rect">
            <a:avLst/>
          </a:prstGeom>
          <a:noFill/>
        </p:spPr>
        <p:txBody>
          <a:bodyPr wrap="square">
            <a:normAutofit fontScale="92500" lnSpcReduction="20000"/>
          </a:bodyPr>
          <a:lstStyle/>
          <a:p>
            <a:pPr algn="l"/>
            <a:r>
              <a:rPr sz="3200" b="1">
                <a:solidFill>
                  <a:srgbClr val="192D3E"/>
                </a:solidFill>
                <a:latin typeface="Arial"/>
              </a:rPr>
              <a:t>Disseny de ports de sortida en arquitectura hexagonal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041517"/>
            <a:ext cx="9326880" cy="4114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lang="es-ES" sz="2100" dirty="0">
                <a:solidFill>
                  <a:srgbClr val="236092"/>
                </a:solidFill>
                <a:latin typeface="Arial"/>
              </a:rPr>
              <a:t>D</a:t>
            </a:r>
            <a:r>
              <a:rPr sz="2100" b="0" dirty="0" err="1">
                <a:solidFill>
                  <a:srgbClr val="236092"/>
                </a:solidFill>
                <a:latin typeface="Arial"/>
              </a:rPr>
              <a:t>esacoblament</a:t>
            </a:r>
            <a:r>
              <a:rPr sz="2100" b="0" dirty="0">
                <a:solidFill>
                  <a:srgbClr val="236092"/>
                </a:solidFill>
                <a:latin typeface="Arial"/>
              </a:rPr>
              <a:t> entre </a:t>
            </a:r>
            <a:r>
              <a:rPr sz="2100" b="0" dirty="0" err="1">
                <a:solidFill>
                  <a:srgbClr val="236092"/>
                </a:solidFill>
                <a:latin typeface="Arial"/>
              </a:rPr>
              <a:t>casos</a:t>
            </a:r>
            <a:r>
              <a:rPr sz="2100" b="0" dirty="0">
                <a:solidFill>
                  <a:srgbClr val="236092"/>
                </a:solidFill>
                <a:latin typeface="Arial"/>
              </a:rPr>
              <a:t> </a:t>
            </a:r>
            <a:r>
              <a:rPr sz="2100" b="0" dirty="0" err="1">
                <a:solidFill>
                  <a:srgbClr val="236092"/>
                </a:solidFill>
                <a:latin typeface="Arial"/>
              </a:rPr>
              <a:t>d'ús</a:t>
            </a:r>
            <a:r>
              <a:rPr sz="2100" b="0" dirty="0">
                <a:solidFill>
                  <a:srgbClr val="236092"/>
                </a:solidFill>
                <a:latin typeface="Arial"/>
              </a:rPr>
              <a:t>, domini </a:t>
            </a:r>
            <a:r>
              <a:rPr sz="2100" b="0" dirty="0" err="1">
                <a:solidFill>
                  <a:srgbClr val="236092"/>
                </a:solidFill>
                <a:latin typeface="Arial"/>
              </a:rPr>
              <a:t>i</a:t>
            </a:r>
            <a:r>
              <a:rPr sz="2100" b="0" dirty="0">
                <a:solidFill>
                  <a:srgbClr val="236092"/>
                </a:solidFill>
                <a:latin typeface="Arial"/>
              </a:rPr>
              <a:t> APIs externes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788920"/>
            <a:ext cx="9601200" cy="7315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800" b="0" dirty="0">
                <a:solidFill>
                  <a:srgbClr val="262626"/>
                </a:solidFill>
                <a:latin typeface="Arial"/>
              </a:rPr>
              <a:t>Una </a:t>
            </a:r>
            <a:r>
              <a:rPr sz="1800" b="0" dirty="0" err="1">
                <a:solidFill>
                  <a:srgbClr val="262626"/>
                </a:solidFill>
                <a:latin typeface="Arial"/>
              </a:rPr>
              <a:t>classe</a:t>
            </a:r>
            <a:r>
              <a:rPr sz="1800" b="0" dirty="0">
                <a:solidFill>
                  <a:srgbClr val="262626"/>
                </a:solidFill>
                <a:latin typeface="Arial"/>
              </a:rPr>
              <a:t> de </a:t>
            </a:r>
            <a:r>
              <a:rPr sz="1800" b="0" dirty="0" err="1">
                <a:solidFill>
                  <a:srgbClr val="262626"/>
                </a:solidFill>
                <a:latin typeface="Arial"/>
              </a:rPr>
              <a:t>Disseny</a:t>
            </a:r>
            <a:r>
              <a:rPr sz="1800" b="0" dirty="0">
                <a:solidFill>
                  <a:srgbClr val="262626"/>
                </a:solidFill>
                <a:latin typeface="Arial"/>
              </a:rPr>
              <a:t> de </a:t>
            </a:r>
            <a:r>
              <a:rPr sz="1800" b="0" dirty="0" err="1">
                <a:solidFill>
                  <a:srgbClr val="262626"/>
                </a:solidFill>
                <a:latin typeface="Arial"/>
              </a:rPr>
              <a:t>Sistemes</a:t>
            </a:r>
            <a:r>
              <a:rPr sz="1800" b="0" dirty="0">
                <a:solidFill>
                  <a:srgbClr val="262626"/>
                </a:solidFill>
                <a:latin typeface="Arial"/>
              </a:rPr>
              <a:t> </a:t>
            </a:r>
            <a:r>
              <a:rPr sz="1800" b="0" dirty="0" err="1">
                <a:solidFill>
                  <a:srgbClr val="262626"/>
                </a:solidFill>
                <a:latin typeface="Arial"/>
              </a:rPr>
              <a:t>d'Informació</a:t>
            </a:r>
            <a:r>
              <a:rPr sz="1800" b="0" dirty="0">
                <a:solidFill>
                  <a:srgbClr val="262626"/>
                </a:solidFill>
                <a:latin typeface="Arial"/>
              </a:rPr>
              <a:t> a </a:t>
            </a:r>
            <a:r>
              <a:rPr sz="1800" b="0" dirty="0" err="1">
                <a:solidFill>
                  <a:srgbClr val="262626"/>
                </a:solidFill>
                <a:latin typeface="Arial"/>
              </a:rPr>
              <a:t>partir</a:t>
            </a:r>
            <a:r>
              <a:rPr sz="1800" b="0" dirty="0">
                <a:solidFill>
                  <a:srgbClr val="262626"/>
                </a:solidFill>
                <a:latin typeface="Arial"/>
              </a:rPr>
              <a:t> d'un </a:t>
            </a:r>
            <a:r>
              <a:rPr sz="1800" b="0" dirty="0" err="1">
                <a:solidFill>
                  <a:srgbClr val="262626"/>
                </a:solidFill>
                <a:latin typeface="Arial"/>
              </a:rPr>
              <a:t>cas</a:t>
            </a:r>
            <a:r>
              <a:rPr sz="1800" b="0" dirty="0">
                <a:solidFill>
                  <a:srgbClr val="262626"/>
                </a:solidFill>
                <a:latin typeface="Arial"/>
              </a:rPr>
              <a:t> real de </a:t>
            </a:r>
            <a:r>
              <a:rPr lang="es-ES" dirty="0">
                <a:solidFill>
                  <a:srgbClr val="262626"/>
                </a:solidFill>
                <a:latin typeface="Arial"/>
              </a:rPr>
              <a:t>la Generalitat de Catalunya</a:t>
            </a:r>
          </a:p>
          <a:p>
            <a:pPr algn="l"/>
            <a:endParaRPr sz="1800" b="0" dirty="0">
              <a:solidFill>
                <a:srgbClr val="262626"/>
              </a:solidFill>
              <a:latin typeface="Arial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685800" y="4663440"/>
            <a:ext cx="6858000" cy="7772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500" b="0">
                <a:solidFill>
                  <a:srgbClr val="66707A"/>
                </a:solidFill>
                <a:latin typeface="Arial"/>
              </a:rPr>
              <a:t>Alfredo Rueda Unsain
Defensa de plaça de professorat permanent
TecnoCampus · classe magistral reduïda, 20 minuts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6473952"/>
            <a:ext cx="859536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800" b="0">
                <a:solidFill>
                  <a:srgbClr val="66707A"/>
                </a:solidFill>
                <a:latin typeface="Arial"/>
              </a:rPr>
              <a:t>Disseny de Sistemes d'Informació · Ports de sortida en arquitectura hexagonal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473952"/>
            <a:ext cx="41148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r"/>
            <a:r>
              <a:rPr sz="800" b="0">
                <a:solidFill>
                  <a:srgbClr val="66707A"/>
                </a:solidFill>
                <a:latin typeface="Arial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8961120" cy="50292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2800" b="1">
                <a:solidFill>
                  <a:srgbClr val="192D3E"/>
                </a:solidFill>
                <a:latin typeface="Arial"/>
              </a:rPr>
              <a:t>On som dins l'assignatura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822960"/>
            <a:ext cx="886968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300" b="0">
                <a:solidFill>
                  <a:srgbClr val="66707A"/>
                </a:solidFill>
                <a:latin typeface="Arial"/>
              </a:rPr>
              <a:t>Disseny de Sistemes d'Informació</a:t>
            </a:r>
          </a:p>
        </p:txBody>
      </p:sp>
      <p:pic>
        <p:nvPicPr>
          <p:cNvPr id="4" name="Picture 3" descr="logotip-oficial-tecnocampus-upf-horitzontal-colo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80078" y="293025"/>
            <a:ext cx="3041362" cy="575655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94360" y="1115568"/>
            <a:ext cx="10972800" cy="13716"/>
          </a:xfrm>
          <a:prstGeom prst="rect">
            <a:avLst/>
          </a:prstGeom>
          <a:solidFill>
            <a:srgbClr val="D6DB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22960" y="1508760"/>
            <a:ext cx="3749039" cy="914400"/>
          </a:xfrm>
          <a:prstGeom prst="rect">
            <a:avLst/>
          </a:prstGeom>
          <a:noFill/>
        </p:spPr>
        <p:txBody>
          <a:bodyPr wrap="square">
            <a:normAutofit fontScale="77500" lnSpcReduction="20000"/>
          </a:bodyPr>
          <a:lstStyle/>
          <a:p>
            <a:pPr algn="ctr"/>
            <a:r>
              <a:rPr sz="2800" b="1">
                <a:solidFill>
                  <a:srgbClr val="192D3E"/>
                </a:solidFill>
                <a:latin typeface="Arial"/>
              </a:rPr>
              <a:t>Disseny de Sistemes d'Informació
3r curs · 6 ECTS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00600" y="1508760"/>
            <a:ext cx="45720" cy="3200400"/>
          </a:xfrm>
          <a:prstGeom prst="roundRect">
            <a:avLst/>
          </a:prstGeom>
          <a:solidFill>
            <a:srgbClr val="236092"/>
          </a:solidFill>
          <a:ln w="9525">
            <a:solidFill>
              <a:srgbClr val="23609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166360" y="1508760"/>
            <a:ext cx="5394960" cy="10515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3000" b="1" dirty="0">
                <a:solidFill>
                  <a:srgbClr val="192D3E"/>
                </a:solidFill>
                <a:latin typeface="Arial"/>
              </a:rPr>
              <a:t>Ports de </a:t>
            </a:r>
            <a:r>
              <a:rPr sz="3000" b="1" dirty="0" err="1">
                <a:solidFill>
                  <a:srgbClr val="192D3E"/>
                </a:solidFill>
                <a:latin typeface="Arial"/>
              </a:rPr>
              <a:t>sortida</a:t>
            </a:r>
            <a:r>
              <a:rPr sz="3000" b="1" dirty="0">
                <a:solidFill>
                  <a:srgbClr val="192D3E"/>
                </a:solidFill>
                <a:latin typeface="Arial"/>
              </a:rPr>
              <a:t>
</a:t>
            </a:r>
            <a:r>
              <a:rPr sz="3000" b="1" dirty="0" err="1">
                <a:solidFill>
                  <a:srgbClr val="192D3E"/>
                </a:solidFill>
                <a:latin typeface="Arial"/>
              </a:rPr>
              <a:t>en</a:t>
            </a:r>
            <a:r>
              <a:rPr sz="3000" b="1" dirty="0">
                <a:solidFill>
                  <a:srgbClr val="192D3E"/>
                </a:solidFill>
                <a:latin typeface="Arial"/>
              </a:rPr>
              <a:t> </a:t>
            </a:r>
            <a:r>
              <a:rPr lang="es-ES" sz="3000" b="1" dirty="0">
                <a:solidFill>
                  <a:srgbClr val="192D3E"/>
                </a:solidFill>
                <a:latin typeface="Arial"/>
              </a:rPr>
              <a:t>A</a:t>
            </a:r>
            <a:r>
              <a:rPr sz="3000" b="1" dirty="0" err="1">
                <a:solidFill>
                  <a:srgbClr val="192D3E"/>
                </a:solidFill>
                <a:latin typeface="Arial"/>
              </a:rPr>
              <a:t>rquitectura</a:t>
            </a:r>
            <a:r>
              <a:rPr sz="3000" b="1" dirty="0">
                <a:solidFill>
                  <a:srgbClr val="192D3E"/>
                </a:solidFill>
                <a:latin typeface="Arial"/>
              </a:rPr>
              <a:t> </a:t>
            </a:r>
            <a:r>
              <a:rPr lang="es-ES" sz="3000" b="1" dirty="0">
                <a:solidFill>
                  <a:srgbClr val="192D3E"/>
                </a:solidFill>
                <a:latin typeface="Arial"/>
              </a:rPr>
              <a:t>H</a:t>
            </a:r>
            <a:r>
              <a:rPr sz="3000" b="1" dirty="0" err="1">
                <a:solidFill>
                  <a:srgbClr val="192D3E"/>
                </a:solidFill>
                <a:latin typeface="Arial"/>
              </a:rPr>
              <a:t>exagonal</a:t>
            </a:r>
            <a:endParaRPr sz="3000" b="1" dirty="0">
              <a:solidFill>
                <a:srgbClr val="192D3E"/>
              </a:solidFill>
              <a:latin typeface="Arial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5394960" y="2971800"/>
            <a:ext cx="4983480" cy="1143000"/>
          </a:xfrm>
          <a:prstGeom prst="rect">
            <a:avLst/>
          </a:prstGeom>
          <a:noFill/>
        </p:spPr>
        <p:txBody>
          <a:bodyPr wrap="square">
            <a:normAutofit fontScale="70000" lnSpcReduction="20000"/>
          </a:bodyPr>
          <a:lstStyle/>
          <a:p>
            <a:pPr algn="ctr"/>
            <a:r>
              <a:rPr sz="2200" b="0" dirty="0">
                <a:solidFill>
                  <a:srgbClr val="262626"/>
                </a:solidFill>
                <a:latin typeface="Arial"/>
              </a:rPr>
              <a:t>
</a:t>
            </a:r>
            <a:r>
              <a:rPr lang="es-ES" sz="2200" b="0" dirty="0">
                <a:solidFill>
                  <a:srgbClr val="262626"/>
                </a:solidFill>
                <a:latin typeface="Arial"/>
              </a:rPr>
              <a:t> La </a:t>
            </a:r>
            <a:r>
              <a:rPr lang="es-ES" sz="2200" b="0" dirty="0" err="1">
                <a:solidFill>
                  <a:srgbClr val="262626"/>
                </a:solidFill>
                <a:latin typeface="Arial"/>
              </a:rPr>
              <a:t>sessió</a:t>
            </a:r>
            <a:r>
              <a:rPr lang="es-ES" sz="2200" b="0" dirty="0">
                <a:solidFill>
                  <a:srgbClr val="262626"/>
                </a:solidFill>
                <a:latin typeface="Arial"/>
              </a:rPr>
              <a:t> se centra en el </a:t>
            </a:r>
            <a:r>
              <a:rPr lang="es-ES" sz="2200" b="0" dirty="0" err="1">
                <a:solidFill>
                  <a:srgbClr val="262626"/>
                </a:solidFill>
                <a:latin typeface="Arial"/>
              </a:rPr>
              <a:t>disseny</a:t>
            </a:r>
            <a:r>
              <a:rPr lang="es-ES" sz="2200" b="0" dirty="0">
                <a:solidFill>
                  <a:srgbClr val="262626"/>
                </a:solidFill>
                <a:latin typeface="Arial"/>
              </a:rPr>
              <a:t> de </a:t>
            </a:r>
            <a:r>
              <a:rPr lang="es-ES" sz="2200" b="0" dirty="0" err="1">
                <a:solidFill>
                  <a:srgbClr val="262626"/>
                </a:solidFill>
                <a:latin typeface="Arial"/>
              </a:rPr>
              <a:t>ports</a:t>
            </a:r>
            <a:r>
              <a:rPr lang="es-ES" sz="2200" b="0" dirty="0">
                <a:solidFill>
                  <a:srgbClr val="262626"/>
                </a:solidFill>
                <a:latin typeface="Arial"/>
              </a:rPr>
              <a:t> de </a:t>
            </a:r>
            <a:r>
              <a:rPr lang="es-ES" sz="2200" b="0" dirty="0" err="1">
                <a:solidFill>
                  <a:srgbClr val="262626"/>
                </a:solidFill>
                <a:latin typeface="Arial"/>
              </a:rPr>
              <a:t>sortida</a:t>
            </a:r>
            <a:r>
              <a:rPr lang="es-ES" sz="2200" b="0" dirty="0">
                <a:solidFill>
                  <a:srgbClr val="262626"/>
                </a:solidFill>
                <a:latin typeface="Arial"/>
              </a:rPr>
              <a:t> </a:t>
            </a:r>
            <a:r>
              <a:rPr lang="es-ES" sz="2200" b="0" dirty="0" err="1">
                <a:solidFill>
                  <a:srgbClr val="262626"/>
                </a:solidFill>
                <a:latin typeface="Arial"/>
              </a:rPr>
              <a:t>com</a:t>
            </a:r>
            <a:r>
              <a:rPr lang="es-ES" sz="2200" b="0" dirty="0">
                <a:solidFill>
                  <a:srgbClr val="262626"/>
                </a:solidFill>
                <a:latin typeface="Arial"/>
              </a:rPr>
              <a:t> a </a:t>
            </a:r>
            <a:r>
              <a:rPr lang="es-ES" sz="2200" b="0" dirty="0" err="1">
                <a:solidFill>
                  <a:srgbClr val="262626"/>
                </a:solidFill>
                <a:latin typeface="Arial"/>
              </a:rPr>
              <a:t>mecanisme</a:t>
            </a:r>
            <a:r>
              <a:rPr lang="es-ES" sz="2200" b="0" dirty="0">
                <a:solidFill>
                  <a:srgbClr val="262626"/>
                </a:solidFill>
                <a:latin typeface="Arial"/>
              </a:rPr>
              <a:t> per separar les </a:t>
            </a:r>
            <a:r>
              <a:rPr lang="es-ES" sz="2200" b="0" dirty="0" err="1">
                <a:solidFill>
                  <a:srgbClr val="262626"/>
                </a:solidFill>
                <a:latin typeface="Arial"/>
              </a:rPr>
              <a:t>necessitats</a:t>
            </a:r>
            <a:r>
              <a:rPr lang="es-ES" sz="2200" b="0" dirty="0">
                <a:solidFill>
                  <a:srgbClr val="262626"/>
                </a:solidFill>
                <a:latin typeface="Arial"/>
              </a:rPr>
              <a:t> del cas </a:t>
            </a:r>
            <a:r>
              <a:rPr lang="es-ES" sz="2200" b="0" dirty="0" err="1">
                <a:solidFill>
                  <a:srgbClr val="262626"/>
                </a:solidFill>
                <a:latin typeface="Arial"/>
              </a:rPr>
              <a:t>d’ús</a:t>
            </a:r>
            <a:r>
              <a:rPr lang="es-ES" sz="2200" b="0" dirty="0">
                <a:solidFill>
                  <a:srgbClr val="262626"/>
                </a:solidFill>
                <a:latin typeface="Arial"/>
              </a:rPr>
              <a:t> </a:t>
            </a:r>
            <a:r>
              <a:rPr lang="es-ES" sz="2200" b="0" dirty="0" err="1">
                <a:solidFill>
                  <a:srgbClr val="262626"/>
                </a:solidFill>
                <a:latin typeface="Arial"/>
              </a:rPr>
              <a:t>dels</a:t>
            </a:r>
            <a:r>
              <a:rPr lang="es-ES" sz="2200" b="0" dirty="0">
                <a:solidFill>
                  <a:srgbClr val="262626"/>
                </a:solidFill>
                <a:latin typeface="Arial"/>
              </a:rPr>
              <a:t> </a:t>
            </a:r>
            <a:r>
              <a:rPr lang="es-ES" sz="2200" b="0" dirty="0" err="1">
                <a:solidFill>
                  <a:srgbClr val="262626"/>
                </a:solidFill>
                <a:latin typeface="Arial"/>
              </a:rPr>
              <a:t>detalls</a:t>
            </a:r>
            <a:r>
              <a:rPr lang="es-ES" sz="2200" b="0" dirty="0">
                <a:solidFill>
                  <a:srgbClr val="262626"/>
                </a:solidFill>
                <a:latin typeface="Arial"/>
              </a:rPr>
              <a:t> </a:t>
            </a:r>
            <a:r>
              <a:rPr lang="es-ES" sz="2200" b="0" dirty="0" err="1">
                <a:solidFill>
                  <a:srgbClr val="262626"/>
                </a:solidFill>
                <a:latin typeface="Arial"/>
              </a:rPr>
              <a:t>tècnics</a:t>
            </a:r>
            <a:r>
              <a:rPr lang="es-ES" sz="2200" b="0" dirty="0">
                <a:solidFill>
                  <a:srgbClr val="262626"/>
                </a:solidFill>
                <a:latin typeface="Arial"/>
              </a:rPr>
              <a:t> de les </a:t>
            </a:r>
            <a:r>
              <a:rPr lang="es-ES" sz="2200" b="0" dirty="0" err="1">
                <a:solidFill>
                  <a:srgbClr val="262626"/>
                </a:solidFill>
                <a:latin typeface="Arial"/>
              </a:rPr>
              <a:t>integracions</a:t>
            </a:r>
            <a:r>
              <a:rPr lang="es-ES" sz="2200" b="0" dirty="0">
                <a:solidFill>
                  <a:srgbClr val="262626"/>
                </a:solidFill>
                <a:latin typeface="Arial"/>
              </a:rPr>
              <a:t> externes.</a:t>
            </a:r>
            <a:endParaRPr sz="2200" b="0" dirty="0">
              <a:solidFill>
                <a:srgbClr val="262626"/>
              </a:solidFill>
              <a:latin typeface="Arial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960120" y="5669280"/>
            <a:ext cx="987552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300" b="0">
                <a:solidFill>
                  <a:srgbClr val="66707A"/>
                </a:solidFill>
                <a:latin typeface="Arial"/>
              </a:rPr>
              <a:t>Pla docent 103322: clean/hexagonal architecture, ports i adaptadors, mapping, mòduls i DDD.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6473952"/>
            <a:ext cx="859536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800" b="0">
                <a:solidFill>
                  <a:srgbClr val="66707A"/>
                </a:solidFill>
                <a:latin typeface="Arial"/>
              </a:rPr>
              <a:t>Disseny de Sistemes d'Informació · Ports de sortida en arquitectura hexagonal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0" y="6473952"/>
            <a:ext cx="41148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r"/>
            <a:r>
              <a:rPr sz="800" b="0">
                <a:solidFill>
                  <a:srgbClr val="66707A"/>
                </a:solidFill>
                <a:latin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787A17-E989-2125-8BF4-9FD64C66B0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113BE6D-4BF0-DC81-2CE8-23039C4C9D58}"/>
              </a:ext>
            </a:extLst>
          </p:cNvPr>
          <p:cNvSpPr txBox="1"/>
          <p:nvPr/>
        </p:nvSpPr>
        <p:spPr>
          <a:xfrm>
            <a:off x="594360" y="320040"/>
            <a:ext cx="8961120" cy="50292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2800" b="1" dirty="0" err="1">
                <a:solidFill>
                  <a:srgbClr val="192D3E"/>
                </a:solidFill>
                <a:latin typeface="Arial"/>
              </a:rPr>
              <a:t>Objectiu de la sessió</a:t>
            </a:r>
            <a:endParaRPr sz="2800" b="1" dirty="0">
              <a:solidFill>
                <a:srgbClr val="192D3E"/>
              </a:solidFill>
              <a:latin typeface="Arial"/>
            </a:endParaRPr>
          </a:p>
        </p:txBody>
      </p:sp>
      <p:pic>
        <p:nvPicPr>
          <p:cNvPr id="3" name="Picture 2" descr="logotip-oficial-tecnocampus-upf-horitzontal-color.png">
            <a:extLst>
              <a:ext uri="{FF2B5EF4-FFF2-40B4-BE49-F238E27FC236}">
                <a16:creationId xmlns:a16="http://schemas.microsoft.com/office/drawing/2014/main" id="{6E5AEF9E-E38C-2981-74C2-DA381C85519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80078" y="293025"/>
            <a:ext cx="3041362" cy="575655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565CC16B-626E-E880-45E7-0DBECBCD6306}"/>
              </a:ext>
            </a:extLst>
          </p:cNvPr>
          <p:cNvSpPr/>
          <p:nvPr/>
        </p:nvSpPr>
        <p:spPr>
          <a:xfrm>
            <a:off x="594360" y="1115568"/>
            <a:ext cx="10972800" cy="13716"/>
          </a:xfrm>
          <a:prstGeom prst="rect">
            <a:avLst/>
          </a:prstGeom>
          <a:solidFill>
            <a:srgbClr val="D6DB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5442AE4-020C-7BAB-E612-2262DEB4097A}"/>
              </a:ext>
            </a:extLst>
          </p:cNvPr>
          <p:cNvSpPr txBox="1"/>
          <p:nvPr/>
        </p:nvSpPr>
        <p:spPr>
          <a:xfrm>
            <a:off x="960121" y="1417318"/>
            <a:ext cx="10062106" cy="2011681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2400" b="1" dirty="0">
                <a:solidFill>
                  <a:srgbClr val="192D3E"/>
                </a:solidFill>
                <a:latin typeface="Arial"/>
              </a:rPr>
              <a:t>Principi de treball: el cas d’ús necessita una capacitat, no </a:t>
            </a:r>
            <a:r>
              <a:rPr sz="2400" b="1" dirty="0" err="1">
                <a:solidFill>
                  <a:srgbClr val="192D3E"/>
                </a:solidFill>
                <a:latin typeface="Arial"/>
              </a:rPr>
              <a:t>una</a:t>
            </a:r>
            <a:r>
              <a:rPr sz="2400" b="1" dirty="0">
                <a:solidFill>
                  <a:srgbClr val="192D3E"/>
                </a:solidFill>
                <a:latin typeface="Arial"/>
              </a:rPr>
              <a:t> </a:t>
            </a:r>
            <a:r>
              <a:rPr sz="2400" b="1" dirty="0" err="1">
                <a:solidFill>
                  <a:srgbClr val="192D3E"/>
                </a:solidFill>
                <a:latin typeface="Arial"/>
              </a:rPr>
              <a:t>tecnologia</a:t>
            </a:r>
            <a:r>
              <a:rPr lang="es-ES" sz="2400" b="1" dirty="0">
                <a:solidFill>
                  <a:srgbClr val="192D3E"/>
                </a:solidFill>
                <a:latin typeface="Arial"/>
              </a:rPr>
              <a:t> específica</a:t>
            </a:r>
            <a:r>
              <a:rPr sz="2400" b="1" dirty="0">
                <a:solidFill>
                  <a:srgbClr val="192D3E"/>
                </a:solidFill>
                <a:latin typeface="Arial"/>
              </a:rPr>
              <a:t>.</a:t>
            </a:r>
            <a:br>
              <a:rPr lang="es-ES" sz="2400" b="1" dirty="0">
                <a:solidFill>
                  <a:srgbClr val="192D3E"/>
                </a:solidFill>
                <a:latin typeface="Arial"/>
              </a:rPr>
            </a:br>
            <a:r>
              <a:rPr sz="2400" b="1" dirty="0">
                <a:solidFill>
                  <a:srgbClr val="192D3E"/>
                </a:solidFill>
                <a:latin typeface="Arial"/>
              </a:rPr>
              <a:t>
Ho explorarem a partir d’un cas real d’administració pública.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064EE3A6-5D0D-EFE6-3907-91BB6540F213}"/>
              </a:ext>
            </a:extLst>
          </p:cNvPr>
          <p:cNvSpPr/>
          <p:nvPr/>
        </p:nvSpPr>
        <p:spPr>
          <a:xfrm>
            <a:off x="813816" y="3786975"/>
            <a:ext cx="3246120" cy="1600200"/>
          </a:xfrm>
          <a:prstGeom prst="roundRect">
            <a:avLst/>
          </a:prstGeom>
          <a:solidFill>
            <a:srgbClr val="F8EAEA"/>
          </a:solidFill>
          <a:ln w="9525">
            <a:solidFill>
              <a:srgbClr val="DCE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0F1223D-ADAB-E817-C2A8-78FB596BC6F8}"/>
              </a:ext>
            </a:extLst>
          </p:cNvPr>
          <p:cNvSpPr txBox="1"/>
          <p:nvPr/>
        </p:nvSpPr>
        <p:spPr>
          <a:xfrm>
            <a:off x="1014983" y="4107015"/>
            <a:ext cx="2846123" cy="9771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2400" b="1" dirty="0" err="1">
                <a:solidFill>
                  <a:srgbClr val="192D3E"/>
                </a:solidFill>
                <a:latin typeface="Arial"/>
              </a:rPr>
              <a:t>Identificar
necessitat</a:t>
            </a:r>
            <a:endParaRPr lang="es-ES" sz="2400" b="1" dirty="0">
              <a:solidFill>
                <a:srgbClr val="192D3E"/>
              </a:solidFill>
              <a:latin typeface="Arial"/>
            </a:endParaRPr>
          </a:p>
          <a:p>
            <a:pPr algn="ctr"/>
            <a:endParaRPr sz="2400" b="1" dirty="0">
              <a:solidFill>
                <a:srgbClr val="192D3E"/>
              </a:solidFill>
              <a:latin typeface="Arial"/>
            </a:endParaRP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460CDC97-EADA-2158-DAC3-FD27FD257839}"/>
              </a:ext>
            </a:extLst>
          </p:cNvPr>
          <p:cNvSpPr/>
          <p:nvPr/>
        </p:nvSpPr>
        <p:spPr>
          <a:xfrm>
            <a:off x="4544568" y="3786975"/>
            <a:ext cx="3246120" cy="1600200"/>
          </a:xfrm>
          <a:prstGeom prst="roundRect">
            <a:avLst/>
          </a:prstGeom>
          <a:solidFill>
            <a:srgbClr val="FFF3D6"/>
          </a:solidFill>
          <a:ln w="9525">
            <a:solidFill>
              <a:srgbClr val="DCE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7DA438C-C49C-5E46-6F61-14F3896E8657}"/>
              </a:ext>
            </a:extLst>
          </p:cNvPr>
          <p:cNvSpPr txBox="1"/>
          <p:nvPr/>
        </p:nvSpPr>
        <p:spPr>
          <a:xfrm>
            <a:off x="4745736" y="4107015"/>
            <a:ext cx="2834640" cy="77724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ctr"/>
            <a:r>
              <a:rPr sz="2400" b="1" dirty="0" err="1">
                <a:solidFill>
                  <a:srgbClr val="192D3E"/>
                </a:solidFill>
                <a:latin typeface="Arial"/>
              </a:rPr>
              <a:t>Definir
port de sortida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54F82A2A-9916-E9F8-2F4C-A47E7CF470BE}"/>
              </a:ext>
            </a:extLst>
          </p:cNvPr>
          <p:cNvSpPr/>
          <p:nvPr/>
        </p:nvSpPr>
        <p:spPr>
          <a:xfrm>
            <a:off x="8275320" y="3786975"/>
            <a:ext cx="3246120" cy="1600200"/>
          </a:xfrm>
          <a:prstGeom prst="roundRect">
            <a:avLst/>
          </a:prstGeom>
          <a:solidFill>
            <a:srgbClr val="EBF6F0"/>
          </a:solidFill>
          <a:ln w="9525">
            <a:solidFill>
              <a:srgbClr val="DCE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6C32489-28BB-E0B4-6D88-054802179775}"/>
              </a:ext>
            </a:extLst>
          </p:cNvPr>
          <p:cNvSpPr txBox="1"/>
          <p:nvPr/>
        </p:nvSpPr>
        <p:spPr>
          <a:xfrm>
            <a:off x="8476488" y="4107015"/>
            <a:ext cx="2834640" cy="77724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ctr"/>
            <a:r>
              <a:rPr lang="es-ES" sz="2400" b="1" dirty="0">
                <a:solidFill>
                  <a:srgbClr val="192D3E"/>
                </a:solidFill>
                <a:latin typeface="Arial"/>
              </a:rPr>
              <a:t>Implementar
adaptador(s)</a:t>
            </a:r>
            <a:endParaRPr sz="2400" b="1" dirty="0">
              <a:solidFill>
                <a:srgbClr val="192D3E"/>
              </a:solidFill>
              <a:latin typeface="Arial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298AC41-2EA2-3BF1-14F5-5DF9647D4D84}"/>
              </a:ext>
            </a:extLst>
          </p:cNvPr>
          <p:cNvSpPr txBox="1"/>
          <p:nvPr/>
        </p:nvSpPr>
        <p:spPr>
          <a:xfrm>
            <a:off x="594360" y="6473952"/>
            <a:ext cx="859536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800" b="0">
                <a:solidFill>
                  <a:srgbClr val="66707A"/>
                </a:solidFill>
                <a:latin typeface="Arial"/>
              </a:rPr>
              <a:t>Disseny de Sistemes d'Informació · Ports de sortida en arquitectura hexagonal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8D08D29-A0AD-1C10-91EF-4939D83B6478}"/>
              </a:ext>
            </a:extLst>
          </p:cNvPr>
          <p:cNvSpPr txBox="1"/>
          <p:nvPr/>
        </p:nvSpPr>
        <p:spPr>
          <a:xfrm>
            <a:off x="11155680" y="6473952"/>
            <a:ext cx="41148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r"/>
            <a:r>
              <a:rPr sz="800" b="0">
                <a:solidFill>
                  <a:srgbClr val="66707A"/>
                </a:solidFill>
                <a:latin typeface="Arial"/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102650712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8961120" cy="50292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2800" b="1">
                <a:solidFill>
                  <a:srgbClr val="192D3E"/>
                </a:solidFill>
                <a:latin typeface="Arial"/>
              </a:rPr>
              <a:t>Avaluació econòmica d'una beca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822960"/>
            <a:ext cx="886968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300" b="0" dirty="0" err="1">
                <a:solidFill>
                  <a:srgbClr val="66707A"/>
                </a:solidFill>
                <a:latin typeface="Arial"/>
              </a:rPr>
              <a:t>Abans</a:t>
            </a:r>
            <a:r>
              <a:rPr sz="1300" b="0" dirty="0">
                <a:solidFill>
                  <a:srgbClr val="66707A"/>
                </a:solidFill>
                <a:latin typeface="Arial"/>
              </a:rPr>
              <a:t> de </a:t>
            </a:r>
            <a:r>
              <a:rPr sz="1300" b="0" dirty="0" err="1">
                <a:solidFill>
                  <a:srgbClr val="66707A"/>
                </a:solidFill>
                <a:latin typeface="Arial"/>
              </a:rPr>
              <a:t>parlar</a:t>
            </a:r>
            <a:r>
              <a:rPr sz="1300" b="0" dirty="0">
                <a:solidFill>
                  <a:srgbClr val="66707A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66707A"/>
                </a:solidFill>
                <a:latin typeface="Arial"/>
              </a:rPr>
              <a:t>d'arquitectura</a:t>
            </a:r>
            <a:r>
              <a:rPr lang="es-ES" sz="1300" b="0" dirty="0">
                <a:solidFill>
                  <a:srgbClr val="66707A"/>
                </a:solidFill>
                <a:latin typeface="Arial"/>
              </a:rPr>
              <a:t> de software</a:t>
            </a:r>
            <a:r>
              <a:rPr sz="1300" b="0" dirty="0">
                <a:solidFill>
                  <a:srgbClr val="66707A"/>
                </a:solidFill>
                <a:latin typeface="Arial"/>
              </a:rPr>
              <a:t>, </a:t>
            </a:r>
            <a:r>
              <a:rPr sz="1300" b="0" dirty="0" err="1">
                <a:solidFill>
                  <a:srgbClr val="66707A"/>
                </a:solidFill>
                <a:latin typeface="Arial"/>
              </a:rPr>
              <a:t>cal</a:t>
            </a:r>
            <a:r>
              <a:rPr sz="1300" b="0" dirty="0">
                <a:solidFill>
                  <a:srgbClr val="66707A"/>
                </a:solidFill>
                <a:latin typeface="Arial"/>
              </a:rPr>
              <a:t> entendre </a:t>
            </a:r>
            <a:r>
              <a:rPr sz="1300" b="0" dirty="0" err="1">
                <a:solidFill>
                  <a:srgbClr val="66707A"/>
                </a:solidFill>
                <a:latin typeface="Arial"/>
              </a:rPr>
              <a:t>el</a:t>
            </a:r>
            <a:r>
              <a:rPr sz="1300" b="0" dirty="0">
                <a:solidFill>
                  <a:srgbClr val="66707A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66707A"/>
                </a:solidFill>
                <a:latin typeface="Arial"/>
              </a:rPr>
              <a:t>procediment</a:t>
            </a:r>
            <a:r>
              <a:rPr lang="es-ES" sz="1300" b="0" dirty="0">
                <a:solidFill>
                  <a:srgbClr val="66707A"/>
                </a:solidFill>
                <a:latin typeface="Arial"/>
              </a:rPr>
              <a:t> </a:t>
            </a:r>
            <a:r>
              <a:rPr lang="es-ES" sz="1300" b="0" dirty="0" err="1">
                <a:solidFill>
                  <a:srgbClr val="66707A"/>
                </a:solidFill>
                <a:latin typeface="Arial"/>
              </a:rPr>
              <a:t>administratiu</a:t>
            </a:r>
            <a:r>
              <a:rPr lang="es-ES" sz="1300" b="0" dirty="0">
                <a:solidFill>
                  <a:srgbClr val="66707A"/>
                </a:solidFill>
                <a:latin typeface="Arial"/>
              </a:rPr>
              <a:t>. </a:t>
            </a:r>
            <a:endParaRPr sz="1300" b="0" dirty="0">
              <a:solidFill>
                <a:srgbClr val="66707A"/>
              </a:solidFill>
              <a:latin typeface="Arial"/>
            </a:endParaRPr>
          </a:p>
        </p:txBody>
      </p:sp>
      <p:pic>
        <p:nvPicPr>
          <p:cNvPr id="4" name="Picture 3" descr="logotip-oficial-tecnocampus-upf-horitzontal-colo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80078" y="293025"/>
            <a:ext cx="3041362" cy="575655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94360" y="1115568"/>
            <a:ext cx="10972800" cy="13716"/>
          </a:xfrm>
          <a:prstGeom prst="rect">
            <a:avLst/>
          </a:prstGeom>
          <a:solidFill>
            <a:srgbClr val="D6DB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agaur-functional-scholarshi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85147" y="1234440"/>
            <a:ext cx="3950745" cy="47548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01000" y="1691640"/>
            <a:ext cx="3063240" cy="1234440"/>
          </a:xfrm>
          <a:prstGeom prst="rect">
            <a:avLst/>
          </a:prstGeom>
          <a:noFill/>
        </p:spPr>
        <p:txBody>
          <a:bodyPr wrap="square">
            <a:normAutofit fontScale="92500" lnSpcReduction="20000"/>
          </a:bodyPr>
          <a:lstStyle/>
          <a:p>
            <a:pPr algn="ctr"/>
            <a:r>
              <a:rPr sz="1800" b="1" dirty="0" err="1">
                <a:solidFill>
                  <a:srgbClr val="192D3E"/>
                </a:solidFill>
                <a:latin typeface="Arial"/>
              </a:rPr>
              <a:t>Sol·licitud</a:t>
            </a:r>
            <a:r>
              <a:rPr sz="1800" b="1" dirty="0">
                <a:solidFill>
                  <a:srgbClr val="192D3E"/>
                </a:solidFill>
                <a:latin typeface="Arial"/>
              </a:rPr>
              <a:t> → Expedient → </a:t>
            </a:r>
            <a:r>
              <a:rPr sz="1800" b="1" dirty="0" err="1">
                <a:solidFill>
                  <a:srgbClr val="192D3E"/>
                </a:solidFill>
                <a:latin typeface="Arial"/>
              </a:rPr>
              <a:t>Requisits</a:t>
            </a:r>
            <a:r>
              <a:rPr sz="1800" b="1" dirty="0">
                <a:solidFill>
                  <a:srgbClr val="192D3E"/>
                </a:solidFill>
                <a:latin typeface="Arial"/>
              </a:rPr>
              <a:t> generals
→ </a:t>
            </a:r>
            <a:r>
              <a:rPr sz="1800" b="1" dirty="0" err="1">
                <a:solidFill>
                  <a:srgbClr val="192D3E"/>
                </a:solidFill>
                <a:latin typeface="Arial"/>
              </a:rPr>
              <a:t>Requisits</a:t>
            </a:r>
            <a:r>
              <a:rPr sz="1800" b="1" dirty="0">
                <a:solidFill>
                  <a:srgbClr val="192D3E"/>
                </a:solidFill>
                <a:latin typeface="Arial"/>
              </a:rPr>
              <a:t> </a:t>
            </a:r>
            <a:r>
              <a:rPr sz="1800" b="1" dirty="0" err="1">
                <a:solidFill>
                  <a:srgbClr val="192D3E"/>
                </a:solidFill>
                <a:latin typeface="Arial"/>
              </a:rPr>
              <a:t>econòmics</a:t>
            </a:r>
            <a:r>
              <a:rPr sz="1800" b="1" dirty="0">
                <a:solidFill>
                  <a:srgbClr val="192D3E"/>
                </a:solidFill>
                <a:latin typeface="Arial"/>
              </a:rPr>
              <a:t> → </a:t>
            </a:r>
            <a:r>
              <a:rPr sz="1800" b="1" dirty="0" err="1">
                <a:solidFill>
                  <a:srgbClr val="192D3E"/>
                </a:solidFill>
                <a:latin typeface="Arial"/>
              </a:rPr>
              <a:t>Revisió</a:t>
            </a:r>
            <a:r>
              <a:rPr sz="1800" b="1" dirty="0">
                <a:solidFill>
                  <a:srgbClr val="192D3E"/>
                </a:solidFill>
                <a:latin typeface="Arial"/>
              </a:rPr>
              <a:t> </a:t>
            </a:r>
            <a:r>
              <a:rPr sz="1800" b="1" dirty="0" err="1">
                <a:solidFill>
                  <a:srgbClr val="192D3E"/>
                </a:solidFill>
                <a:latin typeface="Arial"/>
              </a:rPr>
              <a:t>acadèmica</a:t>
            </a:r>
            <a:r>
              <a:rPr sz="1800" b="1">
                <a:solidFill>
                  <a:srgbClr val="192D3E"/>
                </a:solidFill>
                <a:latin typeface="Arial"/>
              </a:rPr>
              <a:t>
→ </a:t>
            </a:r>
            <a:r>
              <a:rPr sz="1800" b="1" dirty="0" err="1">
                <a:solidFill>
                  <a:srgbClr val="192D3E"/>
                </a:solidFill>
                <a:latin typeface="Arial"/>
              </a:rPr>
              <a:t>Resolució</a:t>
            </a:r>
            <a:endParaRPr sz="1800" b="1" dirty="0">
              <a:solidFill>
                <a:srgbClr val="192D3E"/>
              </a:solidFill>
              <a:latin typeface="Arial"/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7867561" y="3304599"/>
            <a:ext cx="3375837" cy="1579148"/>
          </a:xfrm>
          <a:prstGeom prst="roundRect">
            <a:avLst/>
          </a:prstGeom>
          <a:solidFill>
            <a:srgbClr val="F8EAEA"/>
          </a:solidFill>
          <a:ln w="9525">
            <a:solidFill>
              <a:srgbClr val="DCE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229599" y="3566160"/>
            <a:ext cx="2871981" cy="959186"/>
          </a:xfrm>
          <a:prstGeom prst="rect">
            <a:avLst/>
          </a:prstGeom>
          <a:noFill/>
        </p:spPr>
        <p:txBody>
          <a:bodyPr wrap="square">
            <a:normAutofit fontScale="70000" lnSpcReduction="20000"/>
          </a:bodyPr>
          <a:lstStyle/>
          <a:p>
            <a:pPr algn="ctr"/>
            <a:r>
              <a:rPr lang="es-ES" sz="2000" b="1" dirty="0" err="1">
                <a:solidFill>
                  <a:srgbClr val="192D3E"/>
                </a:solidFill>
                <a:latin typeface="Arial"/>
              </a:rPr>
              <a:t>Quan</a:t>
            </a:r>
            <a:r>
              <a:rPr lang="es-ES" sz="2000" b="1" dirty="0">
                <a:solidFill>
                  <a:srgbClr val="192D3E"/>
                </a:solidFill>
                <a:latin typeface="Arial"/>
              </a:rPr>
              <a:t> no </a:t>
            </a:r>
            <a:r>
              <a:rPr lang="es-ES" sz="2000" b="1" dirty="0" err="1">
                <a:solidFill>
                  <a:srgbClr val="192D3E"/>
                </a:solidFill>
                <a:latin typeface="Arial"/>
              </a:rPr>
              <a:t>s’acredita</a:t>
            </a:r>
            <a:r>
              <a:rPr lang="es-ES" sz="2000" b="1" dirty="0">
                <a:solidFill>
                  <a:srgbClr val="192D3E"/>
                </a:solidFill>
                <a:latin typeface="Arial"/>
              </a:rPr>
              <a:t> el </a:t>
            </a:r>
            <a:r>
              <a:rPr lang="es-ES" sz="2000" b="1" dirty="0" err="1">
                <a:solidFill>
                  <a:srgbClr val="192D3E"/>
                </a:solidFill>
                <a:latin typeface="Arial"/>
              </a:rPr>
              <a:t>compliment</a:t>
            </a:r>
            <a:r>
              <a:rPr lang="es-ES" sz="2000" b="1" dirty="0">
                <a:solidFill>
                  <a:srgbClr val="192D3E"/>
                </a:solidFill>
                <a:latin typeface="Arial"/>
              </a:rPr>
              <a:t> </a:t>
            </a:r>
            <a:r>
              <a:rPr lang="es-ES" sz="2000" b="1" dirty="0" err="1">
                <a:solidFill>
                  <a:srgbClr val="192D3E"/>
                </a:solidFill>
                <a:latin typeface="Arial"/>
              </a:rPr>
              <a:t>dels</a:t>
            </a:r>
            <a:r>
              <a:rPr lang="es-ES" sz="2000" b="1" dirty="0">
                <a:solidFill>
                  <a:srgbClr val="192D3E"/>
                </a:solidFill>
                <a:latin typeface="Arial"/>
              </a:rPr>
              <a:t> </a:t>
            </a:r>
            <a:r>
              <a:rPr lang="es-ES" sz="2000" b="1" dirty="0" err="1">
                <a:solidFill>
                  <a:srgbClr val="192D3E"/>
                </a:solidFill>
                <a:latin typeface="Arial"/>
              </a:rPr>
              <a:t>requisits</a:t>
            </a:r>
            <a:r>
              <a:rPr lang="es-ES" sz="2000" b="1" dirty="0">
                <a:solidFill>
                  <a:srgbClr val="192D3E"/>
                </a:solidFill>
                <a:latin typeface="Arial"/>
              </a:rPr>
              <a:t> </a:t>
            </a:r>
            <a:r>
              <a:rPr lang="es-ES" sz="2000" b="1" dirty="0" err="1">
                <a:solidFill>
                  <a:srgbClr val="192D3E"/>
                </a:solidFill>
                <a:latin typeface="Arial"/>
              </a:rPr>
              <a:t>econòmics</a:t>
            </a:r>
            <a:r>
              <a:rPr lang="es-ES" sz="2000" b="1" dirty="0">
                <a:solidFill>
                  <a:srgbClr val="192D3E"/>
                </a:solidFill>
                <a:latin typeface="Arial"/>
              </a:rPr>
              <a:t>, </a:t>
            </a:r>
            <a:r>
              <a:rPr lang="es-ES" sz="2000" b="1" dirty="0" err="1">
                <a:solidFill>
                  <a:srgbClr val="192D3E"/>
                </a:solidFill>
                <a:latin typeface="Arial"/>
              </a:rPr>
              <a:t>l’expedient</a:t>
            </a:r>
            <a:r>
              <a:rPr lang="es-ES" sz="2000" b="1" dirty="0">
                <a:solidFill>
                  <a:srgbClr val="192D3E"/>
                </a:solidFill>
                <a:latin typeface="Arial"/>
              </a:rPr>
              <a:t> no </a:t>
            </a:r>
            <a:r>
              <a:rPr lang="es-ES" sz="2000" b="1" dirty="0" err="1">
                <a:solidFill>
                  <a:srgbClr val="192D3E"/>
                </a:solidFill>
                <a:latin typeface="Arial"/>
              </a:rPr>
              <a:t>obté</a:t>
            </a:r>
            <a:r>
              <a:rPr lang="es-ES" sz="2000" b="1" dirty="0">
                <a:solidFill>
                  <a:srgbClr val="192D3E"/>
                </a:solidFill>
                <a:latin typeface="Arial"/>
              </a:rPr>
              <a:t> una </a:t>
            </a:r>
            <a:r>
              <a:rPr lang="es-ES" sz="2000" b="1" dirty="0" err="1">
                <a:solidFill>
                  <a:srgbClr val="192D3E"/>
                </a:solidFill>
                <a:latin typeface="Arial"/>
              </a:rPr>
              <a:t>valoració</a:t>
            </a:r>
            <a:r>
              <a:rPr lang="es-ES" sz="2000" b="1" dirty="0">
                <a:solidFill>
                  <a:srgbClr val="192D3E"/>
                </a:solidFill>
                <a:latin typeface="Arial"/>
              </a:rPr>
              <a:t> favorable en </a:t>
            </a:r>
            <a:r>
              <a:rPr lang="es-ES" sz="2000" b="1" dirty="0" err="1">
                <a:solidFill>
                  <a:srgbClr val="192D3E"/>
                </a:solidFill>
                <a:latin typeface="Arial"/>
              </a:rPr>
              <a:t>aquesta</a:t>
            </a:r>
            <a:r>
              <a:rPr lang="es-ES" sz="2000" b="1" dirty="0">
                <a:solidFill>
                  <a:srgbClr val="192D3E"/>
                </a:solidFill>
                <a:latin typeface="Arial"/>
              </a:rPr>
              <a:t> fase.</a:t>
            </a:r>
            <a:endParaRPr sz="2000" b="1" dirty="0">
              <a:solidFill>
                <a:srgbClr val="192D3E"/>
              </a:solidFill>
              <a:latin typeface="Arial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8001000" y="5166360"/>
            <a:ext cx="3063240" cy="292608"/>
          </a:xfrm>
          <a:prstGeom prst="rect">
            <a:avLst/>
          </a:prstGeom>
          <a:noFill/>
        </p:spPr>
        <p:txBody>
          <a:bodyPr wrap="square">
            <a:normAutofit fontScale="77500" lnSpcReduction="20000"/>
          </a:bodyPr>
          <a:lstStyle/>
          <a:p>
            <a:pPr algn="ctr"/>
            <a:r>
              <a:rPr sz="1000" b="0">
                <a:solidFill>
                  <a:srgbClr val="66707A"/>
                </a:solidFill>
                <a:latin typeface="Arial"/>
              </a:rPr>
              <a:t>Fonts públiques: AGAUR requisits econòmics i BOE 2025-2026.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6473952"/>
            <a:ext cx="859536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800" b="0">
                <a:solidFill>
                  <a:srgbClr val="66707A"/>
                </a:solidFill>
                <a:latin typeface="Arial"/>
              </a:rPr>
              <a:t>Disseny de Sistemes d'Informació · Ports de sortida en arquitectura hexagonal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0" y="6473952"/>
            <a:ext cx="41148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r"/>
            <a:r>
              <a:rPr sz="800" b="0">
                <a:solidFill>
                  <a:srgbClr val="66707A"/>
                </a:solidFill>
                <a:latin typeface="Arial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8961120" cy="502920"/>
          </a:xfrm>
          <a:prstGeom prst="rect">
            <a:avLst/>
          </a:prstGeom>
          <a:noFill/>
        </p:spPr>
        <p:txBody>
          <a:bodyPr wrap="square">
            <a:normAutofit fontScale="92500"/>
          </a:bodyPr>
          <a:lstStyle/>
          <a:p>
            <a:pPr algn="l"/>
            <a:r>
              <a:rPr sz="2800" b="1" dirty="0" err="1">
                <a:solidFill>
                  <a:srgbClr val="192D3E"/>
                </a:solidFill>
                <a:latin typeface="Arial"/>
              </a:rPr>
              <a:t>Quina</a:t>
            </a:r>
            <a:r>
              <a:rPr sz="2800" b="1" dirty="0">
                <a:solidFill>
                  <a:srgbClr val="192D3E"/>
                </a:solidFill>
                <a:latin typeface="Arial"/>
              </a:rPr>
              <a:t> </a:t>
            </a:r>
            <a:r>
              <a:rPr sz="2800" b="1" dirty="0" err="1">
                <a:solidFill>
                  <a:srgbClr val="192D3E"/>
                </a:solidFill>
                <a:latin typeface="Arial"/>
              </a:rPr>
              <a:t>informació</a:t>
            </a:r>
            <a:r>
              <a:rPr sz="2800" b="1" dirty="0">
                <a:solidFill>
                  <a:srgbClr val="192D3E"/>
                </a:solidFill>
                <a:latin typeface="Arial"/>
              </a:rPr>
              <a:t> externa </a:t>
            </a:r>
            <a:r>
              <a:rPr sz="2800" b="1" dirty="0" err="1">
                <a:solidFill>
                  <a:srgbClr val="192D3E"/>
                </a:solidFill>
                <a:latin typeface="Arial"/>
              </a:rPr>
              <a:t>necessita</a:t>
            </a:r>
            <a:r>
              <a:rPr sz="2800" b="1" dirty="0">
                <a:solidFill>
                  <a:srgbClr val="192D3E"/>
                </a:solidFill>
                <a:latin typeface="Arial"/>
              </a:rPr>
              <a:t> </a:t>
            </a:r>
            <a:r>
              <a:rPr sz="2800" b="1" dirty="0" err="1">
                <a:solidFill>
                  <a:srgbClr val="192D3E"/>
                </a:solidFill>
                <a:latin typeface="Arial"/>
              </a:rPr>
              <a:t>el</a:t>
            </a:r>
            <a:r>
              <a:rPr sz="2800" b="1" dirty="0">
                <a:solidFill>
                  <a:srgbClr val="192D3E"/>
                </a:solidFill>
                <a:latin typeface="Arial"/>
              </a:rPr>
              <a:t> </a:t>
            </a:r>
            <a:r>
              <a:rPr sz="2800" b="1" dirty="0" err="1">
                <a:solidFill>
                  <a:srgbClr val="192D3E"/>
                </a:solidFill>
                <a:latin typeface="Arial"/>
              </a:rPr>
              <a:t>procediment</a:t>
            </a:r>
            <a:r>
              <a:rPr sz="2800" b="1" dirty="0">
                <a:solidFill>
                  <a:srgbClr val="192D3E"/>
                </a:solidFill>
                <a:latin typeface="Arial"/>
              </a:rPr>
              <a:t>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822960"/>
            <a:ext cx="886968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300" b="0">
                <a:solidFill>
                  <a:srgbClr val="66707A"/>
                </a:solidFill>
                <a:latin typeface="Arial"/>
              </a:rPr>
              <a:t>Renda, patrimoni i informació cadastral</a:t>
            </a:r>
          </a:p>
        </p:txBody>
      </p:sp>
      <p:pic>
        <p:nvPicPr>
          <p:cNvPr id="4" name="Picture 3" descr="logotip-oficial-tecnocampus-upf-horitzontal-colo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86248" y="293026"/>
            <a:ext cx="2435192" cy="460922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94360" y="1115568"/>
            <a:ext cx="10972800" cy="13716"/>
          </a:xfrm>
          <a:prstGeom prst="rect">
            <a:avLst/>
          </a:prstGeom>
          <a:solidFill>
            <a:srgbClr val="D6DB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agaur-data-interoperabilit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89754" y="1234440"/>
            <a:ext cx="2541531" cy="47091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183879" y="1417320"/>
            <a:ext cx="2926080" cy="32004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ctr"/>
            <a:r>
              <a:rPr sz="1600" b="1">
                <a:solidFill>
                  <a:srgbClr val="236092"/>
                </a:solidFill>
                <a:latin typeface="Arial"/>
              </a:rPr>
              <a:t>NECESSITAT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75320" y="1828800"/>
            <a:ext cx="2743200" cy="960120"/>
          </a:xfrm>
          <a:prstGeom prst="rect">
            <a:avLst/>
          </a:prstGeom>
          <a:noFill/>
        </p:spPr>
        <p:txBody>
          <a:bodyPr wrap="square">
            <a:normAutofit fontScale="92500" lnSpcReduction="10000"/>
          </a:bodyPr>
          <a:lstStyle/>
          <a:p>
            <a:pPr>
              <a:spcAft>
                <a:spcPts val="800"/>
              </a:spcAft>
              <a:defRPr sz="1700">
                <a:solidFill>
                  <a:srgbClr val="262626"/>
                </a:solidFill>
                <a:latin typeface="Arial"/>
              </a:defRPr>
            </a:pPr>
            <a:r>
              <a:rPr dirty="0"/>
              <a:t>Renda familiar</a:t>
            </a:r>
          </a:p>
          <a:p>
            <a:pPr>
              <a:spcAft>
                <a:spcPts val="800"/>
              </a:spcAft>
              <a:defRPr sz="1700">
                <a:solidFill>
                  <a:srgbClr val="262626"/>
                </a:solidFill>
                <a:latin typeface="Arial"/>
              </a:defRPr>
            </a:pPr>
            <a:r>
              <a:rPr dirty="0" err="1"/>
              <a:t>Patrimoni</a:t>
            </a:r>
            <a:endParaRPr dirty="0"/>
          </a:p>
          <a:p>
            <a:pPr>
              <a:spcAft>
                <a:spcPts val="800"/>
              </a:spcAft>
              <a:defRPr sz="1700">
                <a:solidFill>
                  <a:srgbClr val="262626"/>
                </a:solidFill>
                <a:latin typeface="Arial"/>
              </a:defRPr>
            </a:pPr>
            <a:r>
              <a:rPr dirty="0" err="1"/>
              <a:t>Béns</a:t>
            </a:r>
            <a:r>
              <a:rPr dirty="0"/>
              <a:t> </a:t>
            </a:r>
            <a:r>
              <a:rPr dirty="0" err="1"/>
              <a:t>immobles</a:t>
            </a:r>
            <a:endParaRPr dirty="0"/>
          </a:p>
        </p:txBody>
      </p:sp>
      <p:sp>
        <p:nvSpPr>
          <p:cNvPr id="9" name="TextBox 8"/>
          <p:cNvSpPr txBox="1"/>
          <p:nvPr/>
        </p:nvSpPr>
        <p:spPr>
          <a:xfrm>
            <a:off x="8183879" y="3063240"/>
            <a:ext cx="2926080" cy="32004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ctr"/>
            <a:r>
              <a:rPr sz="1600" b="1">
                <a:solidFill>
                  <a:srgbClr val="236092"/>
                </a:solidFill>
                <a:latin typeface="Arial"/>
              </a:rPr>
              <a:t>FONTS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75320" y="3474720"/>
            <a:ext cx="2743200" cy="914400"/>
          </a:xfrm>
          <a:prstGeom prst="rect">
            <a:avLst/>
          </a:prstGeom>
          <a:noFill/>
        </p:spPr>
        <p:txBody>
          <a:bodyPr wrap="square">
            <a:normAutofit fontScale="92500" lnSpcReduction="20000"/>
          </a:bodyPr>
          <a:lstStyle/>
          <a:p>
            <a:pPr>
              <a:spcAft>
                <a:spcPts val="800"/>
              </a:spcAft>
              <a:defRPr sz="1700">
                <a:solidFill>
                  <a:srgbClr val="262626"/>
                </a:solidFill>
                <a:latin typeface="Arial"/>
              </a:defRPr>
            </a:pPr>
            <a:r>
              <a:t>AEAT</a:t>
            </a:r>
          </a:p>
          <a:p>
            <a:pPr>
              <a:spcAft>
                <a:spcPts val="800"/>
              </a:spcAft>
              <a:defRPr sz="1700">
                <a:solidFill>
                  <a:srgbClr val="262626"/>
                </a:solidFill>
                <a:latin typeface="Arial"/>
              </a:defRPr>
            </a:pPr>
            <a:r>
              <a:t>Cadastre</a:t>
            </a:r>
          </a:p>
          <a:p>
            <a:pPr>
              <a:spcAft>
                <a:spcPts val="800"/>
              </a:spcAft>
              <a:defRPr sz="1700">
                <a:solidFill>
                  <a:srgbClr val="262626"/>
                </a:solidFill>
                <a:latin typeface="Arial"/>
              </a:defRPr>
            </a:pPr>
            <a:r>
              <a:t>PICA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4892040"/>
            <a:ext cx="3063240" cy="685800"/>
          </a:xfrm>
          <a:prstGeom prst="rect">
            <a:avLst/>
          </a:prstGeom>
          <a:noFill/>
        </p:spPr>
        <p:txBody>
          <a:bodyPr wrap="square">
            <a:normAutofit fontScale="92500" lnSpcReduction="20000"/>
          </a:bodyPr>
          <a:lstStyle/>
          <a:p>
            <a:pPr algn="ctr"/>
            <a:r>
              <a:rPr sz="1600" b="1">
                <a:solidFill>
                  <a:srgbClr val="192D3E"/>
                </a:solidFill>
                <a:latin typeface="Arial"/>
              </a:rPr>
              <a:t>El procediment necessita informació administrativa,
no una API concreta.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8700" y="6003036"/>
            <a:ext cx="10492740" cy="4572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lang="es-ES" sz="1000" b="0" dirty="0">
                <a:solidFill>
                  <a:srgbClr val="66707A"/>
                </a:solidFill>
                <a:latin typeface="Arial"/>
              </a:rPr>
              <a:t>PICA = Plataforma d’Integració i Col·laboració Administrativa de la Generalitat de Catalunya. És una plataforma corporativa de la Generalitat per facilitar la interoperabilitat entre sistemes de la Generalitat, altres administracions públiques i institucions.</a:t>
            </a:r>
            <a:br>
              <a:rPr lang="es-ES" sz="1000" b="0" dirty="0">
                <a:solidFill>
                  <a:srgbClr val="66707A"/>
                </a:solidFill>
                <a:latin typeface="Arial"/>
              </a:rPr>
            </a:br>
            <a:endParaRPr lang="es-ES" sz="1000" b="0" dirty="0">
              <a:solidFill>
                <a:srgbClr val="66707A"/>
              </a:solidFill>
              <a:latin typeface="Arial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594360" y="6473952"/>
            <a:ext cx="859536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800" b="0">
                <a:solidFill>
                  <a:srgbClr val="66707A"/>
                </a:solidFill>
                <a:latin typeface="Arial"/>
              </a:rPr>
              <a:t>Disseny de Sistemes d'Informació · Ports de sortida en arquitectura hexagonal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55680" y="6473952"/>
            <a:ext cx="41148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r"/>
            <a:r>
              <a:rPr sz="800" b="0">
                <a:solidFill>
                  <a:srgbClr val="66707A"/>
                </a:solidFill>
                <a:latin typeface="Arial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8961120" cy="502920"/>
          </a:xfrm>
          <a:prstGeom prst="rect">
            <a:avLst/>
          </a:prstGeom>
          <a:noFill/>
        </p:spPr>
        <p:txBody>
          <a:bodyPr wrap="square">
            <a:normAutofit fontScale="85000" lnSpcReduction="10000"/>
          </a:bodyPr>
          <a:lstStyle/>
          <a:p>
            <a:pPr algn="l"/>
            <a:r>
              <a:rPr sz="3100" b="1">
                <a:solidFill>
                  <a:srgbClr val="192D3E"/>
                </a:solidFill>
                <a:latin typeface="Arial"/>
              </a:rPr>
              <a:t>Dependència directa entre procediment i integració</a:t>
            </a:r>
            <a:endParaRPr lang="es-ES" sz="2800" b="1" dirty="0">
              <a:solidFill>
                <a:srgbClr val="192D3E"/>
              </a:solidFill>
              <a:latin typeface="Arial"/>
            </a:endParaRPr>
          </a:p>
        </p:txBody>
      </p:sp>
      <p:pic>
        <p:nvPicPr>
          <p:cNvPr id="3" name="Picture 2" descr="logotip-oficial-tecnocampus-upf-horitzontal-colo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08114" y="293025"/>
            <a:ext cx="2413325" cy="456783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94360" y="1338855"/>
            <a:ext cx="10972800" cy="13716"/>
          </a:xfrm>
          <a:prstGeom prst="rect">
            <a:avLst/>
          </a:prstGeom>
          <a:solidFill>
            <a:srgbClr val="D6DB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960120" y="2523966"/>
            <a:ext cx="10241280" cy="56692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2900" b="1" dirty="0">
                <a:solidFill>
                  <a:srgbClr val="192D3E"/>
                </a:solidFill>
                <a:latin typeface="Arial"/>
              </a:rPr>
              <a:t>Cas </a:t>
            </a:r>
            <a:r>
              <a:rPr sz="2900" b="1" dirty="0" err="1">
                <a:solidFill>
                  <a:srgbClr val="192D3E"/>
                </a:solidFill>
                <a:latin typeface="Arial"/>
              </a:rPr>
              <a:t>d'ús</a:t>
            </a:r>
            <a:r>
              <a:rPr sz="2900" b="1" dirty="0">
                <a:solidFill>
                  <a:srgbClr val="192D3E"/>
                </a:solidFill>
                <a:latin typeface="Arial"/>
              </a:rPr>
              <a:t>  →  SOAP/XML  →  PICA  →  AEAT</a:t>
            </a:r>
            <a:r>
              <a:rPr lang="es-ES" sz="2900" b="1" dirty="0">
                <a:solidFill>
                  <a:srgbClr val="192D3E"/>
                </a:solidFill>
                <a:latin typeface="Arial"/>
              </a:rPr>
              <a:t> / </a:t>
            </a:r>
            <a:r>
              <a:rPr lang="es-ES" sz="2900" b="1" dirty="0" err="1">
                <a:solidFill>
                  <a:srgbClr val="192D3E"/>
                </a:solidFill>
                <a:latin typeface="Arial"/>
              </a:rPr>
              <a:t>Cadastre</a:t>
            </a:r>
            <a:endParaRPr sz="2900" b="1" dirty="0">
              <a:solidFill>
                <a:srgbClr val="192D3E"/>
              </a:solidFill>
              <a:latin typeface="Arial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914400" y="3519381"/>
            <a:ext cx="3063240" cy="1188720"/>
          </a:xfrm>
          <a:prstGeom prst="rect">
            <a:avLst/>
          </a:prstGeom>
          <a:solidFill>
            <a:srgbClr val="F8EAEA"/>
          </a:solidFill>
          <a:ln w="9525">
            <a:solidFill>
              <a:srgbClr val="DCE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143000" y="3793701"/>
            <a:ext cx="2606040" cy="548640"/>
          </a:xfrm>
          <a:prstGeom prst="rect">
            <a:avLst/>
          </a:prstGeom>
          <a:noFill/>
        </p:spPr>
        <p:txBody>
          <a:bodyPr wrap="square">
            <a:normAutofit fontScale="70000" lnSpcReduction="20000"/>
          </a:bodyPr>
          <a:lstStyle/>
          <a:p>
            <a:pPr algn="ctr"/>
            <a:r>
              <a:rPr sz="1700" b="1" dirty="0" err="1">
                <a:solidFill>
                  <a:srgbClr val="192D3E"/>
                </a:solidFill>
                <a:latin typeface="Arial"/>
              </a:rPr>
              <a:t>Acoblament</a:t>
            </a:r>
            <a:r>
              <a:rPr sz="1700" b="1" dirty="0">
                <a:solidFill>
                  <a:srgbClr val="192D3E"/>
                </a:solidFill>
                <a:latin typeface="Arial"/>
              </a:rPr>
              <a:t> </a:t>
            </a:r>
            <a:r>
              <a:rPr sz="1700" b="1" dirty="0" err="1">
                <a:solidFill>
                  <a:srgbClr val="192D3E"/>
                </a:solidFill>
                <a:latin typeface="Arial"/>
              </a:rPr>
              <a:t>tecnològic</a:t>
            </a:r>
            <a:r>
              <a:rPr sz="1700" b="1" dirty="0">
                <a:solidFill>
                  <a:srgbClr val="192D3E"/>
                </a:solidFill>
                <a:latin typeface="Arial"/>
              </a:rPr>
              <a:t>
El </a:t>
            </a:r>
            <a:r>
              <a:rPr sz="1700" b="1" dirty="0" err="1">
                <a:solidFill>
                  <a:srgbClr val="192D3E"/>
                </a:solidFill>
                <a:latin typeface="Arial"/>
              </a:rPr>
              <a:t>procediment</a:t>
            </a:r>
            <a:r>
              <a:rPr sz="1700" b="1" dirty="0">
                <a:solidFill>
                  <a:srgbClr val="192D3E"/>
                </a:solidFill>
                <a:latin typeface="Arial"/>
              </a:rPr>
              <a:t> </a:t>
            </a:r>
            <a:r>
              <a:rPr lang="es-ES" sz="1700" b="1" dirty="0" err="1">
                <a:solidFill>
                  <a:srgbClr val="192D3E"/>
                </a:solidFill>
                <a:latin typeface="Arial"/>
              </a:rPr>
              <a:t>administratiu</a:t>
            </a:r>
            <a:r>
              <a:rPr lang="es-ES" sz="1700" b="1" dirty="0">
                <a:solidFill>
                  <a:srgbClr val="192D3E"/>
                </a:solidFill>
                <a:latin typeface="Arial"/>
              </a:rPr>
              <a:t> </a:t>
            </a:r>
            <a:r>
              <a:rPr sz="1700" b="1" dirty="0" err="1">
                <a:solidFill>
                  <a:srgbClr val="192D3E"/>
                </a:solidFill>
                <a:latin typeface="Arial"/>
              </a:rPr>
              <a:t>depèn</a:t>
            </a:r>
            <a:r>
              <a:rPr sz="1700" b="1" dirty="0">
                <a:solidFill>
                  <a:srgbClr val="192D3E"/>
                </a:solidFill>
                <a:latin typeface="Arial"/>
              </a:rPr>
              <a:t> de SOAP/PICA</a:t>
            </a:r>
            <a:endParaRPr sz="1800" b="1" dirty="0">
              <a:solidFill>
                <a:srgbClr val="192D3E"/>
              </a:solidFill>
              <a:latin typeface="Arial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4526280" y="3519381"/>
            <a:ext cx="3063240" cy="1188720"/>
          </a:xfrm>
          <a:prstGeom prst="rect">
            <a:avLst/>
          </a:prstGeom>
          <a:solidFill>
            <a:srgbClr val="FFF3D6"/>
          </a:solidFill>
          <a:ln w="9525">
            <a:solidFill>
              <a:srgbClr val="DCE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754880" y="3793701"/>
            <a:ext cx="2656574" cy="653796"/>
          </a:xfrm>
          <a:prstGeom prst="rect">
            <a:avLst/>
          </a:prstGeom>
          <a:noFill/>
        </p:spPr>
        <p:txBody>
          <a:bodyPr wrap="square">
            <a:normAutofit fontScale="85000" lnSpcReduction="20000"/>
          </a:bodyPr>
          <a:lstStyle/>
          <a:p>
            <a:pPr algn="ctr"/>
            <a:r>
              <a:rPr sz="1700" b="1">
                <a:solidFill>
                  <a:srgbClr val="192D3E"/>
                </a:solidFill>
                <a:latin typeface="Arial"/>
              </a:rPr>
              <a:t>Impacte en el cas d’ús
L’evolució de l’API travessa la frontera</a:t>
            </a:r>
            <a:endParaRPr sz="1800" b="1" dirty="0">
              <a:solidFill>
                <a:srgbClr val="192D3E"/>
              </a:solidFill>
              <a:latin typeface="Arial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8138160" y="3519381"/>
            <a:ext cx="3063240" cy="1188720"/>
          </a:xfrm>
          <a:prstGeom prst="rect">
            <a:avLst/>
          </a:prstGeom>
          <a:solidFill>
            <a:srgbClr val="E8F1F8"/>
          </a:solidFill>
          <a:ln w="9525">
            <a:solidFill>
              <a:srgbClr val="DCE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260080" y="3736551"/>
            <a:ext cx="2788920" cy="809244"/>
          </a:xfrm>
          <a:prstGeom prst="rect">
            <a:avLst/>
          </a:prstGeom>
          <a:noFill/>
        </p:spPr>
        <p:txBody>
          <a:bodyPr wrap="square">
            <a:normAutofit fontScale="85000" lnSpcReduction="10000"/>
          </a:bodyPr>
          <a:lstStyle/>
          <a:p>
            <a:pPr algn="ctr"/>
            <a:r>
              <a:rPr sz="1700" b="1" dirty="0" err="1">
                <a:solidFill>
                  <a:srgbClr val="192D3E"/>
                </a:solidFill>
                <a:latin typeface="Arial"/>
              </a:rPr>
              <a:t>Risc</a:t>
            </a:r>
            <a:r>
              <a:rPr sz="1700" b="1" dirty="0">
                <a:solidFill>
                  <a:srgbClr val="192D3E"/>
                </a:solidFill>
                <a:latin typeface="Arial"/>
              </a:rPr>
              <a:t> de </a:t>
            </a:r>
            <a:r>
              <a:rPr sz="1700" b="1" dirty="0" err="1">
                <a:solidFill>
                  <a:srgbClr val="192D3E"/>
                </a:solidFill>
                <a:latin typeface="Arial"/>
              </a:rPr>
              <a:t>continuïtat</a:t>
            </a:r>
            <a:r>
              <a:rPr sz="1700" b="1" dirty="0">
                <a:solidFill>
                  <a:srgbClr val="192D3E"/>
                </a:solidFill>
                <a:latin typeface="Arial"/>
              </a:rPr>
              <a:t> </a:t>
            </a:r>
            <a:r>
              <a:rPr sz="1700" b="1" dirty="0" err="1">
                <a:solidFill>
                  <a:srgbClr val="192D3E"/>
                </a:solidFill>
                <a:latin typeface="Arial"/>
              </a:rPr>
              <a:t>operativa</a:t>
            </a:r>
            <a:r>
              <a:rPr sz="1700" b="1" dirty="0">
                <a:solidFill>
                  <a:srgbClr val="192D3E"/>
                </a:solidFill>
                <a:latin typeface="Arial"/>
              </a:rPr>
              <a:t>
</a:t>
            </a:r>
            <a:r>
              <a:rPr sz="1700" b="1" dirty="0" err="1">
                <a:solidFill>
                  <a:srgbClr val="192D3E"/>
                </a:solidFill>
                <a:latin typeface="Arial"/>
              </a:rPr>
              <a:t>Manteniment</a:t>
            </a:r>
            <a:r>
              <a:rPr sz="1700" b="1" dirty="0">
                <a:solidFill>
                  <a:srgbClr val="192D3E"/>
                </a:solidFill>
                <a:latin typeface="Arial"/>
              </a:rPr>
              <a:t> </a:t>
            </a:r>
            <a:r>
              <a:rPr sz="1700" b="1" dirty="0" err="1">
                <a:solidFill>
                  <a:srgbClr val="192D3E"/>
                </a:solidFill>
                <a:latin typeface="Arial"/>
              </a:rPr>
              <a:t>més</a:t>
            </a:r>
            <a:r>
              <a:rPr sz="1700" b="1" dirty="0">
                <a:solidFill>
                  <a:srgbClr val="192D3E"/>
                </a:solidFill>
                <a:latin typeface="Arial"/>
              </a:rPr>
              <a:t> </a:t>
            </a:r>
            <a:r>
              <a:rPr sz="1700" b="1" dirty="0" err="1">
                <a:solidFill>
                  <a:srgbClr val="192D3E"/>
                </a:solidFill>
                <a:latin typeface="Arial"/>
              </a:rPr>
              <a:t>fràgil</a:t>
            </a:r>
            <a:r>
              <a:rPr sz="1700" b="1" dirty="0">
                <a:solidFill>
                  <a:srgbClr val="192D3E"/>
                </a:solidFill>
                <a:latin typeface="Arial"/>
              </a:rPr>
              <a:t> del </a:t>
            </a:r>
            <a:r>
              <a:rPr sz="1700" b="1" dirty="0" err="1">
                <a:solidFill>
                  <a:srgbClr val="192D3E"/>
                </a:solidFill>
                <a:latin typeface="Arial"/>
              </a:rPr>
              <a:t>servei</a:t>
            </a:r>
            <a:endParaRPr sz="1800" b="1" dirty="0">
              <a:solidFill>
                <a:srgbClr val="192D3E"/>
              </a:solidFill>
              <a:latin typeface="Arial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914400" y="5267685"/>
            <a:ext cx="10241280" cy="502920"/>
          </a:xfrm>
          <a:prstGeom prst="rect">
            <a:avLst/>
          </a:prstGeom>
          <a:noFill/>
        </p:spPr>
        <p:txBody>
          <a:bodyPr wrap="square">
            <a:normAutofit fontScale="77500" lnSpcReduction="20000"/>
          </a:bodyPr>
          <a:lstStyle/>
          <a:p>
            <a:pPr algn="ctr"/>
            <a:r>
              <a:rPr sz="2500" b="1" dirty="0">
                <a:solidFill>
                  <a:srgbClr val="236092"/>
                </a:solidFill>
                <a:latin typeface="Arial"/>
              </a:rPr>
              <a:t>El </a:t>
            </a:r>
            <a:r>
              <a:rPr sz="2500" b="1" dirty="0" err="1">
                <a:solidFill>
                  <a:srgbClr val="236092"/>
                </a:solidFill>
                <a:latin typeface="Arial"/>
              </a:rPr>
              <a:t>problema</a:t>
            </a:r>
            <a:r>
              <a:rPr sz="2500" b="1" dirty="0">
                <a:solidFill>
                  <a:srgbClr val="236092"/>
                </a:solidFill>
                <a:latin typeface="Arial"/>
              </a:rPr>
              <a:t> no </a:t>
            </a:r>
            <a:r>
              <a:rPr sz="2500" b="1" dirty="0" err="1">
                <a:solidFill>
                  <a:srgbClr val="236092"/>
                </a:solidFill>
                <a:latin typeface="Arial"/>
              </a:rPr>
              <a:t>és</a:t>
            </a:r>
            <a:r>
              <a:rPr sz="2500" b="1" dirty="0">
                <a:solidFill>
                  <a:srgbClr val="236092"/>
                </a:solidFill>
                <a:latin typeface="Arial"/>
              </a:rPr>
              <a:t> </a:t>
            </a:r>
            <a:r>
              <a:rPr sz="2500" b="1" dirty="0" err="1">
                <a:solidFill>
                  <a:srgbClr val="236092"/>
                </a:solidFill>
                <a:latin typeface="Arial"/>
              </a:rPr>
              <a:t>consumir</a:t>
            </a:r>
            <a:r>
              <a:rPr sz="2500" b="1" dirty="0">
                <a:solidFill>
                  <a:srgbClr val="236092"/>
                </a:solidFill>
                <a:latin typeface="Arial"/>
              </a:rPr>
              <a:t> PICA; </a:t>
            </a:r>
            <a:r>
              <a:rPr sz="2500" b="1" dirty="0" err="1">
                <a:solidFill>
                  <a:srgbClr val="236092"/>
                </a:solidFill>
                <a:latin typeface="Arial"/>
              </a:rPr>
              <a:t>és</a:t>
            </a:r>
            <a:r>
              <a:rPr sz="2500" b="1" dirty="0">
                <a:solidFill>
                  <a:srgbClr val="236092"/>
                </a:solidFill>
                <a:latin typeface="Arial"/>
              </a:rPr>
              <a:t> que </a:t>
            </a:r>
            <a:r>
              <a:rPr sz="2500" b="1" dirty="0" err="1">
                <a:solidFill>
                  <a:srgbClr val="236092"/>
                </a:solidFill>
                <a:latin typeface="Arial"/>
              </a:rPr>
              <a:t>el</a:t>
            </a:r>
            <a:r>
              <a:rPr sz="2500" b="1" dirty="0">
                <a:solidFill>
                  <a:srgbClr val="236092"/>
                </a:solidFill>
                <a:latin typeface="Arial"/>
              </a:rPr>
              <a:t> </a:t>
            </a:r>
            <a:r>
              <a:rPr sz="2500" b="1" dirty="0" err="1">
                <a:solidFill>
                  <a:srgbClr val="236092"/>
                </a:solidFill>
                <a:latin typeface="Arial"/>
              </a:rPr>
              <a:t>procediment</a:t>
            </a:r>
            <a:r>
              <a:rPr sz="2500" b="1" dirty="0">
                <a:solidFill>
                  <a:srgbClr val="236092"/>
                </a:solidFill>
                <a:latin typeface="Arial"/>
              </a:rPr>
              <a:t> </a:t>
            </a:r>
            <a:r>
              <a:rPr sz="2500" b="1" dirty="0" err="1">
                <a:solidFill>
                  <a:srgbClr val="236092"/>
                </a:solidFill>
                <a:latin typeface="Arial"/>
              </a:rPr>
              <a:t>en</a:t>
            </a:r>
            <a:r>
              <a:rPr sz="2500" b="1" dirty="0">
                <a:solidFill>
                  <a:srgbClr val="236092"/>
                </a:solidFill>
                <a:latin typeface="Arial"/>
              </a:rPr>
              <a:t> </a:t>
            </a:r>
            <a:r>
              <a:rPr sz="2500" b="1" dirty="0" err="1">
                <a:solidFill>
                  <a:srgbClr val="236092"/>
                </a:solidFill>
                <a:latin typeface="Arial"/>
              </a:rPr>
              <a:t>depengui</a:t>
            </a:r>
            <a:r>
              <a:rPr sz="2500" b="1" dirty="0">
                <a:solidFill>
                  <a:srgbClr val="236092"/>
                </a:solidFill>
                <a:latin typeface="Arial"/>
              </a:rPr>
              <a:t> </a:t>
            </a:r>
            <a:r>
              <a:rPr sz="2500" b="1" dirty="0" err="1">
                <a:solidFill>
                  <a:srgbClr val="236092"/>
                </a:solidFill>
                <a:latin typeface="Arial"/>
              </a:rPr>
              <a:t>directament</a:t>
            </a:r>
            <a:r>
              <a:rPr sz="2500" b="1" dirty="0">
                <a:solidFill>
                  <a:srgbClr val="236092"/>
                </a:solidFill>
                <a:latin typeface="Arial"/>
              </a:rPr>
              <a:t>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6473952"/>
            <a:ext cx="859536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800" b="0">
                <a:solidFill>
                  <a:srgbClr val="66707A"/>
                </a:solidFill>
                <a:latin typeface="Arial"/>
              </a:rPr>
              <a:t>Disseny de Sistemes d'Informació · Ports de sortida en arquitectura hexagonal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55680" y="6473952"/>
            <a:ext cx="41148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r"/>
            <a:r>
              <a:rPr sz="800" b="0">
                <a:solidFill>
                  <a:srgbClr val="66707A"/>
                </a:solidFill>
                <a:latin typeface="Arial"/>
              </a:rPr>
              <a:t>6</a:t>
            </a:r>
          </a:p>
        </p:txBody>
      </p:sp>
      <p:sp>
        <p:nvSpPr>
          <p:cNvPr id="15" name="CTTI diagnostic subtitle"/>
          <p:cNvSpPr txBox="1"/>
          <p:nvPr/>
        </p:nvSpPr>
        <p:spPr>
          <a:xfrm>
            <a:off x="829694" y="1736097"/>
            <a:ext cx="10532612" cy="7878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lang="es-ES" sz="1400" b="0" dirty="0" err="1">
                <a:solidFill>
                  <a:srgbClr val="66707A"/>
                </a:solidFill>
                <a:latin typeface="Arial"/>
              </a:rPr>
              <a:t>Els</a:t>
            </a:r>
            <a:r>
              <a:rPr lang="es-ES" sz="1400" b="0" dirty="0">
                <a:solidFill>
                  <a:srgbClr val="66707A"/>
                </a:solidFill>
                <a:latin typeface="Arial"/>
              </a:rPr>
              <a:t> </a:t>
            </a:r>
            <a:r>
              <a:rPr lang="es-ES" sz="1400" b="0" dirty="0" err="1">
                <a:solidFill>
                  <a:srgbClr val="66707A"/>
                </a:solidFill>
                <a:latin typeface="Arial"/>
              </a:rPr>
              <a:t>principis</a:t>
            </a:r>
            <a:r>
              <a:rPr lang="es-ES" sz="1400" b="0" dirty="0">
                <a:solidFill>
                  <a:srgbClr val="66707A"/>
                </a:solidFill>
                <a:latin typeface="Arial"/>
              </a:rPr>
              <a:t> del CTTI orienten </a:t>
            </a:r>
            <a:r>
              <a:rPr lang="es-ES" sz="1400" b="0" dirty="0" err="1">
                <a:solidFill>
                  <a:srgbClr val="66707A"/>
                </a:solidFill>
                <a:latin typeface="Arial"/>
              </a:rPr>
              <a:t>cap</a:t>
            </a:r>
            <a:r>
              <a:rPr lang="es-ES" sz="1400" b="0" dirty="0">
                <a:solidFill>
                  <a:srgbClr val="66707A"/>
                </a:solidFill>
                <a:latin typeface="Arial"/>
              </a:rPr>
              <a:t> a </a:t>
            </a:r>
            <a:r>
              <a:rPr lang="es-ES" sz="1400" b="0" dirty="0" err="1">
                <a:solidFill>
                  <a:srgbClr val="66707A"/>
                </a:solidFill>
                <a:latin typeface="Arial"/>
              </a:rPr>
              <a:t>sistemes</a:t>
            </a:r>
            <a:r>
              <a:rPr lang="es-ES" sz="1400" b="0" dirty="0">
                <a:solidFill>
                  <a:srgbClr val="66707A"/>
                </a:solidFill>
                <a:latin typeface="Arial"/>
              </a:rPr>
              <a:t> </a:t>
            </a:r>
            <a:r>
              <a:rPr lang="es-ES" sz="1400" b="0" dirty="0" err="1">
                <a:solidFill>
                  <a:srgbClr val="66707A"/>
                </a:solidFill>
                <a:latin typeface="Arial"/>
              </a:rPr>
              <a:t>desacoblats</a:t>
            </a:r>
            <a:r>
              <a:rPr lang="es-ES" sz="1400" b="0" dirty="0">
                <a:solidFill>
                  <a:srgbClr val="66707A"/>
                </a:solidFill>
                <a:latin typeface="Arial"/>
              </a:rPr>
              <a:t> i </a:t>
            </a:r>
            <a:r>
              <a:rPr lang="es-ES" sz="1400" b="0" dirty="0" err="1">
                <a:solidFill>
                  <a:srgbClr val="66707A"/>
                </a:solidFill>
                <a:latin typeface="Arial"/>
              </a:rPr>
              <a:t>serveis</a:t>
            </a:r>
            <a:r>
              <a:rPr lang="es-ES" sz="1400" b="0" dirty="0">
                <a:solidFill>
                  <a:srgbClr val="66707A"/>
                </a:solidFill>
                <a:latin typeface="Arial"/>
              </a:rPr>
              <a:t> </a:t>
            </a:r>
            <a:r>
              <a:rPr lang="es-ES" sz="1400" b="0" dirty="0" err="1">
                <a:solidFill>
                  <a:srgbClr val="66707A"/>
                </a:solidFill>
                <a:latin typeface="Arial"/>
              </a:rPr>
              <a:t>substituïbles</a:t>
            </a:r>
            <a:r>
              <a:rPr lang="es-ES" sz="1400" b="0" dirty="0">
                <a:solidFill>
                  <a:srgbClr val="66707A"/>
                </a:solidFill>
                <a:latin typeface="Arial"/>
              </a:rPr>
              <a:t>; per </a:t>
            </a:r>
            <a:r>
              <a:rPr lang="es-ES" sz="1400" b="0" dirty="0" err="1">
                <a:solidFill>
                  <a:srgbClr val="66707A"/>
                </a:solidFill>
                <a:latin typeface="Arial"/>
              </a:rPr>
              <a:t>això</a:t>
            </a:r>
            <a:r>
              <a:rPr lang="es-ES" sz="1400" b="0" dirty="0">
                <a:solidFill>
                  <a:srgbClr val="66707A"/>
                </a:solidFill>
                <a:latin typeface="Arial"/>
              </a:rPr>
              <a:t>, si la </a:t>
            </a:r>
            <a:r>
              <a:rPr lang="es-ES" sz="1400" b="0" dirty="0" err="1">
                <a:solidFill>
                  <a:srgbClr val="66707A"/>
                </a:solidFill>
                <a:latin typeface="Arial"/>
              </a:rPr>
              <a:t>lògica</a:t>
            </a:r>
            <a:r>
              <a:rPr lang="es-ES" sz="1400" b="0" dirty="0">
                <a:solidFill>
                  <a:srgbClr val="66707A"/>
                </a:solidFill>
                <a:latin typeface="Arial"/>
              </a:rPr>
              <a:t> del </a:t>
            </a:r>
            <a:r>
              <a:rPr lang="es-ES" sz="1400" b="0" dirty="0" err="1">
                <a:solidFill>
                  <a:srgbClr val="66707A"/>
                </a:solidFill>
                <a:latin typeface="Arial"/>
              </a:rPr>
              <a:t>procediment</a:t>
            </a:r>
            <a:r>
              <a:rPr lang="es-ES" sz="1400" b="0" dirty="0">
                <a:solidFill>
                  <a:srgbClr val="66707A"/>
                </a:solidFill>
                <a:latin typeface="Arial"/>
              </a:rPr>
              <a:t> </a:t>
            </a:r>
            <a:r>
              <a:rPr lang="es-ES" sz="1400" b="0" dirty="0" err="1">
                <a:solidFill>
                  <a:srgbClr val="66707A"/>
                </a:solidFill>
                <a:latin typeface="Arial"/>
              </a:rPr>
              <a:t>administratiu</a:t>
            </a:r>
            <a:r>
              <a:rPr lang="es-ES" sz="1400" b="0" dirty="0">
                <a:solidFill>
                  <a:srgbClr val="66707A"/>
                </a:solidFill>
                <a:latin typeface="Arial"/>
              </a:rPr>
              <a:t> queda vinculada a crides SOAP/XML contra PICA, </a:t>
            </a:r>
            <a:r>
              <a:rPr lang="es-ES" sz="1400" b="0" dirty="0" err="1">
                <a:solidFill>
                  <a:srgbClr val="66707A"/>
                </a:solidFill>
                <a:latin typeface="Arial"/>
              </a:rPr>
              <a:t>qualsevol</a:t>
            </a:r>
            <a:r>
              <a:rPr lang="es-ES" sz="1400" b="0" dirty="0">
                <a:solidFill>
                  <a:srgbClr val="66707A"/>
                </a:solidFill>
                <a:latin typeface="Arial"/>
              </a:rPr>
              <a:t> </a:t>
            </a:r>
            <a:r>
              <a:rPr lang="es-ES" sz="1400" b="0" dirty="0" err="1">
                <a:solidFill>
                  <a:srgbClr val="66707A"/>
                </a:solidFill>
                <a:latin typeface="Arial"/>
              </a:rPr>
              <a:t>evolució</a:t>
            </a:r>
            <a:r>
              <a:rPr lang="es-ES" sz="1400" b="0" dirty="0">
                <a:solidFill>
                  <a:srgbClr val="66707A"/>
                </a:solidFill>
                <a:latin typeface="Arial"/>
              </a:rPr>
              <a:t> </a:t>
            </a:r>
            <a:r>
              <a:rPr lang="es-ES" sz="1400" b="0" dirty="0" err="1">
                <a:solidFill>
                  <a:srgbClr val="66707A"/>
                </a:solidFill>
                <a:latin typeface="Arial"/>
              </a:rPr>
              <a:t>cap</a:t>
            </a:r>
            <a:r>
              <a:rPr lang="es-ES" sz="1400" b="0" dirty="0">
                <a:solidFill>
                  <a:srgbClr val="66707A"/>
                </a:solidFill>
                <a:latin typeface="Arial"/>
              </a:rPr>
              <a:t> a REST, API Manager o </a:t>
            </a:r>
            <a:r>
              <a:rPr lang="es-ES" sz="1400" b="0" dirty="0" err="1">
                <a:solidFill>
                  <a:srgbClr val="66707A"/>
                </a:solidFill>
                <a:latin typeface="Arial"/>
              </a:rPr>
              <a:t>altres</a:t>
            </a:r>
            <a:r>
              <a:rPr lang="es-ES" sz="1400" b="0" dirty="0">
                <a:solidFill>
                  <a:srgbClr val="66707A"/>
                </a:solidFill>
                <a:latin typeface="Arial"/>
              </a:rPr>
              <a:t> </a:t>
            </a:r>
            <a:r>
              <a:rPr lang="es-ES" sz="1400" b="0" dirty="0" err="1">
                <a:solidFill>
                  <a:srgbClr val="66707A"/>
                </a:solidFill>
                <a:latin typeface="Arial"/>
              </a:rPr>
              <a:t>mecanismes</a:t>
            </a:r>
            <a:r>
              <a:rPr lang="es-ES" sz="1400" b="0" dirty="0">
                <a:solidFill>
                  <a:srgbClr val="66707A"/>
                </a:solidFill>
                <a:latin typeface="Arial"/>
              </a:rPr>
              <a:t> </a:t>
            </a:r>
            <a:r>
              <a:rPr lang="es-ES" sz="1400" b="0" dirty="0" err="1">
                <a:solidFill>
                  <a:srgbClr val="66707A"/>
                </a:solidFill>
                <a:latin typeface="Arial"/>
              </a:rPr>
              <a:t>pot</a:t>
            </a:r>
            <a:r>
              <a:rPr lang="es-ES" sz="1400" b="0" dirty="0">
                <a:solidFill>
                  <a:srgbClr val="66707A"/>
                </a:solidFill>
                <a:latin typeface="Arial"/>
              </a:rPr>
              <a:t> impactar </a:t>
            </a:r>
            <a:r>
              <a:rPr lang="es-ES" sz="1400" b="0" dirty="0" err="1">
                <a:solidFill>
                  <a:srgbClr val="66707A"/>
                </a:solidFill>
                <a:latin typeface="Arial"/>
              </a:rPr>
              <a:t>directament</a:t>
            </a:r>
            <a:r>
              <a:rPr lang="es-ES" sz="1400" b="0" dirty="0">
                <a:solidFill>
                  <a:srgbClr val="66707A"/>
                </a:solidFill>
                <a:latin typeface="Arial"/>
              </a:rPr>
              <a:t> la </a:t>
            </a:r>
            <a:r>
              <a:rPr lang="es-ES" sz="1400" b="0" dirty="0" err="1">
                <a:solidFill>
                  <a:srgbClr val="66707A"/>
                </a:solidFill>
                <a:latin typeface="Arial"/>
              </a:rPr>
              <a:t>tramitació</a:t>
            </a:r>
            <a:r>
              <a:rPr lang="es-ES" sz="1400" b="0" dirty="0">
                <a:solidFill>
                  <a:srgbClr val="66707A"/>
                </a:solidFill>
                <a:latin typeface="Arial"/>
              </a:rPr>
              <a:t>.</a:t>
            </a:r>
            <a:endParaRPr sz="1400" b="0" dirty="0">
              <a:solidFill>
                <a:srgbClr val="66707A"/>
              </a:solidFill>
              <a:latin typeface="Arial"/>
            </a:endParaRPr>
          </a:p>
        </p:txBody>
      </p:sp>
      <p:sp>
        <p:nvSpPr>
          <p:cNvPr id="16" name="PICA definition slide 7"/>
          <p:cNvSpPr txBox="1"/>
          <p:nvPr/>
        </p:nvSpPr>
        <p:spPr>
          <a:xfrm>
            <a:off x="1097280" y="5938174"/>
            <a:ext cx="10532612" cy="535777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lang="es-ES" sz="1000" b="0" dirty="0">
                <a:solidFill>
                  <a:srgbClr val="66707A"/>
                </a:solidFill>
                <a:latin typeface="Arial"/>
              </a:rPr>
              <a:t>CTTI: Centre de Telecomunicacions i Tecnologies de la Informació de la Generalitat de Catalunya. És l’organisme de la Generalitat de Catalunya que presta serveis TIC corporatius i impulsa l’arquitectura i les solucions tecnològiques transversals de la Generalitat.</a:t>
            </a:r>
            <a:br>
              <a:rPr lang="es-ES" sz="1000" b="0" dirty="0">
                <a:solidFill>
                  <a:srgbClr val="66707A"/>
                </a:solidFill>
                <a:latin typeface="Arial"/>
              </a:rPr>
            </a:br>
            <a:endParaRPr sz="1000" b="0" dirty="0">
              <a:solidFill>
                <a:srgbClr val="66707A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8961120" cy="50292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2800" b="1">
                <a:solidFill>
                  <a:srgbClr val="192D3E"/>
                </a:solidFill>
                <a:latin typeface="Arial"/>
              </a:rPr>
              <a:t>Port de sortida i adaptador</a:t>
            </a:r>
          </a:p>
        </p:txBody>
      </p:sp>
      <p:pic>
        <p:nvPicPr>
          <p:cNvPr id="3" name="Picture 2" descr="logotip-oficial-tecnocampus-upf-horitzontal-colo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80078" y="293025"/>
            <a:ext cx="3041362" cy="575655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94360" y="1115568"/>
            <a:ext cx="10972800" cy="13716"/>
          </a:xfrm>
          <a:prstGeom prst="rect">
            <a:avLst/>
          </a:prstGeom>
          <a:solidFill>
            <a:srgbClr val="D6DB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2514600" y="1417320"/>
            <a:ext cx="4480560" cy="566928"/>
          </a:xfrm>
          <a:prstGeom prst="roundRect">
            <a:avLst/>
          </a:prstGeom>
          <a:solidFill>
            <a:srgbClr val="E8F1F8"/>
          </a:solidFill>
          <a:ln w="9525">
            <a:solidFill>
              <a:srgbClr val="DCE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514600" y="1517904"/>
            <a:ext cx="4480560" cy="256032"/>
          </a:xfrm>
          <a:prstGeom prst="rect">
            <a:avLst/>
          </a:prstGeom>
          <a:noFill/>
        </p:spPr>
        <p:txBody>
          <a:bodyPr wrap="square">
            <a:normAutofit fontScale="62500" lnSpcReduction="20000"/>
          </a:bodyPr>
          <a:lstStyle/>
          <a:p>
            <a:pPr algn="ctr"/>
            <a:r>
              <a:rPr sz="2100" b="1">
                <a:solidFill>
                  <a:srgbClr val="192D3E"/>
                </a:solidFill>
                <a:latin typeface="Arial"/>
              </a:rPr>
              <a:t>Flux d'execució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897880" y="1984248"/>
            <a:ext cx="274320" cy="292608"/>
          </a:xfrm>
          <a:prstGeom prst="rect">
            <a:avLst/>
          </a:prstGeom>
          <a:noFill/>
        </p:spPr>
        <p:txBody>
          <a:bodyPr wrap="square">
            <a:normAutofit fontScale="70000" lnSpcReduction="20000"/>
          </a:bodyPr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2514600" y="2377440"/>
            <a:ext cx="4480560" cy="566928"/>
          </a:xfrm>
          <a:prstGeom prst="roundRect">
            <a:avLst/>
          </a:prstGeom>
          <a:solidFill>
            <a:srgbClr val="FFF3D6"/>
          </a:solidFill>
          <a:ln w="9525">
            <a:solidFill>
              <a:srgbClr val="DCE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2514600" y="2478024"/>
            <a:ext cx="4480560" cy="256032"/>
          </a:xfrm>
          <a:prstGeom prst="rect">
            <a:avLst/>
          </a:prstGeom>
          <a:noFill/>
        </p:spPr>
        <p:txBody>
          <a:bodyPr wrap="square">
            <a:normAutofit fontScale="62500" lnSpcReduction="20000"/>
          </a:bodyPr>
          <a:lstStyle/>
          <a:p>
            <a:pPr algn="ctr"/>
            <a:r>
              <a:rPr sz="2100" b="1">
                <a:solidFill>
                  <a:srgbClr val="192D3E"/>
                </a:solidFill>
                <a:latin typeface="Arial"/>
              </a:rPr>
              <a:t>Cas d'ús → Port → Adaptador → Sistema extern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97880" y="2944368"/>
            <a:ext cx="274320" cy="292608"/>
          </a:xfrm>
          <a:prstGeom prst="rect">
            <a:avLst/>
          </a:prstGeom>
          <a:noFill/>
        </p:spPr>
        <p:txBody>
          <a:bodyPr wrap="square">
            <a:normAutofit fontScale="70000" lnSpcReduction="20000"/>
          </a:bodyPr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2514600" y="3337560"/>
            <a:ext cx="4480560" cy="566928"/>
          </a:xfrm>
          <a:prstGeom prst="roundRect">
            <a:avLst/>
          </a:prstGeom>
          <a:solidFill>
            <a:srgbClr val="EBF6F0"/>
          </a:solidFill>
          <a:ln w="9525">
            <a:solidFill>
              <a:srgbClr val="DCE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2514600" y="3438144"/>
            <a:ext cx="4480560" cy="256032"/>
          </a:xfrm>
          <a:prstGeom prst="rect">
            <a:avLst/>
          </a:prstGeom>
          <a:noFill/>
        </p:spPr>
        <p:txBody>
          <a:bodyPr wrap="square">
            <a:normAutofit fontScale="62500" lnSpcReduction="20000"/>
          </a:bodyPr>
          <a:lstStyle/>
          <a:p>
            <a:pPr algn="ctr"/>
            <a:r>
              <a:rPr sz="2100" b="1">
                <a:solidFill>
                  <a:srgbClr val="192D3E"/>
                </a:solidFill>
                <a:latin typeface="Arial"/>
              </a:rPr>
              <a:t>Dependència de codi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97880" y="3904488"/>
            <a:ext cx="274320" cy="292608"/>
          </a:xfrm>
          <a:prstGeom prst="rect">
            <a:avLst/>
          </a:prstGeom>
          <a:noFill/>
        </p:spPr>
        <p:txBody>
          <a:bodyPr wrap="square">
            <a:normAutofit fontScale="70000" lnSpcReduction="20000"/>
          </a:bodyPr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2514600" y="4297680"/>
            <a:ext cx="4480560" cy="566928"/>
          </a:xfrm>
          <a:prstGeom prst="roundRect">
            <a:avLst/>
          </a:prstGeom>
          <a:solidFill>
            <a:srgbClr val="F7F8FA"/>
          </a:solidFill>
          <a:ln w="9525">
            <a:solidFill>
              <a:srgbClr val="DCE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2514600" y="4398264"/>
            <a:ext cx="4480560" cy="256032"/>
          </a:xfrm>
          <a:prstGeom prst="rect">
            <a:avLst/>
          </a:prstGeom>
          <a:noFill/>
        </p:spPr>
        <p:txBody>
          <a:bodyPr wrap="square">
            <a:normAutofit fontScale="62500" lnSpcReduction="20000"/>
          </a:bodyPr>
          <a:lstStyle/>
          <a:p>
            <a:pPr algn="ctr"/>
            <a:r>
              <a:rPr sz="2100" b="1">
                <a:solidFill>
                  <a:srgbClr val="192D3E"/>
                </a:solidFill>
                <a:latin typeface="Arial"/>
              </a:rPr>
              <a:t>Cas d'ús → Port de sortida ← Adaptador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543800" y="1600200"/>
            <a:ext cx="3200400" cy="3200400"/>
          </a:xfrm>
          <a:prstGeom prst="roundRect">
            <a:avLst>
              <a:gd name="adj" fmla="val 5000"/>
            </a:avLst>
          </a:prstGeom>
          <a:solidFill>
            <a:srgbClr val="F4F8FB"/>
          </a:solidFill>
          <a:ln w="9525">
            <a:solidFill>
              <a:srgbClr val="DCE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82880" rIns="182880" bIns="182880" rtlCol="0" anchor="ctr"/>
          <a:lstStyle/>
          <a:p>
            <a:pPr algn="ctr"/>
            <a:r>
              <a:rPr sz="1650" b="1">
                <a:solidFill>
                  <a:srgbClr val="192D3E"/>
                </a:solidFill>
                <a:latin typeface="Arial"/>
              </a:rPr>
              <a:t>Concreció en Java</a:t>
            </a:r>
          </a:p>
          <a:p>
            <a:endParaRPr sz="500"/>
          </a:p>
          <a:p>
            <a:pPr algn="ctr"/>
            <a:r>
              <a:rPr sz="1400" b="1">
                <a:solidFill>
                  <a:srgbClr val="192D3E"/>
                </a:solidFill>
                <a:latin typeface="Arial"/>
              </a:rPr>
              <a:t>Port de sortida</a:t>
            </a:r>
          </a:p>
          <a:p>
            <a:pPr algn="ctr"/>
            <a:r>
              <a:rPr sz="1300">
                <a:solidFill>
                  <a:srgbClr val="192D3E"/>
                </a:solidFill>
                <a:latin typeface="Arial"/>
              </a:rPr>
              <a:t>interfície de l’aplicació</a:t>
            </a:r>
          </a:p>
          <a:p>
            <a:endParaRPr sz="500"/>
          </a:p>
          <a:p>
            <a:pPr algn="ctr"/>
            <a:r>
              <a:rPr sz="1400" b="1">
                <a:solidFill>
                  <a:srgbClr val="192D3E"/>
                </a:solidFill>
                <a:latin typeface="Arial"/>
              </a:rPr>
              <a:t>Adaptador</a:t>
            </a:r>
          </a:p>
          <a:p>
            <a:pPr algn="ctr"/>
            <a:r>
              <a:rPr sz="1300">
                <a:solidFill>
                  <a:srgbClr val="192D3E"/>
                </a:solidFill>
                <a:latin typeface="Arial"/>
              </a:rPr>
              <a:t>classe que implementa aquesta interfície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5349240"/>
            <a:ext cx="4754880" cy="347472"/>
          </a:xfrm>
          <a:prstGeom prst="rect">
            <a:avLst/>
          </a:prstGeom>
          <a:noFill/>
        </p:spPr>
        <p:txBody>
          <a:bodyPr wrap="square">
            <a:normAutofit fontScale="77500" lnSpcReduction="20000"/>
          </a:bodyPr>
          <a:lstStyle/>
          <a:p>
            <a:pPr algn="ctr"/>
            <a:r>
              <a:rPr sz="2300" b="1" dirty="0">
                <a:solidFill>
                  <a:srgbClr val="192D3E"/>
                </a:solidFill>
                <a:latin typeface="Arial"/>
              </a:rPr>
              <a:t>El port defineix què necessita el cas d’ús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5349240"/>
            <a:ext cx="5166360" cy="566928"/>
          </a:xfrm>
          <a:prstGeom prst="rect">
            <a:avLst/>
          </a:prstGeom>
          <a:noFill/>
        </p:spPr>
        <p:txBody>
          <a:bodyPr wrap="square">
            <a:normAutofit fontScale="77500" lnSpcReduction="20000"/>
          </a:bodyPr>
          <a:lstStyle/>
          <a:p>
            <a:pPr algn="ctr"/>
            <a:r>
              <a:rPr sz="2300" b="1" dirty="0" err="1">
                <a:solidFill>
                  <a:srgbClr val="192D3E"/>
                </a:solidFill>
                <a:latin typeface="Arial"/>
              </a:rPr>
              <a:t>La infraestructura depèn del port definit per l’aplicació</a:t>
            </a:r>
            <a:endParaRPr sz="2300" b="1" dirty="0">
              <a:solidFill>
                <a:srgbClr val="192D3E"/>
              </a:solidFill>
              <a:latin typeface="Arial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594360" y="6473952"/>
            <a:ext cx="859536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800" b="0">
                <a:solidFill>
                  <a:srgbClr val="66707A"/>
                </a:solidFill>
                <a:latin typeface="Arial"/>
              </a:rPr>
              <a:t>Disseny de Sistemes d'Informació · Ports de sortida en arquitectura hexagonal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55680" y="6473952"/>
            <a:ext cx="41148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r"/>
            <a:r>
              <a:rPr sz="800" b="0">
                <a:solidFill>
                  <a:srgbClr val="66707A"/>
                </a:solidFill>
                <a:latin typeface="Arial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8961120" cy="50292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lang="es-ES" sz="2800" b="1" dirty="0">
                <a:solidFill>
                  <a:srgbClr val="192D3E"/>
                </a:solidFill>
                <a:latin typeface="Arial"/>
              </a:rPr>
              <a:t>Port de </a:t>
            </a:r>
            <a:r>
              <a:rPr lang="es-ES" sz="2800" b="1" dirty="0" err="1">
                <a:solidFill>
                  <a:srgbClr val="192D3E"/>
                </a:solidFill>
                <a:latin typeface="Arial"/>
              </a:rPr>
              <a:t>sortida</a:t>
            </a:r>
            <a:r>
              <a:rPr lang="es-ES" sz="2800" b="1" dirty="0">
                <a:solidFill>
                  <a:srgbClr val="192D3E"/>
                </a:solidFill>
                <a:latin typeface="Arial"/>
              </a:rPr>
              <a:t> per a </a:t>
            </a:r>
            <a:r>
              <a:rPr lang="es-ES" sz="2800" b="1" dirty="0" err="1">
                <a:solidFill>
                  <a:srgbClr val="192D3E"/>
                </a:solidFill>
                <a:latin typeface="Arial"/>
              </a:rPr>
              <a:t>informació</a:t>
            </a:r>
            <a:r>
              <a:rPr lang="es-ES" sz="2800" b="1" dirty="0">
                <a:solidFill>
                  <a:srgbClr val="192D3E"/>
                </a:solidFill>
                <a:latin typeface="Arial"/>
              </a:rPr>
              <a:t> patrimonial</a:t>
            </a:r>
            <a:endParaRPr sz="2800" b="1" dirty="0">
              <a:solidFill>
                <a:srgbClr val="192D3E"/>
              </a:solidFill>
              <a:latin typeface="Arial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612648" y="822960"/>
            <a:ext cx="886968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lang="es-ES" sz="1300" b="0" dirty="0">
                <a:solidFill>
                  <a:srgbClr val="66707A"/>
                </a:solidFill>
                <a:latin typeface="Arial"/>
              </a:rPr>
              <a:t>El cas </a:t>
            </a:r>
            <a:r>
              <a:rPr lang="es-ES" sz="1300" b="0" dirty="0" err="1">
                <a:solidFill>
                  <a:srgbClr val="66707A"/>
                </a:solidFill>
                <a:latin typeface="Arial"/>
              </a:rPr>
              <a:t>d’ús</a:t>
            </a:r>
            <a:r>
              <a:rPr lang="es-ES" sz="1300" b="0" dirty="0">
                <a:solidFill>
                  <a:srgbClr val="66707A"/>
                </a:solidFill>
                <a:latin typeface="Arial"/>
              </a:rPr>
              <a:t> </a:t>
            </a:r>
            <a:r>
              <a:rPr lang="es-ES" sz="1300" b="0" dirty="0" err="1">
                <a:solidFill>
                  <a:srgbClr val="66707A"/>
                </a:solidFill>
                <a:latin typeface="Arial"/>
              </a:rPr>
              <a:t>depèn</a:t>
            </a:r>
            <a:r>
              <a:rPr lang="es-ES" sz="1300" b="0" dirty="0">
                <a:solidFill>
                  <a:srgbClr val="66707A"/>
                </a:solidFill>
                <a:latin typeface="Arial"/>
              </a:rPr>
              <a:t> </a:t>
            </a:r>
            <a:r>
              <a:rPr lang="es-ES" sz="1300" b="0" dirty="0" err="1">
                <a:solidFill>
                  <a:srgbClr val="66707A"/>
                </a:solidFill>
                <a:latin typeface="Arial"/>
              </a:rPr>
              <a:t>d’un</a:t>
            </a:r>
            <a:r>
              <a:rPr lang="es-ES" sz="1300" b="0" dirty="0">
                <a:solidFill>
                  <a:srgbClr val="66707A"/>
                </a:solidFill>
                <a:latin typeface="Arial"/>
              </a:rPr>
              <a:t> contracte de </a:t>
            </a:r>
            <a:r>
              <a:rPr lang="es-ES" sz="1300" b="0" dirty="0" err="1">
                <a:solidFill>
                  <a:srgbClr val="66707A"/>
                </a:solidFill>
                <a:latin typeface="Arial"/>
              </a:rPr>
              <a:t>l’aplicació</a:t>
            </a:r>
            <a:r>
              <a:rPr lang="es-ES" sz="1300" b="0" dirty="0">
                <a:solidFill>
                  <a:srgbClr val="66707A"/>
                </a:solidFill>
                <a:latin typeface="Arial"/>
              </a:rPr>
              <a:t>, no </a:t>
            </a:r>
            <a:r>
              <a:rPr lang="es-ES" sz="1300" b="0" dirty="0" err="1">
                <a:solidFill>
                  <a:srgbClr val="66707A"/>
                </a:solidFill>
                <a:latin typeface="Arial"/>
              </a:rPr>
              <a:t>dels</a:t>
            </a:r>
            <a:r>
              <a:rPr lang="es-ES" sz="1300" b="0" dirty="0">
                <a:solidFill>
                  <a:srgbClr val="66707A"/>
                </a:solidFill>
                <a:latin typeface="Arial"/>
              </a:rPr>
              <a:t> </a:t>
            </a:r>
            <a:r>
              <a:rPr lang="es-ES" sz="1300" b="0" dirty="0" err="1">
                <a:solidFill>
                  <a:srgbClr val="66707A"/>
                </a:solidFill>
                <a:latin typeface="Arial"/>
              </a:rPr>
              <a:t>detalls</a:t>
            </a:r>
            <a:r>
              <a:rPr lang="es-ES" sz="1300" b="0" dirty="0">
                <a:solidFill>
                  <a:srgbClr val="66707A"/>
                </a:solidFill>
                <a:latin typeface="Arial"/>
              </a:rPr>
              <a:t> de PICA, SOAP/XML o REST </a:t>
            </a:r>
            <a:r>
              <a:rPr lang="es-ES" sz="1300" b="0" dirty="0" err="1">
                <a:solidFill>
                  <a:srgbClr val="66707A"/>
                </a:solidFill>
                <a:latin typeface="Arial"/>
              </a:rPr>
              <a:t>APIs</a:t>
            </a:r>
            <a:r>
              <a:rPr lang="es-ES" sz="1300" b="0" dirty="0">
                <a:solidFill>
                  <a:srgbClr val="66707A"/>
                </a:solidFill>
                <a:latin typeface="Arial"/>
              </a:rPr>
              <a:t>.</a:t>
            </a:r>
            <a:endParaRPr sz="1300" b="0" dirty="0">
              <a:solidFill>
                <a:srgbClr val="66707A"/>
              </a:solidFill>
              <a:latin typeface="Arial"/>
            </a:endParaRPr>
          </a:p>
        </p:txBody>
      </p:sp>
      <p:pic>
        <p:nvPicPr>
          <p:cNvPr id="4" name="Picture 3" descr="logotip-oficial-tecnocampus-upf-horitzontal-colo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80078" y="293025"/>
            <a:ext cx="3041362" cy="575655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94360" y="1115568"/>
            <a:ext cx="10972800" cy="13716"/>
          </a:xfrm>
          <a:prstGeom prst="rect">
            <a:avLst/>
          </a:prstGeom>
          <a:solidFill>
            <a:srgbClr val="D6DB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04993" y="6473952"/>
            <a:ext cx="859536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800" b="0">
                <a:solidFill>
                  <a:srgbClr val="66707A"/>
                </a:solidFill>
                <a:latin typeface="Arial"/>
              </a:rPr>
              <a:t>Disseny de Sistemes d'Informació · Ports de sortida en arquitectura hexagonal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473952"/>
            <a:ext cx="41148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r"/>
            <a:r>
              <a:rPr sz="800" b="0">
                <a:solidFill>
                  <a:srgbClr val="66707A"/>
                </a:solidFill>
                <a:latin typeface="Arial"/>
              </a:rPr>
              <a:t>8</a:t>
            </a:r>
          </a:p>
        </p:txBody>
      </p:sp>
      <p:pic>
        <p:nvPicPr>
          <p:cNvPr id="7" name="Imagen 6">
            <a:extLst>
              <a:ext uri="{FF2B5EF4-FFF2-40B4-BE49-F238E27FC236}">
                <a16:creationId xmlns:a16="http://schemas.microsoft.com/office/drawing/2014/main" id="{74450190-3EBE-2ED3-C573-816824D8679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4360" y="1197888"/>
            <a:ext cx="11229045" cy="5234892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8961120" cy="50292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2800" b="1" dirty="0" err="1">
                <a:solidFill>
                  <a:srgbClr val="192D3E"/>
                </a:solidFill>
                <a:latin typeface="Arial"/>
              </a:rPr>
              <a:t>Transferència</a:t>
            </a:r>
            <a:r>
              <a:rPr sz="2800" b="1" dirty="0">
                <a:solidFill>
                  <a:srgbClr val="192D3E"/>
                </a:solidFill>
                <a:latin typeface="Arial"/>
              </a:rPr>
              <a:t> a</a:t>
            </a:r>
            <a:r>
              <a:rPr lang="es-ES" sz="2800" b="1" dirty="0">
                <a:solidFill>
                  <a:srgbClr val="192D3E"/>
                </a:solidFill>
                <a:latin typeface="Arial"/>
              </a:rPr>
              <a:t> </a:t>
            </a:r>
            <a:r>
              <a:rPr lang="es-ES" sz="2800" b="1" dirty="0" err="1">
                <a:solidFill>
                  <a:srgbClr val="192D3E"/>
                </a:solidFill>
                <a:latin typeface="Arial"/>
              </a:rPr>
              <a:t>domini</a:t>
            </a:r>
            <a:r>
              <a:rPr lang="es-ES" sz="2800" b="1" dirty="0">
                <a:solidFill>
                  <a:srgbClr val="192D3E"/>
                </a:solidFill>
                <a:latin typeface="Arial"/>
              </a:rPr>
              <a:t> </a:t>
            </a:r>
            <a:r>
              <a:rPr lang="es-ES" sz="2800" b="1" dirty="0" err="1">
                <a:solidFill>
                  <a:srgbClr val="192D3E"/>
                </a:solidFill>
                <a:latin typeface="Arial"/>
              </a:rPr>
              <a:t>financer</a:t>
            </a:r>
            <a:endParaRPr sz="2800" b="1" dirty="0">
              <a:solidFill>
                <a:srgbClr val="192D3E"/>
              </a:solidFill>
              <a:latin typeface="Arial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612648" y="822960"/>
            <a:ext cx="886968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lang="es-ES" sz="1400" dirty="0">
                <a:solidFill>
                  <a:srgbClr val="192D3E"/>
                </a:solidFill>
                <a:latin typeface="Arial"/>
              </a:rPr>
              <a:t>El cas </a:t>
            </a:r>
            <a:r>
              <a:rPr lang="es-ES" sz="1400" dirty="0" err="1">
                <a:solidFill>
                  <a:srgbClr val="192D3E"/>
                </a:solidFill>
                <a:latin typeface="Arial"/>
              </a:rPr>
              <a:t>d'ús</a:t>
            </a:r>
            <a:r>
              <a:rPr lang="es-ES" sz="1400" dirty="0">
                <a:solidFill>
                  <a:srgbClr val="192D3E"/>
                </a:solidFill>
                <a:latin typeface="Arial"/>
              </a:rPr>
              <a:t> 'Venda </a:t>
            </a:r>
            <a:r>
              <a:rPr lang="es-ES" sz="1400" dirty="0" err="1">
                <a:solidFill>
                  <a:srgbClr val="192D3E"/>
                </a:solidFill>
                <a:latin typeface="Arial"/>
              </a:rPr>
              <a:t>d'accions</a:t>
            </a:r>
            <a:r>
              <a:rPr lang="es-ES" sz="1400" dirty="0">
                <a:solidFill>
                  <a:srgbClr val="192D3E"/>
                </a:solidFill>
                <a:latin typeface="Arial"/>
              </a:rPr>
              <a:t> </a:t>
            </a:r>
            <a:r>
              <a:rPr lang="es-ES" sz="1400" dirty="0" err="1">
                <a:solidFill>
                  <a:srgbClr val="192D3E"/>
                </a:solidFill>
                <a:latin typeface="Arial"/>
              </a:rPr>
              <a:t>borsàries</a:t>
            </a:r>
            <a:r>
              <a:rPr lang="es-ES" sz="1400" dirty="0">
                <a:solidFill>
                  <a:srgbClr val="192D3E"/>
                </a:solidFill>
                <a:latin typeface="Arial"/>
              </a:rPr>
              <a:t>' </a:t>
            </a:r>
            <a:r>
              <a:rPr lang="es-ES" sz="1400" dirty="0" err="1">
                <a:solidFill>
                  <a:srgbClr val="192D3E"/>
                </a:solidFill>
                <a:latin typeface="Arial"/>
              </a:rPr>
              <a:t>necessita</a:t>
            </a:r>
            <a:r>
              <a:rPr lang="es-ES" sz="1400" dirty="0">
                <a:solidFill>
                  <a:srgbClr val="192D3E"/>
                </a:solidFill>
                <a:latin typeface="Arial"/>
              </a:rPr>
              <a:t> el preu actual, </a:t>
            </a:r>
            <a:r>
              <a:rPr lang="es-ES" sz="1400" dirty="0" err="1">
                <a:solidFill>
                  <a:srgbClr val="192D3E"/>
                </a:solidFill>
                <a:latin typeface="Arial"/>
              </a:rPr>
              <a:t>independentment</a:t>
            </a:r>
            <a:r>
              <a:rPr lang="es-ES" sz="1400" dirty="0">
                <a:solidFill>
                  <a:srgbClr val="192D3E"/>
                </a:solidFill>
                <a:latin typeface="Arial"/>
              </a:rPr>
              <a:t> del </a:t>
            </a:r>
            <a:r>
              <a:rPr lang="es-ES" sz="1400" dirty="0" err="1">
                <a:solidFill>
                  <a:srgbClr val="192D3E"/>
                </a:solidFill>
                <a:latin typeface="Arial"/>
              </a:rPr>
              <a:t>proveïdor</a:t>
            </a:r>
            <a:r>
              <a:rPr lang="es-ES" sz="1400" dirty="0">
                <a:solidFill>
                  <a:srgbClr val="192D3E"/>
                </a:solidFill>
                <a:latin typeface="Arial"/>
              </a:rPr>
              <a:t> (API).</a:t>
            </a:r>
            <a:endParaRPr sz="1300" dirty="0">
              <a:solidFill>
                <a:srgbClr val="66707A"/>
              </a:solidFill>
              <a:latin typeface="Arial"/>
            </a:endParaRPr>
          </a:p>
        </p:txBody>
      </p:sp>
      <p:pic>
        <p:nvPicPr>
          <p:cNvPr id="4" name="Picture 3" descr="logotip-oficial-tecnocampus-upf-horitzontal-colo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80078" y="293025"/>
            <a:ext cx="3041362" cy="575655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94360" y="1115568"/>
            <a:ext cx="10972800" cy="13716"/>
          </a:xfrm>
          <a:prstGeom prst="rect">
            <a:avLst/>
          </a:prstGeom>
          <a:solidFill>
            <a:srgbClr val="D6DB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94360" y="6473952"/>
            <a:ext cx="859536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800" b="0">
                <a:solidFill>
                  <a:srgbClr val="66707A"/>
                </a:solidFill>
                <a:latin typeface="Arial"/>
              </a:rPr>
              <a:t>Disseny de Sistemes d'Informació · Ports de sortida en arquitectura hexagonal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55680" y="6473952"/>
            <a:ext cx="41148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r"/>
            <a:r>
              <a:rPr sz="800" b="0">
                <a:solidFill>
                  <a:srgbClr val="66707A"/>
                </a:solidFill>
                <a:latin typeface="Arial"/>
              </a:rPr>
              <a:t>9</a:t>
            </a:r>
          </a:p>
        </p:txBody>
      </p:sp>
      <p:sp>
        <p:nvSpPr>
          <p:cNvPr id="14" name="Slide 10 port note"/>
          <p:cNvSpPr txBox="1"/>
          <p:nvPr/>
        </p:nvSpPr>
        <p:spPr>
          <a:xfrm>
            <a:off x="4274820" y="6523074"/>
            <a:ext cx="10561320" cy="201168"/>
          </a:xfrm>
          <a:prstGeom prst="rect">
            <a:avLst/>
          </a:prstGeom>
          <a:noFill/>
        </p:spPr>
        <p:txBody>
          <a:bodyPr wrap="square">
            <a:normAutofit fontScale="92500" lnSpcReduction="10000"/>
          </a:bodyPr>
          <a:lstStyle/>
          <a:p>
            <a:pPr algn="ctr"/>
            <a:r>
              <a:rPr sz="900" b="0" dirty="0">
                <a:solidFill>
                  <a:srgbClr val="66707A"/>
                </a:solidFill>
                <a:latin typeface="Arial"/>
              </a:rPr>
              <a:t>Port: </a:t>
            </a:r>
            <a:r>
              <a:rPr sz="900" b="0" dirty="0" err="1">
                <a:solidFill>
                  <a:srgbClr val="66707A"/>
                </a:solidFill>
                <a:latin typeface="Arial"/>
              </a:rPr>
              <a:t>StockPriceProviderPort</a:t>
            </a:r>
            <a:r>
              <a:rPr sz="900" b="0" dirty="0">
                <a:solidFill>
                  <a:srgbClr val="66707A"/>
                </a:solidFill>
                <a:latin typeface="Arial"/>
              </a:rPr>
              <a:t> · </a:t>
            </a:r>
            <a:r>
              <a:rPr sz="900" b="0" dirty="0" err="1">
                <a:solidFill>
                  <a:srgbClr val="66707A"/>
                </a:solidFill>
                <a:latin typeface="Arial"/>
              </a:rPr>
              <a:t>Adaptadors</a:t>
            </a:r>
            <a:r>
              <a:rPr sz="900" b="0" dirty="0">
                <a:solidFill>
                  <a:srgbClr val="66707A"/>
                </a:solidFill>
                <a:latin typeface="Arial"/>
              </a:rPr>
              <a:t>: </a:t>
            </a:r>
            <a:r>
              <a:rPr sz="900" b="0" dirty="0" err="1">
                <a:solidFill>
                  <a:srgbClr val="66707A"/>
                </a:solidFill>
                <a:latin typeface="Arial"/>
              </a:rPr>
              <a:t>Finnhub</a:t>
            </a:r>
            <a:r>
              <a:rPr sz="900" b="0" dirty="0">
                <a:solidFill>
                  <a:srgbClr val="66707A"/>
                </a:solidFill>
                <a:latin typeface="Arial"/>
              </a:rPr>
              <a:t>, Alpha Vantage, mock</a:t>
            </a:r>
          </a:p>
        </p:txBody>
      </p:sp>
      <p:pic>
        <p:nvPicPr>
          <p:cNvPr id="7" name="Imagen 6">
            <a:extLst>
              <a:ext uri="{FF2B5EF4-FFF2-40B4-BE49-F238E27FC236}">
                <a16:creationId xmlns:a16="http://schemas.microsoft.com/office/drawing/2014/main" id="{A6EDC6F8-5757-04F1-70A5-BEE4AFAFA36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2128" y="1101320"/>
            <a:ext cx="10757264" cy="5348071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8961120" cy="50292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2800" b="1" dirty="0">
                <a:solidFill>
                  <a:srgbClr val="192D3E"/>
                </a:solidFill>
                <a:latin typeface="Arial"/>
              </a:rPr>
              <a:t>Flux </a:t>
            </a:r>
            <a:r>
              <a:rPr sz="2800" b="1" dirty="0" err="1">
                <a:solidFill>
                  <a:srgbClr val="192D3E"/>
                </a:solidFill>
                <a:latin typeface="Arial"/>
              </a:rPr>
              <a:t>i</a:t>
            </a:r>
            <a:r>
              <a:rPr sz="2800" b="1" dirty="0">
                <a:solidFill>
                  <a:srgbClr val="192D3E"/>
                </a:solidFill>
                <a:latin typeface="Arial"/>
              </a:rPr>
              <a:t> </a:t>
            </a:r>
            <a:r>
              <a:rPr sz="2800" b="1" dirty="0" err="1">
                <a:solidFill>
                  <a:srgbClr val="192D3E"/>
                </a:solidFill>
                <a:latin typeface="Arial"/>
              </a:rPr>
              <a:t>codi</a:t>
            </a:r>
            <a:r>
              <a:rPr sz="2800" b="1" dirty="0">
                <a:solidFill>
                  <a:srgbClr val="192D3E"/>
                </a:solidFill>
                <a:latin typeface="Arial"/>
              </a:rPr>
              <a:t> </a:t>
            </a:r>
            <a:r>
              <a:rPr sz="2800" b="1" dirty="0" err="1">
                <a:solidFill>
                  <a:srgbClr val="192D3E"/>
                </a:solidFill>
                <a:latin typeface="Arial"/>
              </a:rPr>
              <a:t>essencial</a:t>
            </a:r>
            <a:endParaRPr sz="2800" b="1" dirty="0">
              <a:solidFill>
                <a:srgbClr val="192D3E"/>
              </a:solidFill>
              <a:latin typeface="Arial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612648" y="822960"/>
            <a:ext cx="886968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300" b="0" dirty="0">
                <a:solidFill>
                  <a:srgbClr val="66707A"/>
                </a:solidFill>
                <a:latin typeface="Arial"/>
              </a:rPr>
              <a:t>El </a:t>
            </a:r>
            <a:r>
              <a:rPr sz="1300" b="0" dirty="0" err="1">
                <a:solidFill>
                  <a:srgbClr val="66707A"/>
                </a:solidFill>
                <a:latin typeface="Arial"/>
              </a:rPr>
              <a:t>servei</a:t>
            </a:r>
            <a:r>
              <a:rPr sz="1300" b="0" dirty="0">
                <a:solidFill>
                  <a:srgbClr val="66707A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66707A"/>
                </a:solidFill>
                <a:latin typeface="Arial"/>
              </a:rPr>
              <a:t>coordina</a:t>
            </a:r>
            <a:r>
              <a:rPr sz="1300" b="0" dirty="0">
                <a:solidFill>
                  <a:srgbClr val="66707A"/>
                </a:solidFill>
                <a:latin typeface="Arial"/>
              </a:rPr>
              <a:t>. El domini </a:t>
            </a:r>
            <a:r>
              <a:rPr sz="1300" b="0" dirty="0" err="1">
                <a:solidFill>
                  <a:srgbClr val="66707A"/>
                </a:solidFill>
                <a:latin typeface="Arial"/>
              </a:rPr>
              <a:t>decideix</a:t>
            </a:r>
            <a:r>
              <a:rPr sz="1300" b="0" dirty="0">
                <a:solidFill>
                  <a:srgbClr val="66707A"/>
                </a:solidFill>
                <a:latin typeface="Arial"/>
              </a:rPr>
              <a:t>. </a:t>
            </a:r>
            <a:r>
              <a:rPr lang="es-ES" sz="1300" b="0" dirty="0" err="1">
                <a:solidFill>
                  <a:srgbClr val="66707A"/>
                </a:solidFill>
                <a:latin typeface="Arial"/>
              </a:rPr>
              <a:t>L'adaptador</a:t>
            </a:r>
            <a:r>
              <a:rPr lang="es-ES" sz="1300" b="0" dirty="0">
                <a:solidFill>
                  <a:srgbClr val="66707A"/>
                </a:solidFill>
                <a:latin typeface="Arial"/>
              </a:rPr>
              <a:t> integra </a:t>
            </a:r>
            <a:r>
              <a:rPr lang="es-ES" sz="1300" b="0" dirty="0" err="1">
                <a:solidFill>
                  <a:srgbClr val="66707A"/>
                </a:solidFill>
                <a:latin typeface="Arial"/>
              </a:rPr>
              <a:t>amb</a:t>
            </a:r>
            <a:r>
              <a:rPr lang="es-ES" sz="1300" b="0" dirty="0">
                <a:solidFill>
                  <a:srgbClr val="66707A"/>
                </a:solidFill>
                <a:latin typeface="Arial"/>
              </a:rPr>
              <a:t> infraestructura </a:t>
            </a:r>
            <a:r>
              <a:rPr lang="es-ES" sz="1300" b="0" dirty="0" err="1">
                <a:solidFill>
                  <a:srgbClr val="66707A"/>
                </a:solidFill>
                <a:latin typeface="Arial"/>
              </a:rPr>
              <a:t>tecnològica</a:t>
            </a:r>
            <a:r>
              <a:rPr lang="es-ES" sz="1300" b="0" dirty="0">
                <a:solidFill>
                  <a:srgbClr val="66707A"/>
                </a:solidFill>
                <a:latin typeface="Arial"/>
              </a:rPr>
              <a:t>. </a:t>
            </a:r>
            <a:endParaRPr sz="1300" b="0" dirty="0">
              <a:solidFill>
                <a:srgbClr val="66707A"/>
              </a:solidFill>
              <a:latin typeface="Arial"/>
            </a:endParaRPr>
          </a:p>
        </p:txBody>
      </p:sp>
      <p:pic>
        <p:nvPicPr>
          <p:cNvPr id="4" name="Picture 3" descr="logotip-oficial-tecnocampus-upf-horitzontal-colo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80078" y="293025"/>
            <a:ext cx="3041362" cy="575655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94360" y="1115568"/>
            <a:ext cx="10972800" cy="13716"/>
          </a:xfrm>
          <a:prstGeom prst="rect">
            <a:avLst/>
          </a:prstGeom>
          <a:solidFill>
            <a:srgbClr val="D6DB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94360" y="6473952"/>
            <a:ext cx="859536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800" b="0">
                <a:solidFill>
                  <a:srgbClr val="66707A"/>
                </a:solidFill>
                <a:latin typeface="Arial"/>
              </a:rPr>
              <a:t>Disseny de Sistemes d'Informació · Ports de sortida en arquitectura hexagonal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55680" y="6473952"/>
            <a:ext cx="41148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r"/>
            <a:r>
              <a:rPr sz="800" b="0">
                <a:solidFill>
                  <a:srgbClr val="66707A"/>
                </a:solidFill>
                <a:latin typeface="Arial"/>
              </a:rPr>
              <a:t>10</a:t>
            </a:r>
          </a:p>
        </p:txBody>
      </p:sp>
      <p:pic>
        <p:nvPicPr>
          <p:cNvPr id="12" name="Sell stock sequence simplified" descr="sell-stock-sequenc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5328" y="1371599"/>
            <a:ext cx="11191832" cy="4696625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8961120" cy="50292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2800" b="1">
                <a:solidFill>
                  <a:srgbClr val="192D3E"/>
                </a:solidFill>
                <a:latin typeface="Arial"/>
              </a:rPr>
              <a:t>Agraïment</a:t>
            </a:r>
          </a:p>
        </p:txBody>
      </p:sp>
      <p:pic>
        <p:nvPicPr>
          <p:cNvPr id="3" name="Picture 2" descr="logotip-oficial-tecnocampus-upf-horitzontal-colo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80078" y="293025"/>
            <a:ext cx="3041362" cy="575655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94360" y="1115568"/>
            <a:ext cx="10972800" cy="13716"/>
          </a:xfrm>
          <a:prstGeom prst="rect">
            <a:avLst/>
          </a:prstGeom>
          <a:solidFill>
            <a:srgbClr val="D6DB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178973" y="1874094"/>
            <a:ext cx="9834053" cy="178052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Vull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expressar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 el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meu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agraïment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 al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TecnoCampus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 per un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entorn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 que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m’encoratja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 a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créixer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,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tant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 en la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docència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com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 en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l’àmbit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acadèmic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, al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costat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d’un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equip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 del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qual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aprenc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 i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amb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 qui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comparteixo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coneixement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,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responsabilitat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 i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compromís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amb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 la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formació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universitària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.</a:t>
            </a:r>
            <a:endParaRPr sz="2400" b="0" dirty="0">
              <a:solidFill>
                <a:srgbClr val="192D3E"/>
              </a:solidFill>
              <a:latin typeface="Arial"/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1885683" y="4295446"/>
            <a:ext cx="8595360" cy="1217428"/>
          </a:xfrm>
          <a:prstGeom prst="roundRect">
            <a:avLst/>
          </a:prstGeom>
          <a:solidFill>
            <a:srgbClr val="F7F8FA"/>
          </a:solidFill>
          <a:ln w="9525">
            <a:solidFill>
              <a:srgbClr val="DCE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2046235" y="4399432"/>
            <a:ext cx="8099528" cy="868681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600" b="0" dirty="0" err="1">
                <a:solidFill>
                  <a:srgbClr val="192D3E"/>
                </a:solidFill>
                <a:latin typeface="Arial"/>
              </a:rPr>
              <a:t>Agraïment</a:t>
            </a:r>
            <a:r>
              <a:rPr sz="1600" b="0" dirty="0">
                <a:solidFill>
                  <a:srgbClr val="192D3E"/>
                </a:solidFill>
                <a:latin typeface="Arial"/>
              </a:rPr>
              <a:t> especial al Dr. Josep </a:t>
            </a:r>
            <a:r>
              <a:rPr sz="1600" b="0" dirty="0" err="1">
                <a:solidFill>
                  <a:srgbClr val="192D3E"/>
                </a:solidFill>
                <a:latin typeface="Arial"/>
              </a:rPr>
              <a:t>Roure</a:t>
            </a:r>
            <a:r>
              <a:rPr sz="1600" b="0" dirty="0">
                <a:solidFill>
                  <a:srgbClr val="192D3E"/>
                </a:solidFill>
                <a:latin typeface="Arial"/>
              </a:rPr>
              <a:t>, company professor del </a:t>
            </a:r>
            <a:r>
              <a:rPr sz="1600" b="0" dirty="0" err="1">
                <a:solidFill>
                  <a:srgbClr val="192D3E"/>
                </a:solidFill>
                <a:latin typeface="Arial"/>
              </a:rPr>
              <a:t>TecnoCampus</a:t>
            </a:r>
            <a:r>
              <a:rPr sz="1600" b="0" dirty="0">
                <a:solidFill>
                  <a:srgbClr val="192D3E"/>
                </a:solidFill>
                <a:latin typeface="Arial"/>
              </a:rPr>
              <a:t>, </a:t>
            </a:r>
            <a:r>
              <a:rPr sz="1600" b="0" dirty="0" err="1">
                <a:solidFill>
                  <a:srgbClr val="192D3E"/>
                </a:solidFill>
                <a:latin typeface="Arial"/>
              </a:rPr>
              <a:t>amb</a:t>
            </a:r>
            <a:r>
              <a:rPr sz="1600" b="0" dirty="0">
                <a:solidFill>
                  <a:srgbClr val="192D3E"/>
                </a:solidFill>
                <a:latin typeface="Arial"/>
              </a:rPr>
              <a:t> qui he </a:t>
            </a:r>
            <a:r>
              <a:rPr sz="1600" b="0" dirty="0" err="1">
                <a:solidFill>
                  <a:srgbClr val="192D3E"/>
                </a:solidFill>
                <a:latin typeface="Arial"/>
              </a:rPr>
              <a:t>tingut</a:t>
            </a:r>
            <a:r>
              <a:rPr sz="1600" b="0" dirty="0">
                <a:solidFill>
                  <a:srgbClr val="192D3E"/>
                </a:solidFill>
                <a:latin typeface="Arial"/>
              </a:rPr>
              <a:t> </a:t>
            </a:r>
            <a:r>
              <a:rPr sz="1600" b="0" dirty="0" err="1">
                <a:solidFill>
                  <a:srgbClr val="192D3E"/>
                </a:solidFill>
                <a:latin typeface="Arial"/>
              </a:rPr>
              <a:t>l'oportunitat</a:t>
            </a:r>
            <a:r>
              <a:rPr sz="1600" b="0" dirty="0">
                <a:solidFill>
                  <a:srgbClr val="192D3E"/>
                </a:solidFill>
                <a:latin typeface="Arial"/>
              </a:rPr>
              <a:t> </a:t>
            </a:r>
            <a:r>
              <a:rPr sz="1600" b="0" dirty="0" err="1">
                <a:solidFill>
                  <a:srgbClr val="192D3E"/>
                </a:solidFill>
                <a:latin typeface="Arial"/>
              </a:rPr>
              <a:t>d'aprendre</a:t>
            </a:r>
            <a:r>
              <a:rPr sz="1600" b="0" dirty="0">
                <a:solidFill>
                  <a:srgbClr val="192D3E"/>
                </a:solidFill>
                <a:latin typeface="Arial"/>
              </a:rPr>
              <a:t> </a:t>
            </a:r>
            <a:r>
              <a:rPr sz="1600" b="0" dirty="0" err="1">
                <a:solidFill>
                  <a:srgbClr val="192D3E"/>
                </a:solidFill>
                <a:latin typeface="Arial"/>
              </a:rPr>
              <a:t>sobre</a:t>
            </a:r>
            <a:r>
              <a:rPr sz="1600" b="0" dirty="0">
                <a:solidFill>
                  <a:srgbClr val="192D3E"/>
                </a:solidFill>
                <a:latin typeface="Arial"/>
              </a:rPr>
              <a:t> </a:t>
            </a:r>
            <a:r>
              <a:rPr sz="1600" b="0" dirty="0" err="1">
                <a:solidFill>
                  <a:srgbClr val="192D3E"/>
                </a:solidFill>
                <a:latin typeface="Arial"/>
              </a:rPr>
              <a:t>arquitectura</a:t>
            </a:r>
            <a:r>
              <a:rPr sz="1600" b="0" dirty="0">
                <a:solidFill>
                  <a:srgbClr val="192D3E"/>
                </a:solidFill>
                <a:latin typeface="Arial"/>
              </a:rPr>
              <a:t> </a:t>
            </a:r>
            <a:r>
              <a:rPr lang="es-ES" sz="1600" dirty="0">
                <a:solidFill>
                  <a:srgbClr val="192D3E"/>
                </a:solidFill>
                <a:latin typeface="Arial"/>
              </a:rPr>
              <a:t>de </a:t>
            </a:r>
            <a:r>
              <a:rPr sz="1600" b="0" dirty="0">
                <a:solidFill>
                  <a:srgbClr val="192D3E"/>
                </a:solidFill>
                <a:latin typeface="Arial"/>
              </a:rPr>
              <a:t>software</a:t>
            </a:r>
            <a:r>
              <a:rPr lang="es-ES" sz="1600" dirty="0">
                <a:solidFill>
                  <a:srgbClr val="192D3E"/>
                </a:solidFill>
                <a:latin typeface="Arial"/>
              </a:rPr>
              <a:t>, </a:t>
            </a:r>
            <a:r>
              <a:rPr lang="es-ES" sz="1600" b="0" dirty="0" err="1">
                <a:solidFill>
                  <a:srgbClr val="192D3E"/>
                </a:solidFill>
                <a:latin typeface="Arial"/>
              </a:rPr>
              <a:t>metodologies</a:t>
            </a:r>
            <a:r>
              <a:rPr lang="es-ES" sz="1600" b="0" dirty="0">
                <a:solidFill>
                  <a:srgbClr val="192D3E"/>
                </a:solidFill>
                <a:latin typeface="Arial"/>
              </a:rPr>
              <a:t> actives </a:t>
            </a:r>
            <a:r>
              <a:rPr lang="es-ES" sz="1600" b="0" dirty="0" err="1">
                <a:solidFill>
                  <a:srgbClr val="192D3E"/>
                </a:solidFill>
                <a:latin typeface="Arial"/>
              </a:rPr>
              <a:t>d'aprenentatge</a:t>
            </a:r>
            <a:r>
              <a:rPr lang="es-ES" sz="1600" dirty="0">
                <a:solidFill>
                  <a:srgbClr val="192D3E"/>
                </a:solidFill>
                <a:latin typeface="Arial"/>
              </a:rPr>
              <a:t> i </a:t>
            </a:r>
            <a:r>
              <a:rPr lang="es-ES" sz="1600" dirty="0" err="1">
                <a:solidFill>
                  <a:srgbClr val="192D3E"/>
                </a:solidFill>
                <a:latin typeface="Arial"/>
              </a:rPr>
              <a:t>treball</a:t>
            </a:r>
            <a:r>
              <a:rPr lang="es-ES" sz="1600" dirty="0">
                <a:solidFill>
                  <a:srgbClr val="192D3E"/>
                </a:solidFill>
                <a:latin typeface="Arial"/>
              </a:rPr>
              <a:t> en </a:t>
            </a:r>
            <a:r>
              <a:rPr lang="es-ES" sz="1600" dirty="0" err="1">
                <a:solidFill>
                  <a:srgbClr val="192D3E"/>
                </a:solidFill>
                <a:latin typeface="Arial"/>
              </a:rPr>
              <a:t>equip</a:t>
            </a:r>
            <a:r>
              <a:rPr lang="es-ES" sz="1600" dirty="0">
                <a:solidFill>
                  <a:srgbClr val="192D3E"/>
                </a:solidFill>
                <a:latin typeface="Arial"/>
              </a:rPr>
              <a:t>.</a:t>
            </a:r>
            <a:endParaRPr sz="1600" b="0" dirty="0">
              <a:solidFill>
                <a:srgbClr val="192D3E"/>
              </a:solidFill>
              <a:latin typeface="Arial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594360" y="6473952"/>
            <a:ext cx="859536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800" b="0">
                <a:solidFill>
                  <a:srgbClr val="66707A"/>
                </a:solidFill>
                <a:latin typeface="Arial"/>
              </a:rPr>
              <a:t>Disseny de Sistemes d'Informació · Ports de sortida en arquitectura hexagonal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473952"/>
            <a:ext cx="41148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r"/>
            <a:r>
              <a:rPr lang="es-ES" sz="800" b="0" dirty="0">
                <a:solidFill>
                  <a:srgbClr val="66707A"/>
                </a:solidFill>
                <a:latin typeface="Arial"/>
              </a:rPr>
              <a:t>11</a:t>
            </a:r>
          </a:p>
          <a:p>
            <a:pPr algn="r"/>
            <a:endParaRPr sz="800" b="0" dirty="0">
              <a:solidFill>
                <a:srgbClr val="66707A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8961120" cy="50292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lang="es-ES" sz="2800" b="1" dirty="0" err="1">
                <a:solidFill>
                  <a:srgbClr val="192D3E"/>
                </a:solidFill>
                <a:latin typeface="Arial"/>
              </a:rPr>
              <a:t>Annex</a:t>
            </a:r>
            <a:r>
              <a:rPr lang="es-ES" sz="2800" b="1" dirty="0">
                <a:solidFill>
                  <a:srgbClr val="192D3E"/>
                </a:solidFill>
                <a:latin typeface="Arial"/>
              </a:rPr>
              <a:t>. Demo opcional</a:t>
            </a:r>
            <a:endParaRPr sz="2800" b="1" dirty="0">
              <a:solidFill>
                <a:srgbClr val="192D3E"/>
              </a:solidFill>
              <a:latin typeface="Arial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612648" y="822960"/>
            <a:ext cx="886968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300" b="0">
                <a:solidFill>
                  <a:srgbClr val="66707A"/>
                </a:solidFill>
                <a:latin typeface="Arial"/>
              </a:rPr>
              <a:t>Mateix cas d'ús, adaptador substituïble</a:t>
            </a:r>
          </a:p>
        </p:txBody>
      </p:sp>
      <p:pic>
        <p:nvPicPr>
          <p:cNvPr id="4" name="Picture 3" descr="logotip-oficial-tecnocampus-upf-horitzontal-colo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80078" y="293025"/>
            <a:ext cx="3041362" cy="575655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94360" y="1115568"/>
            <a:ext cx="10972800" cy="13716"/>
          </a:xfrm>
          <a:prstGeom prst="rect">
            <a:avLst/>
          </a:prstGeom>
          <a:solidFill>
            <a:srgbClr val="D6DB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14400" y="1325880"/>
            <a:ext cx="10287000" cy="502920"/>
          </a:xfrm>
          <a:prstGeom prst="rect">
            <a:avLst/>
          </a:prstGeom>
          <a:noFill/>
        </p:spPr>
        <p:txBody>
          <a:bodyPr wrap="square">
            <a:normAutofit fontScale="85000" lnSpcReduction="10000"/>
          </a:bodyPr>
          <a:lstStyle/>
          <a:p>
            <a:pPr algn="ctr"/>
            <a:r>
              <a:rPr sz="1800" b="0" dirty="0" err="1">
                <a:solidFill>
                  <a:srgbClr val="192D3E"/>
                </a:solidFill>
                <a:latin typeface="Arial"/>
              </a:rPr>
              <a:t>HexaStock és un projecte open source propi utilitzat en docència universitària i formació o consultoria professional.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68680" y="2240280"/>
            <a:ext cx="3246120" cy="960120"/>
          </a:xfrm>
          <a:prstGeom prst="roundRect">
            <a:avLst/>
          </a:prstGeom>
          <a:solidFill>
            <a:srgbClr val="E8F1F8"/>
          </a:solidFill>
          <a:ln w="9525">
            <a:solidFill>
              <a:srgbClr val="DCE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051560" y="2542032"/>
            <a:ext cx="2880360" cy="256032"/>
          </a:xfrm>
          <a:prstGeom prst="rect">
            <a:avLst/>
          </a:prstGeom>
          <a:noFill/>
        </p:spPr>
        <p:txBody>
          <a:bodyPr wrap="square">
            <a:normAutofit fontScale="70000" lnSpcReduction="20000"/>
          </a:bodyPr>
          <a:lstStyle/>
          <a:p>
            <a:pPr algn="ctr"/>
            <a:r>
              <a:rPr sz="1900" b="1" dirty="0" err="1">
                <a:solidFill>
                  <a:srgbClr val="192D3E"/>
                </a:solidFill>
                <a:latin typeface="Arial"/>
              </a:rPr>
              <a:t>Mateix</a:t>
            </a:r>
            <a:r>
              <a:rPr sz="1900" b="1" dirty="0">
                <a:solidFill>
                  <a:srgbClr val="192D3E"/>
                </a:solidFill>
                <a:latin typeface="Arial"/>
              </a:rPr>
              <a:t> </a:t>
            </a:r>
            <a:r>
              <a:rPr sz="1900" b="1" dirty="0" err="1">
                <a:solidFill>
                  <a:srgbClr val="192D3E"/>
                </a:solidFill>
                <a:latin typeface="Arial"/>
              </a:rPr>
              <a:t>cas</a:t>
            </a:r>
            <a:r>
              <a:rPr sz="1900" b="1" dirty="0">
                <a:solidFill>
                  <a:srgbClr val="192D3E"/>
                </a:solidFill>
                <a:latin typeface="Arial"/>
              </a:rPr>
              <a:t> </a:t>
            </a:r>
            <a:r>
              <a:rPr sz="1900" b="1" dirty="0" err="1">
                <a:solidFill>
                  <a:srgbClr val="192D3E"/>
                </a:solidFill>
                <a:latin typeface="Arial"/>
              </a:rPr>
              <a:t>d'ús</a:t>
            </a:r>
            <a:endParaRPr sz="1900" b="1" dirty="0">
              <a:solidFill>
                <a:srgbClr val="192D3E"/>
              </a:solidFill>
              <a:latin typeface="Arial"/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4572000" y="2240280"/>
            <a:ext cx="3246120" cy="960120"/>
          </a:xfrm>
          <a:prstGeom prst="roundRect">
            <a:avLst/>
          </a:prstGeom>
          <a:solidFill>
            <a:srgbClr val="FFF3D6"/>
          </a:solidFill>
          <a:ln w="9525">
            <a:solidFill>
              <a:srgbClr val="DCE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754880" y="2542032"/>
            <a:ext cx="2880360" cy="256032"/>
          </a:xfrm>
          <a:prstGeom prst="rect">
            <a:avLst/>
          </a:prstGeom>
          <a:noFill/>
        </p:spPr>
        <p:txBody>
          <a:bodyPr wrap="square">
            <a:normAutofit fontScale="70000" lnSpcReduction="20000"/>
          </a:bodyPr>
          <a:lstStyle/>
          <a:p>
            <a:pPr algn="ctr"/>
            <a:r>
              <a:rPr sz="1900" b="1" dirty="0" err="1">
                <a:solidFill>
                  <a:srgbClr val="192D3E"/>
                </a:solidFill>
                <a:latin typeface="Arial"/>
              </a:rPr>
              <a:t>Mateix</a:t>
            </a:r>
            <a:r>
              <a:rPr sz="1900" b="1" dirty="0">
                <a:solidFill>
                  <a:srgbClr val="192D3E"/>
                </a:solidFill>
                <a:latin typeface="Arial"/>
              </a:rPr>
              <a:t> </a:t>
            </a:r>
            <a:r>
              <a:rPr lang="es-ES" sz="1900" b="1" dirty="0">
                <a:solidFill>
                  <a:srgbClr val="192D3E"/>
                </a:solidFill>
                <a:latin typeface="Arial"/>
              </a:rPr>
              <a:t>S</a:t>
            </a:r>
            <a:r>
              <a:rPr sz="1900" b="1" dirty="0" err="1">
                <a:solidFill>
                  <a:srgbClr val="192D3E"/>
                </a:solidFill>
                <a:latin typeface="Arial"/>
              </a:rPr>
              <a:t>ervei</a:t>
            </a:r>
            <a:r>
              <a:rPr lang="es-ES" sz="1900" b="1" dirty="0">
                <a:solidFill>
                  <a:srgbClr val="192D3E"/>
                </a:solidFill>
                <a:latin typeface="Arial"/>
              </a:rPr>
              <a:t> </a:t>
            </a:r>
            <a:r>
              <a:rPr lang="es-ES" sz="1900" b="1" dirty="0" err="1">
                <a:solidFill>
                  <a:srgbClr val="192D3E"/>
                </a:solidFill>
                <a:latin typeface="Arial"/>
              </a:rPr>
              <a:t>d’Aplicació</a:t>
            </a:r>
            <a:endParaRPr lang="es-ES" sz="1900" b="1" dirty="0">
              <a:solidFill>
                <a:srgbClr val="192D3E"/>
              </a:solidFill>
              <a:latin typeface="Arial"/>
            </a:endParaRPr>
          </a:p>
          <a:p>
            <a:pPr algn="ctr"/>
            <a:endParaRPr sz="1900" b="1" dirty="0">
              <a:solidFill>
                <a:srgbClr val="192D3E"/>
              </a:solidFill>
              <a:latin typeface="Arial"/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8275319" y="2240280"/>
            <a:ext cx="3246120" cy="960120"/>
          </a:xfrm>
          <a:prstGeom prst="roundRect">
            <a:avLst/>
          </a:prstGeom>
          <a:solidFill>
            <a:srgbClr val="EBF6F0"/>
          </a:solidFill>
          <a:ln w="9525">
            <a:solidFill>
              <a:srgbClr val="DCE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458199" y="2542032"/>
            <a:ext cx="2880360" cy="256032"/>
          </a:xfrm>
          <a:prstGeom prst="rect">
            <a:avLst/>
          </a:prstGeom>
          <a:noFill/>
        </p:spPr>
        <p:txBody>
          <a:bodyPr wrap="square">
            <a:normAutofit fontScale="70000" lnSpcReduction="20000"/>
          </a:bodyPr>
          <a:lstStyle/>
          <a:p>
            <a:pPr algn="ctr"/>
            <a:r>
              <a:rPr sz="1900" b="1" dirty="0" err="1">
                <a:solidFill>
                  <a:srgbClr val="192D3E"/>
                </a:solidFill>
                <a:latin typeface="Arial"/>
              </a:rPr>
              <a:t>Mateix</a:t>
            </a:r>
            <a:r>
              <a:rPr sz="1900" b="1" dirty="0">
                <a:solidFill>
                  <a:srgbClr val="192D3E"/>
                </a:solidFill>
                <a:latin typeface="Arial"/>
              </a:rPr>
              <a:t> domini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" y="3886200"/>
            <a:ext cx="10058400" cy="502920"/>
          </a:xfrm>
          <a:prstGeom prst="rect">
            <a:avLst/>
          </a:prstGeom>
          <a:noFill/>
        </p:spPr>
        <p:txBody>
          <a:bodyPr wrap="square">
            <a:normAutofit fontScale="92500"/>
          </a:bodyPr>
          <a:lstStyle/>
          <a:p>
            <a:pPr algn="ctr"/>
            <a:r>
              <a:rPr lang="es-ES" sz="2600" b="1" dirty="0" err="1">
                <a:solidFill>
                  <a:srgbClr val="236092"/>
                </a:solidFill>
                <a:latin typeface="Arial"/>
              </a:rPr>
              <a:t>Canvi</a:t>
            </a:r>
            <a:r>
              <a:rPr lang="es-ES" sz="2600" b="1" dirty="0">
                <a:solidFill>
                  <a:srgbClr val="236092"/>
                </a:solidFill>
                <a:latin typeface="Arial"/>
              </a:rPr>
              <a:t> </a:t>
            </a:r>
            <a:r>
              <a:rPr lang="es-ES" sz="2600" b="1" dirty="0" err="1">
                <a:solidFill>
                  <a:srgbClr val="236092"/>
                </a:solidFill>
                <a:latin typeface="Arial"/>
              </a:rPr>
              <a:t>tecnològic</a:t>
            </a:r>
            <a:r>
              <a:rPr lang="es-ES" sz="2600" b="1" dirty="0">
                <a:solidFill>
                  <a:srgbClr val="236092"/>
                </a:solidFill>
                <a:latin typeface="Arial"/>
              </a:rPr>
              <a:t>: adaptador </a:t>
            </a:r>
            <a:r>
              <a:rPr lang="es-ES" sz="2600" b="1" dirty="0" err="1">
                <a:solidFill>
                  <a:srgbClr val="236092"/>
                </a:solidFill>
                <a:latin typeface="Arial"/>
              </a:rPr>
              <a:t>Finnhub</a:t>
            </a:r>
            <a:r>
              <a:rPr lang="es-ES" sz="2600" b="1" dirty="0">
                <a:solidFill>
                  <a:srgbClr val="236092"/>
                </a:solidFill>
                <a:latin typeface="Arial"/>
              </a:rPr>
              <a:t> ↔ adaptador Alpha </a:t>
            </a:r>
            <a:r>
              <a:rPr lang="es-ES" sz="2600" b="1" dirty="0" err="1">
                <a:solidFill>
                  <a:srgbClr val="236092"/>
                </a:solidFill>
                <a:latin typeface="Arial"/>
              </a:rPr>
              <a:t>Vantage</a:t>
            </a:r>
            <a:endParaRPr sz="2600" b="1" dirty="0">
              <a:solidFill>
                <a:srgbClr val="236092"/>
              </a:solidFill>
              <a:latin typeface="Arial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1051560" y="5074920"/>
            <a:ext cx="10058400" cy="4572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2400" b="1" dirty="0" err="1">
                <a:solidFill>
                  <a:srgbClr val="192D3E"/>
                </a:solidFill>
                <a:latin typeface="Arial"/>
              </a:rPr>
              <a:t>Canvia</a:t>
            </a:r>
            <a:r>
              <a:rPr sz="2400" b="1" dirty="0">
                <a:solidFill>
                  <a:srgbClr val="192D3E"/>
                </a:solidFill>
                <a:latin typeface="Arial"/>
              </a:rPr>
              <a:t> la </a:t>
            </a:r>
            <a:r>
              <a:rPr sz="2400" b="1" dirty="0" err="1">
                <a:solidFill>
                  <a:srgbClr val="192D3E"/>
                </a:solidFill>
                <a:latin typeface="Arial"/>
              </a:rPr>
              <a:t>infraestructura</a:t>
            </a:r>
            <a:r>
              <a:rPr sz="2400" b="1" dirty="0">
                <a:solidFill>
                  <a:srgbClr val="192D3E"/>
                </a:solidFill>
                <a:latin typeface="Arial"/>
              </a:rPr>
              <a:t>; </a:t>
            </a:r>
            <a:r>
              <a:rPr sz="2400" b="1" dirty="0" err="1">
                <a:solidFill>
                  <a:srgbClr val="192D3E"/>
                </a:solidFill>
                <a:latin typeface="Arial"/>
              </a:rPr>
              <a:t>el</a:t>
            </a:r>
            <a:r>
              <a:rPr sz="2400" b="1" dirty="0">
                <a:solidFill>
                  <a:srgbClr val="192D3E"/>
                </a:solidFill>
                <a:latin typeface="Arial"/>
              </a:rPr>
              <a:t> </a:t>
            </a:r>
            <a:r>
              <a:rPr sz="2400" b="1" dirty="0" err="1">
                <a:solidFill>
                  <a:srgbClr val="192D3E"/>
                </a:solidFill>
                <a:latin typeface="Arial"/>
              </a:rPr>
              <a:t>cas</a:t>
            </a:r>
            <a:r>
              <a:rPr sz="2400" b="1" dirty="0">
                <a:solidFill>
                  <a:srgbClr val="192D3E"/>
                </a:solidFill>
                <a:latin typeface="Arial"/>
              </a:rPr>
              <a:t> </a:t>
            </a:r>
            <a:r>
              <a:rPr sz="2400" b="1" dirty="0" err="1">
                <a:solidFill>
                  <a:srgbClr val="192D3E"/>
                </a:solidFill>
                <a:latin typeface="Arial"/>
              </a:rPr>
              <a:t>d'ús</a:t>
            </a:r>
            <a:r>
              <a:rPr sz="2400" b="1" dirty="0">
                <a:solidFill>
                  <a:srgbClr val="192D3E"/>
                </a:solidFill>
                <a:latin typeface="Arial"/>
              </a:rPr>
              <a:t> </a:t>
            </a:r>
            <a:r>
              <a:rPr lang="es-ES" sz="2400" b="1" dirty="0">
                <a:solidFill>
                  <a:srgbClr val="192D3E"/>
                </a:solidFill>
                <a:latin typeface="Arial"/>
              </a:rPr>
              <a:t>i el </a:t>
            </a:r>
            <a:r>
              <a:rPr lang="es-ES" sz="2400" b="1" dirty="0" err="1">
                <a:solidFill>
                  <a:srgbClr val="192D3E"/>
                </a:solidFill>
                <a:latin typeface="Arial"/>
              </a:rPr>
              <a:t>domini</a:t>
            </a:r>
            <a:r>
              <a:rPr lang="es-ES" sz="2400" b="1" dirty="0">
                <a:solidFill>
                  <a:srgbClr val="192D3E"/>
                </a:solidFill>
                <a:latin typeface="Arial"/>
              </a:rPr>
              <a:t> </a:t>
            </a:r>
            <a:r>
              <a:rPr sz="2400" b="1" dirty="0">
                <a:solidFill>
                  <a:srgbClr val="192D3E"/>
                </a:solidFill>
                <a:latin typeface="Arial"/>
              </a:rPr>
              <a:t>roman</a:t>
            </a:r>
            <a:r>
              <a:rPr lang="es-ES" sz="2400" b="1" dirty="0">
                <a:solidFill>
                  <a:srgbClr val="192D3E"/>
                </a:solidFill>
                <a:latin typeface="Arial"/>
              </a:rPr>
              <a:t>en</a:t>
            </a:r>
            <a:r>
              <a:rPr sz="2400" b="1" dirty="0">
                <a:solidFill>
                  <a:srgbClr val="192D3E"/>
                </a:solidFill>
                <a:latin typeface="Arial"/>
              </a:rPr>
              <a:t> </a:t>
            </a:r>
            <a:r>
              <a:rPr sz="2400" b="1" dirty="0" err="1">
                <a:solidFill>
                  <a:srgbClr val="192D3E"/>
                </a:solidFill>
                <a:latin typeface="Arial"/>
              </a:rPr>
              <a:t>estable</a:t>
            </a:r>
            <a:r>
              <a:rPr lang="es-ES" sz="2400" b="1" dirty="0">
                <a:solidFill>
                  <a:srgbClr val="192D3E"/>
                </a:solidFill>
                <a:latin typeface="Arial"/>
              </a:rPr>
              <a:t>s</a:t>
            </a:r>
            <a:r>
              <a:rPr sz="2400" b="1" dirty="0">
                <a:solidFill>
                  <a:srgbClr val="192D3E"/>
                </a:solidFill>
                <a:latin typeface="Arial"/>
              </a:rPr>
              <a:t>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6473952"/>
            <a:ext cx="859536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800" b="0">
                <a:solidFill>
                  <a:srgbClr val="66707A"/>
                </a:solidFill>
                <a:latin typeface="Arial"/>
              </a:rPr>
              <a:t>Disseny de Sistemes d'Informació · Ports de sortida en arquitectura hexagonal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55680" y="6473952"/>
            <a:ext cx="41148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r"/>
            <a:r>
              <a:rPr lang="es-ES" sz="800" b="0" dirty="0">
                <a:solidFill>
                  <a:srgbClr val="66707A"/>
                </a:solidFill>
                <a:latin typeface="Arial"/>
              </a:rPr>
              <a:t>12</a:t>
            </a:r>
          </a:p>
          <a:p>
            <a:pPr algn="r"/>
            <a:endParaRPr sz="800" b="0" dirty="0">
              <a:solidFill>
                <a:srgbClr val="66707A"/>
              </a:solidFill>
              <a:latin typeface="Arial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1739</TotalTime>
  <Words>1478</Words>
  <Application>Microsoft Macintosh PowerPoint</Application>
  <PresentationFormat>Panorámica</PresentationFormat>
  <Paragraphs>158</Paragraphs>
  <Slides>12</Slides>
  <Notes>12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12</vt:i4>
      </vt:variant>
    </vt:vector>
  </HeadingPairs>
  <TitlesOfParts>
    <vt:vector size="16" baseType="lpstr">
      <vt:lpstr>Aptos</vt:lpstr>
      <vt:lpstr>Arial</vt:lpstr>
      <vt:lpstr>Calibri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Alfredo Rueda Unsain</cp:lastModifiedBy>
  <cp:revision>38</cp:revision>
  <cp:lastPrinted>2026-07-01T20:23:23Z</cp:lastPrinted>
  <dcterms:created xsi:type="dcterms:W3CDTF">2013-01-27T09:14:16Z</dcterms:created>
  <dcterms:modified xsi:type="dcterms:W3CDTF">2026-07-05T12:18:28Z</dcterms:modified>
  <cp:category/>
</cp:coreProperties>
</file>