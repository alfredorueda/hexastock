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69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3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736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BAC575-8351-9441-AF95-237B22BB45B7}" type="datetimeFigureOut">
              <a:rPr lang="es-ES" smtClean="0"/>
              <a:t>30/6/26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8C99D2-5180-AE4F-A32B-A5730E8BE3F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338386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PICA és la Plataforma d’Integració i Col·laboració Administrativa de la Generalitat. És una plataforma corporativa d’interoperabilitat que permet l’accés a informació d’organismes de la Generalitat, altres administracions públiques i institucions, i també facilita la integració entre sistemes d’informació departamentals i la plataforma de tramitació corporativa.</a:t>
            </a:r>
          </a:p>
          <a:p>
            <a:endParaRPr/>
          </a:p>
          <a:p>
            <a:r>
              <a:t>Per a aquesta microlliçó, la idea important és funcional: el procediment necessita informació administrativa fiable; no necessita dependre d’una API concreta en el llenguatge del cas d’ús.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PICA és la Plataforma d’Integració i Col·laboració Administrativa de la Generalitat. És una plataforma corporativa d’interoperabilitat que permet accedir a informació d’altres administracions i integrar sistemes departamentals amb la tramitació corporativa.</a:t>
            </a:r>
          </a:p>
          <a:p>
            <a:endParaRPr/>
          </a:p>
          <a:p>
            <a:r>
              <a:t>Aquí és important no presentar PICA com el problema. PICA és una plataforma corporativa d’interoperabilitat. El problema arquitectònic és que el cas d’ús o la lògica del procediment administratiu depenguin directament dels detalls tècnics de la integració, com SOAP/XML, DTOs o clients específics.</a:t>
            </a:r>
          </a:p>
          <a:p>
            <a:endParaRPr/>
          </a:p>
          <a:p>
            <a:r>
              <a:t>En el context de la consultoria a AGAUR, el problema no era consumir PICA. El problema era que part de la lògica del procediment administratiu quedava massa vinculada a crides SOAP/XML i a detalls tècnics d’integració. Si en el futur el mecanisme corporatiu d’interoperabilitat evoluciona cap a REST, API Manager o altres models, aquest acoblament genera un risc molt alt de manteniment i continuïtat operativa.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1234440"/>
            <a:ext cx="9875520" cy="82296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l"/>
            <a:r>
              <a:rPr sz="3200" b="1">
                <a:solidFill>
                  <a:srgbClr val="192D3E"/>
                </a:solidFill>
                <a:latin typeface="Arial"/>
              </a:rPr>
              <a:t>Disseny de ports de sortida en arquitectura hexagonal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41517"/>
            <a:ext cx="932688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es-ES" sz="2100" dirty="0">
                <a:solidFill>
                  <a:srgbClr val="236092"/>
                </a:solidFill>
                <a:latin typeface="Arial"/>
              </a:rPr>
              <a:t>D</a:t>
            </a:r>
            <a:r>
              <a:rPr sz="2100" b="0" dirty="0" err="1">
                <a:solidFill>
                  <a:srgbClr val="236092"/>
                </a:solidFill>
                <a:latin typeface="Arial"/>
              </a:rPr>
              <a:t>esacoblament</a:t>
            </a:r>
            <a:r>
              <a:rPr sz="2100" b="0" dirty="0">
                <a:solidFill>
                  <a:srgbClr val="236092"/>
                </a:solidFill>
                <a:latin typeface="Arial"/>
              </a:rPr>
              <a:t> entre </a:t>
            </a:r>
            <a:r>
              <a:rPr sz="2100" b="0" dirty="0" err="1">
                <a:solidFill>
                  <a:srgbClr val="236092"/>
                </a:solidFill>
                <a:latin typeface="Arial"/>
              </a:rPr>
              <a:t>casos</a:t>
            </a:r>
            <a:r>
              <a:rPr sz="2100" b="0" dirty="0">
                <a:solidFill>
                  <a:srgbClr val="236092"/>
                </a:solidFill>
                <a:latin typeface="Arial"/>
              </a:rPr>
              <a:t> </a:t>
            </a:r>
            <a:r>
              <a:rPr sz="2100" b="0" dirty="0" err="1">
                <a:solidFill>
                  <a:srgbClr val="236092"/>
                </a:solidFill>
                <a:latin typeface="Arial"/>
              </a:rPr>
              <a:t>d'ús</a:t>
            </a:r>
            <a:r>
              <a:rPr sz="2100" b="0" dirty="0">
                <a:solidFill>
                  <a:srgbClr val="236092"/>
                </a:solidFill>
                <a:latin typeface="Arial"/>
              </a:rPr>
              <a:t>, domini </a:t>
            </a:r>
            <a:r>
              <a:rPr sz="2100" b="0" dirty="0" err="1">
                <a:solidFill>
                  <a:srgbClr val="236092"/>
                </a:solidFill>
                <a:latin typeface="Arial"/>
              </a:rPr>
              <a:t>i</a:t>
            </a:r>
            <a:r>
              <a:rPr sz="2100" b="0" dirty="0">
                <a:solidFill>
                  <a:srgbClr val="236092"/>
                </a:solidFill>
                <a:latin typeface="Arial"/>
              </a:rPr>
              <a:t> APIs externes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788920"/>
            <a:ext cx="960120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800" b="0" dirty="0">
                <a:solidFill>
                  <a:srgbClr val="262626"/>
                </a:solidFill>
                <a:latin typeface="Arial"/>
              </a:rPr>
              <a:t>Una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microlliçó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de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Disseny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de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Sistemes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d'Informació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a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partir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d'un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cas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real de </a:t>
            </a:r>
            <a:r>
              <a:rPr lang="es-ES" dirty="0">
                <a:solidFill>
                  <a:srgbClr val="262626"/>
                </a:solidFill>
                <a:latin typeface="Arial"/>
              </a:rPr>
              <a:t>la Generalitat de Catalunya</a:t>
            </a:r>
          </a:p>
          <a:p>
            <a:pPr algn="l"/>
            <a:endParaRPr sz="1800" b="0" dirty="0">
              <a:solidFill>
                <a:srgbClr val="262626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4663440"/>
            <a:ext cx="6858000" cy="777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0">
                <a:solidFill>
                  <a:srgbClr val="66707A"/>
                </a:solidFill>
                <a:latin typeface="Arial"/>
              </a:rPr>
              <a:t>Alfredo Rueda Unsain
Defensa de plaça de professorat permanent
TecnoCampus · classe magistral reduïda, 20 minuts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On som dins l'assignatura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66707A"/>
                </a:solidFill>
                <a:latin typeface="Arial"/>
              </a:rPr>
              <a:t>Disseny de Sistemes d'Informació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508760"/>
            <a:ext cx="3749039" cy="91440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2800" b="1">
                <a:solidFill>
                  <a:srgbClr val="192D3E"/>
                </a:solidFill>
                <a:latin typeface="Arial"/>
              </a:rPr>
              <a:t>Disseny de Sistemes d'Informació
3r curs · 6 ECTS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00600" y="1508760"/>
            <a:ext cx="45720" cy="3200400"/>
          </a:xfrm>
          <a:prstGeom prst="roundRect">
            <a:avLst/>
          </a:prstGeom>
          <a:solidFill>
            <a:srgbClr val="236092"/>
          </a:solidFill>
          <a:ln w="9525">
            <a:solidFill>
              <a:srgbClr val="2360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166360" y="1508760"/>
            <a:ext cx="5394960" cy="10515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3000" b="1" dirty="0">
                <a:solidFill>
                  <a:srgbClr val="192D3E"/>
                </a:solidFill>
                <a:latin typeface="Arial"/>
              </a:rPr>
              <a:t>Ports de </a:t>
            </a:r>
            <a:r>
              <a:rPr sz="3000" b="1" dirty="0" err="1">
                <a:solidFill>
                  <a:srgbClr val="192D3E"/>
                </a:solidFill>
                <a:latin typeface="Arial"/>
              </a:rPr>
              <a:t>sortida</a:t>
            </a:r>
            <a:r>
              <a:rPr sz="3000" b="1" dirty="0">
                <a:solidFill>
                  <a:srgbClr val="192D3E"/>
                </a:solidFill>
                <a:latin typeface="Arial"/>
              </a:rPr>
              <a:t>
</a:t>
            </a:r>
            <a:r>
              <a:rPr sz="3000" b="1" dirty="0" err="1">
                <a:solidFill>
                  <a:srgbClr val="192D3E"/>
                </a:solidFill>
                <a:latin typeface="Arial"/>
              </a:rPr>
              <a:t>en</a:t>
            </a:r>
            <a:r>
              <a:rPr sz="30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3000" b="1" dirty="0">
                <a:solidFill>
                  <a:srgbClr val="192D3E"/>
                </a:solidFill>
                <a:latin typeface="Arial"/>
              </a:rPr>
              <a:t>A</a:t>
            </a:r>
            <a:r>
              <a:rPr sz="3000" b="1" dirty="0" err="1">
                <a:solidFill>
                  <a:srgbClr val="192D3E"/>
                </a:solidFill>
                <a:latin typeface="Arial"/>
              </a:rPr>
              <a:t>rquitectura</a:t>
            </a:r>
            <a:r>
              <a:rPr sz="30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3000" b="1" dirty="0">
                <a:solidFill>
                  <a:srgbClr val="192D3E"/>
                </a:solidFill>
                <a:latin typeface="Arial"/>
              </a:rPr>
              <a:t>H</a:t>
            </a:r>
            <a:r>
              <a:rPr sz="3000" b="1" dirty="0" err="1">
                <a:solidFill>
                  <a:srgbClr val="192D3E"/>
                </a:solidFill>
                <a:latin typeface="Arial"/>
              </a:rPr>
              <a:t>exagonal</a:t>
            </a:r>
            <a:endParaRPr sz="30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394960" y="2971800"/>
            <a:ext cx="4983480" cy="1143000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2200" b="0" dirty="0">
                <a:solidFill>
                  <a:srgbClr val="262626"/>
                </a:solidFill>
                <a:latin typeface="Arial"/>
              </a:rPr>
              <a:t>
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La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sessió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se centra en el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disseny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de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ports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de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sortida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com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a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mecanisme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per separar les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necessitats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del cas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d’ús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dels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detalls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tècnics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de les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integracions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externes.</a:t>
            </a:r>
            <a:endParaRPr sz="2200" b="0" dirty="0">
              <a:solidFill>
                <a:srgbClr val="262626"/>
              </a:solidFill>
              <a:latin typeface="Arial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60120" y="5669280"/>
            <a:ext cx="98755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300" b="0">
                <a:solidFill>
                  <a:srgbClr val="66707A"/>
                </a:solidFill>
                <a:latin typeface="Arial"/>
              </a:rPr>
              <a:t>Pla docent 103322: clean/hexagonal architecture, ports i adaptadors, mapping, mòduls i DDD.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Principi de disseny</a:t>
            </a: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" y="1417320"/>
            <a:ext cx="10241280" cy="640080"/>
          </a:xfrm>
          <a:prstGeom prst="rect">
            <a:avLst/>
          </a:prstGeom>
          <a:noFill/>
        </p:spPr>
        <p:txBody>
          <a:bodyPr wrap="square">
            <a:normAutofit fontScale="92500"/>
          </a:bodyPr>
          <a:lstStyle/>
          <a:p>
            <a:pPr algn="ctr"/>
            <a:r>
              <a:rPr sz="2700" b="1" dirty="0">
                <a:solidFill>
                  <a:srgbClr val="192D3E"/>
                </a:solidFill>
                <a:latin typeface="Arial"/>
              </a:rPr>
              <a:t>El </a:t>
            </a:r>
            <a:r>
              <a:rPr sz="2700" b="1" dirty="0" err="1">
                <a:solidFill>
                  <a:srgbClr val="192D3E"/>
                </a:solidFill>
                <a:latin typeface="Arial"/>
              </a:rPr>
              <a:t>servei</a:t>
            </a:r>
            <a:r>
              <a:rPr sz="2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700" b="1" dirty="0" err="1">
                <a:solidFill>
                  <a:srgbClr val="192D3E"/>
                </a:solidFill>
                <a:latin typeface="Arial"/>
              </a:rPr>
              <a:t>d'aplicació</a:t>
            </a:r>
            <a:r>
              <a:rPr sz="2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700" b="1" dirty="0" err="1">
                <a:solidFill>
                  <a:srgbClr val="192D3E"/>
                </a:solidFill>
                <a:latin typeface="Arial"/>
              </a:rPr>
              <a:t>necessita</a:t>
            </a:r>
            <a:r>
              <a:rPr sz="2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700" b="1" dirty="0" err="1">
                <a:solidFill>
                  <a:srgbClr val="192D3E"/>
                </a:solidFill>
                <a:latin typeface="Arial"/>
              </a:rPr>
              <a:t>una</a:t>
            </a:r>
            <a:r>
              <a:rPr sz="2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700" b="1" dirty="0" err="1">
                <a:solidFill>
                  <a:srgbClr val="192D3E"/>
                </a:solidFill>
                <a:latin typeface="Arial"/>
              </a:rPr>
              <a:t>capacitat</a:t>
            </a:r>
            <a:r>
              <a:rPr sz="2700" b="1" dirty="0">
                <a:solidFill>
                  <a:srgbClr val="192D3E"/>
                </a:solidFill>
                <a:latin typeface="Arial"/>
              </a:rPr>
              <a:t>, no </a:t>
            </a:r>
            <a:r>
              <a:rPr sz="2700" b="1" dirty="0" err="1">
                <a:solidFill>
                  <a:srgbClr val="192D3E"/>
                </a:solidFill>
                <a:latin typeface="Arial"/>
              </a:rPr>
              <a:t>una</a:t>
            </a:r>
            <a:r>
              <a:rPr sz="2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700" b="1" dirty="0" err="1">
                <a:solidFill>
                  <a:srgbClr val="192D3E"/>
                </a:solidFill>
                <a:latin typeface="Arial"/>
              </a:rPr>
              <a:t>tecnologia</a:t>
            </a:r>
            <a:r>
              <a:rPr sz="2700" b="1" dirty="0">
                <a:solidFill>
                  <a:srgbClr val="192D3E"/>
                </a:solidFill>
                <a:latin typeface="Arial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3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4324096-D33B-3CBF-C022-BFBBD6A631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9017" y="2139756"/>
            <a:ext cx="8085221" cy="40278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787A17-E989-2125-8BF4-9FD64C66B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113BE6D-4BF0-DC81-2CE8-23039C4C9D58}"/>
              </a:ext>
            </a:extLst>
          </p:cNvPr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 err="1">
                <a:solidFill>
                  <a:srgbClr val="192D3E"/>
                </a:solidFill>
                <a:latin typeface="Arial"/>
              </a:rPr>
              <a:t>Objectiu d'aprenentatge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pic>
        <p:nvPicPr>
          <p:cNvPr id="3" name="Picture 2" descr="logotip-oficial-tecnocampus-upf-horitzontal-color.png">
            <a:extLst>
              <a:ext uri="{FF2B5EF4-FFF2-40B4-BE49-F238E27FC236}">
                <a16:creationId xmlns:a16="http://schemas.microsoft.com/office/drawing/2014/main" id="{6E5AEF9E-E38C-2981-74C2-DA381C8551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565CC16B-626E-E880-45E7-0DBECBCD6306}"/>
              </a:ext>
            </a:extLst>
          </p:cNvPr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442AE4-020C-7BAB-E612-2262DEB4097A}"/>
              </a:ext>
            </a:extLst>
          </p:cNvPr>
          <p:cNvSpPr txBox="1"/>
          <p:nvPr/>
        </p:nvSpPr>
        <p:spPr>
          <a:xfrm>
            <a:off x="960120" y="1417320"/>
            <a:ext cx="10195560" cy="88686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700" b="1" dirty="0">
                <a:solidFill>
                  <a:srgbClr val="192D3E"/>
                </a:solidFill>
                <a:latin typeface="Arial"/>
              </a:rPr>
              <a:t>Aplicar el principi en tres operacions observables.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64EE3A6-5D0D-EFE6-3907-91BB6540F213}"/>
              </a:ext>
            </a:extLst>
          </p:cNvPr>
          <p:cNvSpPr/>
          <p:nvPr/>
        </p:nvSpPr>
        <p:spPr>
          <a:xfrm>
            <a:off x="822960" y="2987751"/>
            <a:ext cx="3246120" cy="1600200"/>
          </a:xfrm>
          <a:prstGeom prst="roundRect">
            <a:avLst/>
          </a:prstGeom>
          <a:solidFill>
            <a:srgbClr val="F8EAE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F1223D-ADAB-E817-C2A8-78FB596BC6F8}"/>
              </a:ext>
            </a:extLst>
          </p:cNvPr>
          <p:cNvSpPr txBox="1"/>
          <p:nvPr/>
        </p:nvSpPr>
        <p:spPr>
          <a:xfrm>
            <a:off x="1024127" y="3307791"/>
            <a:ext cx="2846123" cy="9771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400" b="1" dirty="0" err="1">
                <a:solidFill>
                  <a:srgbClr val="192D3E"/>
                </a:solidFill>
                <a:latin typeface="Arial"/>
              </a:rPr>
              <a:t>Identificar
una necessitat</a:t>
            </a:r>
            <a:endParaRPr lang="es-ES" sz="2400" b="1" dirty="0">
              <a:solidFill>
                <a:srgbClr val="192D3E"/>
              </a:solidFill>
              <a:latin typeface="Arial"/>
            </a:endParaRPr>
          </a:p>
          <a:p>
            <a:pPr algn="ctr"/>
            <a:endParaRPr sz="24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460CDC97-EADA-2158-DAC3-FD27FD257839}"/>
              </a:ext>
            </a:extLst>
          </p:cNvPr>
          <p:cNvSpPr/>
          <p:nvPr/>
        </p:nvSpPr>
        <p:spPr>
          <a:xfrm>
            <a:off x="4553712" y="2987751"/>
            <a:ext cx="3246120" cy="1600200"/>
          </a:xfrm>
          <a:prstGeom prst="round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7DA438C-C49C-5E46-6F61-14F3896E8657}"/>
              </a:ext>
            </a:extLst>
          </p:cNvPr>
          <p:cNvSpPr txBox="1"/>
          <p:nvPr/>
        </p:nvSpPr>
        <p:spPr>
          <a:xfrm>
            <a:off x="4754880" y="3307791"/>
            <a:ext cx="2834640" cy="7772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2400" b="1" dirty="0" err="1">
                <a:solidFill>
                  <a:srgbClr val="192D3E"/>
                </a:solidFill>
                <a:latin typeface="Arial"/>
              </a:rPr>
              <a:t>Definir
un port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54F82A2A-9916-E9F8-2F4C-A47E7CF470BE}"/>
              </a:ext>
            </a:extLst>
          </p:cNvPr>
          <p:cNvSpPr/>
          <p:nvPr/>
        </p:nvSpPr>
        <p:spPr>
          <a:xfrm>
            <a:off x="8284464" y="2987751"/>
            <a:ext cx="3246120" cy="1600200"/>
          </a:xfrm>
          <a:prstGeom prst="roundRect">
            <a:avLst/>
          </a:prstGeom>
          <a:solidFill>
            <a:srgbClr val="EBF6F0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6C32489-28BB-E0B4-6D88-054802179775}"/>
              </a:ext>
            </a:extLst>
          </p:cNvPr>
          <p:cNvSpPr txBox="1"/>
          <p:nvPr/>
        </p:nvSpPr>
        <p:spPr>
          <a:xfrm>
            <a:off x="8485632" y="3307791"/>
            <a:ext cx="2834640" cy="7772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lang="es-ES" sz="2400" b="1" dirty="0">
                <a:solidFill>
                  <a:srgbClr val="192D3E"/>
                </a:solidFill>
                <a:latin typeface="Arial"/>
              </a:rPr>
              <a:t>Implementar
adaptadors</a:t>
            </a:r>
            <a:endParaRPr sz="24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298AC41-2EA2-3BF1-14F5-5DF9647D4D84}"/>
              </a:ext>
            </a:extLst>
          </p:cNvPr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8D08D29-A0AD-1C10-91EF-4939D83B6478}"/>
              </a:ext>
            </a:extLst>
          </p:cNvPr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026507124"/>
      </p:ext>
    </p:extLst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Avaluació econòmica d'una beca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 dirty="0" err="1">
                <a:solidFill>
                  <a:srgbClr val="66707A"/>
                </a:solidFill>
                <a:latin typeface="Arial"/>
              </a:rPr>
              <a:t>Abans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de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parlar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d'arquitectura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de software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,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cal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entendre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el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procediment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administratiu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. </a:t>
            </a:r>
            <a:endParaRPr sz="1300" b="0" dirty="0">
              <a:solidFill>
                <a:srgbClr val="66707A"/>
              </a:solidFill>
              <a:latin typeface="Arial"/>
            </a:endParaRP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agaur-functional-scholarsh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5147" y="1234440"/>
            <a:ext cx="3950745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01000" y="1691640"/>
            <a:ext cx="3063240" cy="123444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ctr"/>
            <a:r>
              <a:rPr sz="1800" b="1" dirty="0" err="1">
                <a:solidFill>
                  <a:srgbClr val="192D3E"/>
                </a:solidFill>
                <a:latin typeface="Arial"/>
              </a:rPr>
              <a:t>Sol·licitud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 → Expedient →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Requisits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 generals
→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Requisits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econòmics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 →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Revisió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acadèmica</a:t>
            </a:r>
            <a:r>
              <a:rPr sz="1800" b="1">
                <a:solidFill>
                  <a:srgbClr val="192D3E"/>
                </a:solidFill>
                <a:latin typeface="Arial"/>
              </a:rPr>
              <a:t>
→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Resolució</a:t>
            </a:r>
            <a:endParaRPr sz="1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7867561" y="3304599"/>
            <a:ext cx="3375837" cy="1579148"/>
          </a:xfrm>
          <a:prstGeom prst="roundRect">
            <a:avLst/>
          </a:prstGeom>
          <a:solidFill>
            <a:srgbClr val="F8EAE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599" y="3566160"/>
            <a:ext cx="2871981" cy="959186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Quan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no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s’acredita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el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compliment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dels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requisits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econòmics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,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l’expedient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no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obté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una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valoració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favorable en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aquesta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fase.</a:t>
            </a:r>
            <a:endParaRPr sz="20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001000" y="5166360"/>
            <a:ext cx="3063240" cy="292608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1000" b="0">
                <a:solidFill>
                  <a:srgbClr val="66707A"/>
                </a:solidFill>
                <a:latin typeface="Arial"/>
              </a:rPr>
              <a:t>Fonts públiques: AGAUR requisits econòmics i BOE 2025-2026.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fontScale="925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Quina informació externa necessita el procediment?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66707A"/>
                </a:solidFill>
                <a:latin typeface="Arial"/>
              </a:rPr>
              <a:t>Renda, patrimoni i informació cadastral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6248" y="293026"/>
            <a:ext cx="2435192" cy="46092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agaur-data-interoperabil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9754" y="1234440"/>
            <a:ext cx="2541531" cy="4709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83879" y="1417320"/>
            <a:ext cx="2926080" cy="3200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1600" b="1">
                <a:solidFill>
                  <a:srgbClr val="236092"/>
                </a:solidFill>
                <a:latin typeface="Arial"/>
              </a:rPr>
              <a:t>NECESSITAT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75320" y="1828800"/>
            <a:ext cx="2743200" cy="960120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Renda familiar</a:t>
            </a:r>
          </a:p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Patrimoni</a:t>
            </a:r>
          </a:p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Béns immobles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3063240"/>
            <a:ext cx="2926080" cy="3200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1600" b="1">
                <a:solidFill>
                  <a:srgbClr val="236092"/>
                </a:solidFill>
                <a:latin typeface="Arial"/>
              </a:rPr>
              <a:t>FONTS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75320" y="3474720"/>
            <a:ext cx="2743200" cy="91440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AEAT</a:t>
            </a:r>
          </a:p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Cadastre</a:t>
            </a:r>
          </a:p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PICA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4892040"/>
            <a:ext cx="3063240" cy="68580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ctr"/>
            <a:r>
              <a:rPr sz="1600" b="1">
                <a:solidFill>
                  <a:srgbClr val="192D3E"/>
                </a:solidFill>
                <a:latin typeface="Arial"/>
              </a:rPr>
              <a:t>El procediment necessita informació administrativa,
no una API concreta.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" y="6003036"/>
            <a:ext cx="1049274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es-ES" sz="1000" b="0" dirty="0">
                <a:solidFill>
                  <a:srgbClr val="66707A"/>
                </a:solidFill>
                <a:latin typeface="Arial"/>
              </a:rPr>
              <a:t>PICA = Plataforma d’Integració i Col·laboració Administrativa de la Generalitat de Catalunya. És una plataforma corporativa de la Generalitat per facilitar la interoperabilitat entre sistemes de la Generalitat, altres administracions públiques i institucions.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/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/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/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/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/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/>
            </a:r>
            <a:br>
              <a:rPr lang="es-ES" sz="1000" b="0" dirty="0">
                <a:solidFill>
                  <a:srgbClr val="66707A"/>
                </a:solidFill>
                <a:latin typeface="Arial"/>
              </a:rPr>
            </a:b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/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/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/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/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/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/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/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/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/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/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/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fontScale="85000" lnSpcReduction="10000"/>
          </a:bodyPr>
          <a:lstStyle/>
          <a:p>
            <a:pPr algn="l"/>
            <a:r>
              <a:rPr sz="3100" b="1">
                <a:solidFill>
                  <a:srgbClr val="192D3E"/>
                </a:solidFill>
                <a:latin typeface="Arial"/>
              </a:rPr>
              <a:t>Dependència directa entre procediment i integració</a:t>
            </a:r>
            <a:endParaRPr lang="es-ES" sz="2800" b="1" dirty="0">
              <a:solidFill>
                <a:srgbClr val="192D3E"/>
              </a:solidFill>
              <a:latin typeface="Arial"/>
            </a:endParaRP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8114" y="293025"/>
            <a:ext cx="2413325" cy="456783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338855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" y="2523966"/>
            <a:ext cx="10241280" cy="5669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900" b="1" dirty="0">
                <a:solidFill>
                  <a:srgbClr val="192D3E"/>
                </a:solidFill>
                <a:latin typeface="Arial"/>
              </a:rPr>
              <a:t>Cas </a:t>
            </a:r>
            <a:r>
              <a:rPr sz="2900" b="1" dirty="0" err="1">
                <a:solidFill>
                  <a:srgbClr val="192D3E"/>
                </a:solidFill>
                <a:latin typeface="Arial"/>
              </a:rPr>
              <a:t>d'ús</a:t>
            </a:r>
            <a:r>
              <a:rPr sz="2900" b="1" dirty="0">
                <a:solidFill>
                  <a:srgbClr val="192D3E"/>
                </a:solidFill>
                <a:latin typeface="Arial"/>
              </a:rPr>
              <a:t>  →  SOAP/XML  →  PICA  →  AEAT</a:t>
            </a:r>
            <a:r>
              <a:rPr lang="es-ES" sz="2900" b="1" dirty="0">
                <a:solidFill>
                  <a:srgbClr val="192D3E"/>
                </a:solidFill>
                <a:latin typeface="Arial"/>
              </a:rPr>
              <a:t> / </a:t>
            </a:r>
            <a:r>
              <a:rPr lang="es-ES" sz="2900" b="1" dirty="0" err="1">
                <a:solidFill>
                  <a:srgbClr val="192D3E"/>
                </a:solidFill>
                <a:latin typeface="Arial"/>
              </a:rPr>
              <a:t>Cadastre</a:t>
            </a:r>
            <a:endParaRPr sz="29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14400" y="3519381"/>
            <a:ext cx="3063240" cy="1188720"/>
          </a:xfrm>
          <a:prstGeom prst="rect">
            <a:avLst/>
          </a:prstGeom>
          <a:solidFill>
            <a:srgbClr val="F8EAE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3000" y="3793701"/>
            <a:ext cx="2606040" cy="548640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700" b="1" dirty="0" err="1">
                <a:solidFill>
                  <a:srgbClr val="192D3E"/>
                </a:solidFill>
                <a:latin typeface="Arial"/>
              </a:rPr>
              <a:t>Acoblament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tecnològic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
El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procediment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1700" b="1" dirty="0" err="1">
                <a:solidFill>
                  <a:srgbClr val="192D3E"/>
                </a:solidFill>
                <a:latin typeface="Arial"/>
              </a:rPr>
              <a:t>administratiu</a:t>
            </a:r>
            <a:r>
              <a:rPr lang="es-ES"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depèn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de SOAP/PICA</a:t>
            </a:r>
            <a:endParaRPr sz="1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526280" y="3519381"/>
            <a:ext cx="3063240" cy="1188720"/>
          </a:xfrm>
          <a:prstGeom prst="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754880" y="3793701"/>
            <a:ext cx="2656574" cy="653796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 algn="ctr"/>
            <a:r>
              <a:rPr sz="1700" b="1">
                <a:solidFill>
                  <a:srgbClr val="192D3E"/>
                </a:solidFill>
                <a:latin typeface="Arial"/>
              </a:rPr>
              <a:t>Impacte en el cas d’ús
L’evolució de l’API travessa la frontera</a:t>
            </a:r>
            <a:endParaRPr sz="1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138160" y="3519381"/>
            <a:ext cx="3063240" cy="1188720"/>
          </a:xfrm>
          <a:prstGeom prst="rect">
            <a:avLst/>
          </a:prstGeom>
          <a:solidFill>
            <a:srgbClr val="E8F1F8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60080" y="3736551"/>
            <a:ext cx="2788920" cy="809244"/>
          </a:xfrm>
          <a:prstGeom prst="rect">
            <a:avLst/>
          </a:prstGeom>
          <a:noFill/>
        </p:spPr>
        <p:txBody>
          <a:bodyPr wrap="square">
            <a:normAutofit fontScale="85000" lnSpcReduction="10000"/>
          </a:bodyPr>
          <a:lstStyle/>
          <a:p>
            <a:pPr algn="ctr"/>
            <a:r>
              <a:rPr sz="1700" b="1" dirty="0" err="1">
                <a:solidFill>
                  <a:srgbClr val="192D3E"/>
                </a:solidFill>
                <a:latin typeface="Arial"/>
              </a:rPr>
              <a:t>Risc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de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continuïtat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operativa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
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Manteniment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més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fràgil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del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servei</a:t>
            </a:r>
            <a:endParaRPr sz="1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14400" y="5267685"/>
            <a:ext cx="10241280" cy="50292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2500" b="1" dirty="0">
                <a:solidFill>
                  <a:srgbClr val="236092"/>
                </a:solidFill>
                <a:latin typeface="Arial"/>
              </a:rPr>
              <a:t>El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problema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no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és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consumir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PICA;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és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que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el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procediment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en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depengui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directament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7</a:t>
            </a:r>
          </a:p>
        </p:txBody>
      </p:sp>
      <p:sp>
        <p:nvSpPr>
          <p:cNvPr id="15" name="CTTI diagnostic subtitle"/>
          <p:cNvSpPr txBox="1"/>
          <p:nvPr/>
        </p:nvSpPr>
        <p:spPr>
          <a:xfrm>
            <a:off x="829694" y="1736097"/>
            <a:ext cx="10532612" cy="7878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Els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principis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del CTTI orienten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cap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a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sistemes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desacoblats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i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serveis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substituïbles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; per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això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, si la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lògica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del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procediment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administratiu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queda vinculada a crides SOAP/XML contra PICA,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qualsevol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evolució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cap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a REST, API Manager o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altres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mecanismes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pot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impactar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directament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la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tramitació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.</a:t>
            </a:r>
            <a:endParaRPr sz="1400" b="0" dirty="0">
              <a:solidFill>
                <a:srgbClr val="66707A"/>
              </a:solidFill>
              <a:latin typeface="Arial"/>
            </a:endParaRPr>
          </a:p>
        </p:txBody>
      </p:sp>
      <p:sp>
        <p:nvSpPr>
          <p:cNvPr id="16" name="PICA definition slide 7"/>
          <p:cNvSpPr txBox="1"/>
          <p:nvPr/>
        </p:nvSpPr>
        <p:spPr>
          <a:xfrm>
            <a:off x="1097280" y="5938174"/>
            <a:ext cx="10532612" cy="53577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es-ES" sz="1000" b="0" dirty="0">
                <a:solidFill>
                  <a:srgbClr val="66707A"/>
                </a:solidFill>
                <a:latin typeface="Arial"/>
              </a:rPr>
              <a:t>CTTI: Centre de Telecomunicacions i Tecnologies de la Informació de la Generalitat de Catalunya. És l’organisme de la Generalitat de Catalunya que presta serveis TIC corporatius i impulsa l’arquitectura i les solucions tecnològiques transversals de la Generalitat.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/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/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/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/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/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/>
            </a:r>
            <a:br>
              <a:rPr lang="es-ES" sz="1000" b="0" dirty="0">
                <a:solidFill>
                  <a:srgbClr val="66707A"/>
                </a:solidFill>
                <a:latin typeface="Arial"/>
              </a:rPr>
            </a:b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/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/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/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/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/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/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/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/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/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/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/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/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/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/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/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/>
            </a:r>
            <a:endParaRPr sz="1000" b="0" dirty="0">
              <a:solidFill>
                <a:srgbClr val="66707A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Port de sortida i adaptador</a:t>
            </a: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794760" y="1417320"/>
            <a:ext cx="4480560" cy="566928"/>
          </a:xfrm>
          <a:prstGeom prst="roundRect">
            <a:avLst/>
          </a:prstGeom>
          <a:solidFill>
            <a:srgbClr val="E8F1F8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977639" y="1517904"/>
            <a:ext cx="4114800" cy="25603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100" b="1">
                <a:solidFill>
                  <a:srgbClr val="192D3E"/>
                </a:solidFill>
                <a:latin typeface="Arial"/>
              </a:rPr>
              <a:t>Cas d'ús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97880" y="1984248"/>
            <a:ext cx="274320" cy="292608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2200" b="1">
                <a:solidFill>
                  <a:srgbClr val="236092"/>
                </a:solidFill>
                <a:latin typeface="Arial"/>
              </a:rPr>
              <a:t>↓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94760" y="2377440"/>
            <a:ext cx="4480560" cy="566928"/>
          </a:xfrm>
          <a:prstGeom prst="round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977639" y="2478024"/>
            <a:ext cx="4114800" cy="25603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100" b="1">
                <a:solidFill>
                  <a:srgbClr val="192D3E"/>
                </a:solidFill>
                <a:latin typeface="Arial"/>
              </a:rPr>
              <a:t>Port de sortida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80" y="2944368"/>
            <a:ext cx="274320" cy="292608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2200" b="1">
                <a:solidFill>
                  <a:srgbClr val="236092"/>
                </a:solidFill>
                <a:latin typeface="Arial"/>
              </a:rPr>
              <a:t>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94760" y="3337560"/>
            <a:ext cx="4480560" cy="566928"/>
          </a:xfrm>
          <a:prstGeom prst="roundRect">
            <a:avLst/>
          </a:prstGeom>
          <a:solidFill>
            <a:srgbClr val="EBF6F0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977639" y="3438144"/>
            <a:ext cx="4114800" cy="25603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100" b="1">
                <a:solidFill>
                  <a:srgbClr val="192D3E"/>
                </a:solidFill>
                <a:latin typeface="Arial"/>
              </a:rPr>
              <a:t>Adaptador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7880" y="3904488"/>
            <a:ext cx="274320" cy="292608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2200" b="1">
                <a:solidFill>
                  <a:srgbClr val="236092"/>
                </a:solidFill>
                <a:latin typeface="Arial"/>
              </a:rPr>
              <a:t>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94760" y="4297680"/>
            <a:ext cx="4480560" cy="566928"/>
          </a:xfrm>
          <a:prstGeom prst="roundRect">
            <a:avLst/>
          </a:prstGeom>
          <a:solidFill>
            <a:srgbClr val="F7F8F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977639" y="4398264"/>
            <a:ext cx="4114800" cy="25603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100" b="1">
                <a:solidFill>
                  <a:srgbClr val="192D3E"/>
                </a:solidFill>
                <a:latin typeface="Arial"/>
              </a:rPr>
              <a:t>Sistema extern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349240"/>
            <a:ext cx="4754880" cy="347472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2300" b="1" dirty="0">
                <a:solidFill>
                  <a:srgbClr val="192D3E"/>
                </a:solidFill>
                <a:latin typeface="Arial"/>
              </a:rPr>
              <a:t>El port defineix “què” necessita el cas d’ús</a:t>
            </a:r>
            <a:r>
              <a:rPr sz="2300" b="1" dirty="0" err="1">
                <a:solidFill>
                  <a:srgbClr val="192D3E"/>
                </a:solidFill>
                <a:latin typeface="Arial"/>
              </a:rPr>
              <a:t/>
            </a:r>
            <a:r>
              <a:rPr sz="2300" b="1" dirty="0">
                <a:solidFill>
                  <a:srgbClr val="192D3E"/>
                </a:solidFill>
                <a:latin typeface="Arial"/>
              </a:rPr>
              <a:t/>
            </a:r>
            <a:r>
              <a:rPr lang="es-ES" sz="2300" b="1" dirty="0">
                <a:solidFill>
                  <a:srgbClr val="192D3E"/>
                </a:solidFill>
                <a:latin typeface="Arial"/>
              </a:rPr>
              <a:t/>
            </a:r>
            <a:r>
              <a:rPr sz="2300" b="1" dirty="0" err="1">
                <a:solidFill>
                  <a:srgbClr val="192D3E"/>
                </a:solidFill>
                <a:latin typeface="Arial"/>
              </a:rPr>
              <a:t/>
            </a:r>
            <a:r>
              <a:rPr lang="es-ES" sz="2300" b="1" dirty="0">
                <a:solidFill>
                  <a:srgbClr val="192D3E"/>
                </a:solidFill>
                <a:latin typeface="Arial"/>
              </a:rPr>
              <a:t/>
            </a:r>
            <a:r>
              <a:rPr lang="es-ES" sz="2300" b="1" dirty="0" err="1">
                <a:solidFill>
                  <a:srgbClr val="192D3E"/>
                </a:solidFill>
                <a:latin typeface="Arial"/>
              </a:rPr>
              <a:t/>
            </a:r>
            <a:endParaRPr sz="23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400800" y="5349240"/>
            <a:ext cx="5166360" cy="566928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2300" b="1" dirty="0" err="1">
                <a:solidFill>
                  <a:srgbClr val="192D3E"/>
                </a:solidFill>
                <a:latin typeface="Arial"/>
              </a:rPr>
              <a:t>L’adaptador resol “com”, integrant amb tecnologia específica</a:t>
            </a:r>
            <a:r>
              <a:rPr sz="2300" b="1" dirty="0">
                <a:solidFill>
                  <a:srgbClr val="192D3E"/>
                </a:solidFill>
                <a:latin typeface="Arial"/>
              </a:rPr>
              <a:t/>
            </a:r>
            <a:r>
              <a:rPr sz="2300" b="1" dirty="0" err="1">
                <a:solidFill>
                  <a:srgbClr val="192D3E"/>
                </a:solidFill>
                <a:latin typeface="Arial"/>
              </a:rPr>
              <a:t/>
            </a:r>
            <a:r>
              <a:rPr sz="2300" b="1" dirty="0">
                <a:solidFill>
                  <a:srgbClr val="192D3E"/>
                </a:solidFill>
                <a:latin typeface="Arial"/>
              </a:rPr>
              <a:t/>
            </a:r>
            <a:r>
              <a:rPr lang="es-ES" sz="2300" b="1" dirty="0">
                <a:solidFill>
                  <a:srgbClr val="192D3E"/>
                </a:solidFill>
                <a:latin typeface="Arial"/>
              </a:rPr>
              <a:t/>
            </a:r>
            <a:r>
              <a:rPr sz="2300" b="1" dirty="0">
                <a:solidFill>
                  <a:srgbClr val="192D3E"/>
                </a:solidFill>
                <a:latin typeface="Arial"/>
              </a:rPr>
              <a:t/>
            </a:r>
            <a:r>
              <a:rPr lang="es-ES" sz="2300" b="1" dirty="0">
                <a:solidFill>
                  <a:srgbClr val="192D3E"/>
                </a:solidFill>
                <a:latin typeface="Arial"/>
              </a:rPr>
              <a:t/>
            </a:r>
            <a:r>
              <a:rPr lang="es-ES" sz="2300" b="1" dirty="0" err="1">
                <a:solidFill>
                  <a:srgbClr val="192D3E"/>
                </a:solidFill>
                <a:latin typeface="Arial"/>
              </a:rPr>
              <a:t/>
            </a:r>
            <a:r>
              <a:rPr lang="es-ES" sz="2300" b="1" dirty="0">
                <a:solidFill>
                  <a:srgbClr val="192D3E"/>
                </a:solidFill>
                <a:latin typeface="Arial"/>
              </a:rPr>
              <a:t/>
            </a:r>
            <a:r>
              <a:rPr lang="es-ES" sz="2300" b="1" dirty="0" err="1">
                <a:solidFill>
                  <a:srgbClr val="192D3E"/>
                </a:solidFill>
                <a:latin typeface="Arial"/>
              </a:rPr>
              <a:t/>
            </a:r>
            <a:r>
              <a:rPr lang="es-ES" sz="2300" b="1" dirty="0">
                <a:solidFill>
                  <a:srgbClr val="192D3E"/>
                </a:solidFill>
                <a:latin typeface="Arial"/>
              </a:rPr>
              <a:t/>
            </a:r>
            <a:endParaRPr sz="23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ns3="http://schemas.microsoft.com/office/drawing/2014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lang="es-ES" sz="2800" b="1" dirty="0">
                <a:solidFill>
                  <a:srgbClr val="192D3E"/>
                </a:solidFill>
                <a:latin typeface="Arial"/>
              </a:rPr>
              <a:t>Port de </a:t>
            </a:r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sortida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per a </a:t>
            </a:r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informació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patrimonial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es-ES" sz="1300" b="0" dirty="0">
                <a:solidFill>
                  <a:srgbClr val="66707A"/>
                </a:solidFill>
                <a:latin typeface="Arial"/>
              </a:rPr>
              <a:t>El cas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d’ús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depèn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d’un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contracte de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l’aplicació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, no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dels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detalls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de PICA, SOAP/XML o REST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APIs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.</a:t>
            </a:r>
            <a:endParaRPr sz="1300" b="0" dirty="0">
              <a:solidFill>
                <a:srgbClr val="66707A"/>
              </a:solidFill>
              <a:latin typeface="Arial"/>
            </a:endParaRP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04993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9</a:t>
            </a:r>
          </a:p>
        </p:txBody>
      </p:sp>
      <p:pic>
        <p:nvPicPr>
          <p:cNvPr id="7" name="Imagen 6">
            <a:extLst>
              <a:ext uri="{FF2B5EF4-FFF2-40B4-BE49-F238E27FC236}">
                <ns3:creationId id="{74450190-3EBE-2ED3-C573-816824D867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197888"/>
            <a:ext cx="11229045" cy="523489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ns3="http://schemas.microsoft.com/office/drawing/2014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 err="1">
                <a:solidFill>
                  <a:srgbClr val="192D3E"/>
                </a:solidFill>
                <a:latin typeface="Arial"/>
              </a:rPr>
              <a:t>Transferència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a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domini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financer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es-ES" sz="1400" b="1" dirty="0">
                <a:solidFill>
                  <a:srgbClr val="192D3E"/>
                </a:solidFill>
                <a:latin typeface="Arial"/>
              </a:rPr>
              <a:t>El cas d’ús necessita el preu actual, no un proveïdor concret.</a:t>
            </a:r>
            <a:r>
              <a:rPr lang="es-ES" sz="1400" b="1" dirty="0" err="1">
                <a:solidFill>
                  <a:srgbClr val="192D3E"/>
                </a:solidFill>
                <a:latin typeface="Arial"/>
              </a:rPr>
              <a:t/>
            </a:r>
            <a:r>
              <a:rPr lang="es-ES" sz="1400" b="1" dirty="0">
                <a:solidFill>
                  <a:srgbClr val="192D3E"/>
                </a:solidFill>
                <a:latin typeface="Arial"/>
              </a:rPr>
              <a:t/>
            </a:r>
            <a:r>
              <a:rPr lang="es-ES" sz="1400" b="1" dirty="0" err="1">
                <a:solidFill>
                  <a:srgbClr val="192D3E"/>
                </a:solidFill>
                <a:latin typeface="Arial"/>
              </a:rPr>
              <a:t/>
            </a:r>
            <a:r>
              <a:rPr lang="es-ES" sz="1400" b="1" dirty="0">
                <a:solidFill>
                  <a:srgbClr val="192D3E"/>
                </a:solidFill>
                <a:latin typeface="Arial"/>
              </a:rPr>
              <a:t/>
            </a:r>
            <a:r>
              <a:rPr lang="es-ES" sz="1400" b="1" dirty="0" err="1">
                <a:solidFill>
                  <a:srgbClr val="192D3E"/>
                </a:solidFill>
                <a:latin typeface="Arial"/>
              </a:rPr>
              <a:t/>
            </a:r>
            <a:r>
              <a:rPr lang="es-ES" sz="1400" b="1" dirty="0">
                <a:solidFill>
                  <a:srgbClr val="192D3E"/>
                </a:solidFill>
                <a:latin typeface="Arial"/>
              </a:rPr>
              <a:t/>
            </a:r>
            <a:r>
              <a:rPr lang="es-ES" sz="1400" b="1" dirty="0" err="1">
                <a:solidFill>
                  <a:srgbClr val="192D3E"/>
                </a:solidFill>
                <a:latin typeface="Arial"/>
              </a:rPr>
              <a:t/>
            </a:r>
            <a:r>
              <a:rPr lang="es-ES" sz="1400" b="1" dirty="0">
                <a:solidFill>
                  <a:srgbClr val="192D3E"/>
                </a:solidFill>
                <a:latin typeface="Arial"/>
              </a:rPr>
              <a:t/>
            </a:r>
            <a:endParaRPr sz="1300" b="0" dirty="0">
              <a:solidFill>
                <a:srgbClr val="66707A"/>
              </a:solidFill>
              <a:latin typeface="Arial"/>
            </a:endParaRP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10</a:t>
            </a:r>
          </a:p>
        </p:txBody>
      </p:sp>
      <p:sp>
        <p:nvSpPr>
          <p:cNvPr id="14" name="Slide 10 port note"/>
          <p:cNvSpPr txBox="1"/>
          <p:nvPr/>
        </p:nvSpPr>
        <p:spPr>
          <a:xfrm>
            <a:off x="4274820" y="6523074"/>
            <a:ext cx="10561320" cy="201168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ctr"/>
            <a:r>
              <a:rPr sz="900" b="0" dirty="0">
                <a:solidFill>
                  <a:srgbClr val="66707A"/>
                </a:solidFill>
                <a:latin typeface="Arial"/>
              </a:rPr>
              <a:t>Port: </a:t>
            </a:r>
            <a:r>
              <a:rPr sz="900" b="0" dirty="0" err="1">
                <a:solidFill>
                  <a:srgbClr val="66707A"/>
                </a:solidFill>
                <a:latin typeface="Arial"/>
              </a:rPr>
              <a:t>StockPriceProviderPort</a:t>
            </a:r>
            <a:r>
              <a:rPr sz="900" b="0" dirty="0">
                <a:solidFill>
                  <a:srgbClr val="66707A"/>
                </a:solidFill>
                <a:latin typeface="Arial"/>
              </a:rPr>
              <a:t> · </a:t>
            </a:r>
            <a:r>
              <a:rPr sz="900" b="0" dirty="0" err="1">
                <a:solidFill>
                  <a:srgbClr val="66707A"/>
                </a:solidFill>
                <a:latin typeface="Arial"/>
              </a:rPr>
              <a:t>Adaptadors</a:t>
            </a:r>
            <a:r>
              <a:rPr sz="900" b="0" dirty="0">
                <a:solidFill>
                  <a:srgbClr val="66707A"/>
                </a:solidFill>
                <a:latin typeface="Arial"/>
              </a:rPr>
              <a:t>: </a:t>
            </a:r>
            <a:r>
              <a:rPr sz="900" b="0" dirty="0" err="1">
                <a:solidFill>
                  <a:srgbClr val="66707A"/>
                </a:solidFill>
                <a:latin typeface="Arial"/>
              </a:rPr>
              <a:t>Finnhub</a:t>
            </a:r>
            <a:r>
              <a:rPr sz="900" b="0" dirty="0">
                <a:solidFill>
                  <a:srgbClr val="66707A"/>
                </a:solidFill>
                <a:latin typeface="Arial"/>
              </a:rPr>
              <a:t>, Alpha Vantage, mock</a:t>
            </a:r>
          </a:p>
        </p:txBody>
      </p:sp>
      <p:pic>
        <p:nvPicPr>
          <p:cNvPr id="7" name="Imagen 6">
            <a:extLst>
              <a:ext uri="{FF2B5EF4-FFF2-40B4-BE49-F238E27FC236}">
                <ns3:creationId id="{A6EDC6F8-5757-04F1-70A5-BEE4AFAFA3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128" y="1101320"/>
            <a:ext cx="10757264" cy="534807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>
                <a:solidFill>
                  <a:srgbClr val="192D3E"/>
                </a:solidFill>
                <a:latin typeface="Arial"/>
              </a:rPr>
              <a:t>Flux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i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codi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essencial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 dirty="0">
                <a:solidFill>
                  <a:srgbClr val="66707A"/>
                </a:solidFill>
                <a:latin typeface="Arial"/>
              </a:rPr>
              <a:t>El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servei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coordina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. El domini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decideix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.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L'adaptador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integra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amb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infraestructura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tecnològica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. </a:t>
            </a:r>
            <a:endParaRPr sz="1300" b="0" dirty="0">
              <a:solidFill>
                <a:srgbClr val="66707A"/>
              </a:solidFill>
              <a:latin typeface="Arial"/>
            </a:endParaRP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11</a:t>
            </a:r>
          </a:p>
        </p:txBody>
      </p:sp>
      <p:pic>
        <p:nvPicPr>
          <p:cNvPr id="12" name="Sell stock sequence simplified" descr="sell-stock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328" y="1371599"/>
            <a:ext cx="11191832" cy="469662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>
                <a:solidFill>
                  <a:srgbClr val="192D3E"/>
                </a:solidFill>
                <a:latin typeface="Arial"/>
              </a:rPr>
              <a:t>Dem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o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66707A"/>
                </a:solidFill>
                <a:latin typeface="Arial"/>
              </a:rPr>
              <a:t>Mateix cas d'ús, adaptador substituïble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325880"/>
            <a:ext cx="10287000" cy="502920"/>
          </a:xfrm>
          <a:prstGeom prst="rect">
            <a:avLst/>
          </a:prstGeom>
          <a:noFill/>
        </p:spPr>
        <p:txBody>
          <a:bodyPr wrap="square">
            <a:normAutofit fontScale="85000" lnSpcReduction="10000"/>
          </a:bodyPr>
          <a:lstStyle/>
          <a:p>
            <a:pPr algn="ctr"/>
            <a:r>
              <a:rPr sz="1800" b="0" dirty="0" err="1">
                <a:solidFill>
                  <a:srgbClr val="192D3E"/>
                </a:solidFill>
                <a:latin typeface="Arial"/>
              </a:rPr>
              <a:t>HexaStock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és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un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projecte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open source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propi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utilitzat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en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docència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universitària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i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formació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o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consultoria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dirty="0">
                <a:solidFill>
                  <a:srgbClr val="192D3E"/>
                </a:solidFill>
                <a:latin typeface="Arial"/>
              </a:rPr>
              <a:t>empresarial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240280"/>
            <a:ext cx="3246120" cy="960120"/>
          </a:xfrm>
          <a:prstGeom prst="roundRect">
            <a:avLst/>
          </a:prstGeom>
          <a:solidFill>
            <a:srgbClr val="E8F1F8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51560" y="2542032"/>
            <a:ext cx="2880360" cy="256032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900" b="1" dirty="0" err="1">
                <a:solidFill>
                  <a:srgbClr val="192D3E"/>
                </a:solidFill>
                <a:latin typeface="Arial"/>
              </a:rPr>
              <a:t>Mateix</a:t>
            </a:r>
            <a:r>
              <a:rPr sz="19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900" b="1" dirty="0" err="1">
                <a:solidFill>
                  <a:srgbClr val="192D3E"/>
                </a:solidFill>
                <a:latin typeface="Arial"/>
              </a:rPr>
              <a:t>cas</a:t>
            </a:r>
            <a:r>
              <a:rPr sz="19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900" b="1" dirty="0" err="1">
                <a:solidFill>
                  <a:srgbClr val="192D3E"/>
                </a:solidFill>
                <a:latin typeface="Arial"/>
              </a:rPr>
              <a:t>d'ús</a:t>
            </a:r>
            <a:endParaRPr sz="19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572000" y="2240280"/>
            <a:ext cx="3246120" cy="960120"/>
          </a:xfrm>
          <a:prstGeom prst="round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54880" y="2542032"/>
            <a:ext cx="2880360" cy="256032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900" b="1" dirty="0" err="1">
                <a:solidFill>
                  <a:srgbClr val="192D3E"/>
                </a:solidFill>
                <a:latin typeface="Arial"/>
              </a:rPr>
              <a:t>Mateix</a:t>
            </a:r>
            <a:r>
              <a:rPr sz="19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900" b="1" dirty="0" err="1">
                <a:solidFill>
                  <a:srgbClr val="192D3E"/>
                </a:solidFill>
                <a:latin typeface="Arial"/>
              </a:rPr>
              <a:t>servei</a:t>
            </a:r>
            <a:endParaRPr sz="19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275319" y="2240280"/>
            <a:ext cx="3246120" cy="960120"/>
          </a:xfrm>
          <a:prstGeom prst="roundRect">
            <a:avLst/>
          </a:prstGeom>
          <a:solidFill>
            <a:srgbClr val="EBF6F0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58199" y="2542032"/>
            <a:ext cx="2880360" cy="256032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900" b="1" dirty="0" err="1">
                <a:solidFill>
                  <a:srgbClr val="192D3E"/>
                </a:solidFill>
                <a:latin typeface="Arial"/>
              </a:rPr>
              <a:t>Mateix</a:t>
            </a:r>
            <a:r>
              <a:rPr sz="1900" b="1" dirty="0">
                <a:solidFill>
                  <a:srgbClr val="192D3E"/>
                </a:solidFill>
                <a:latin typeface="Arial"/>
              </a:rPr>
              <a:t> domini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886200"/>
            <a:ext cx="10058400" cy="502920"/>
          </a:xfrm>
          <a:prstGeom prst="rect">
            <a:avLst/>
          </a:prstGeom>
          <a:noFill/>
        </p:spPr>
        <p:txBody>
          <a:bodyPr wrap="square">
            <a:normAutofit fontScale="92500"/>
          </a:bodyPr>
          <a:lstStyle/>
          <a:p>
            <a:pPr algn="ctr"/>
            <a:r>
              <a:rPr sz="2600" b="1" dirty="0" err="1">
                <a:solidFill>
                  <a:srgbClr val="236092"/>
                </a:solidFill>
                <a:latin typeface="Arial"/>
              </a:rPr>
              <a:t>Canvi tecnològic: adaptador Finnhub ↔ adaptador Alpha Vantage</a:t>
            </a:r>
            <a:r>
              <a:rPr lang="es-ES" sz="2600" b="1" dirty="0">
                <a:solidFill>
                  <a:srgbClr val="236092"/>
                </a:solidFill>
                <a:latin typeface="Arial"/>
              </a:rPr>
              <a:t/>
            </a:r>
            <a:r>
              <a:rPr lang="es-ES" sz="2600" b="1" dirty="0" err="1">
                <a:solidFill>
                  <a:srgbClr val="236092"/>
                </a:solidFill>
                <a:latin typeface="Arial"/>
              </a:rPr>
              <a:t/>
            </a:r>
            <a:r>
              <a:rPr sz="2600" b="1" dirty="0">
                <a:solidFill>
                  <a:srgbClr val="236092"/>
                </a:solidFill>
                <a:latin typeface="Arial"/>
              </a:rPr>
              <a:t/>
            </a:r>
            <a:r>
              <a:rPr sz="2600" b="1" dirty="0" err="1">
                <a:solidFill>
                  <a:srgbClr val="236092"/>
                </a:solidFill>
                <a:latin typeface="Arial"/>
              </a:rPr>
              <a:t/>
            </a:r>
            <a:r>
              <a:rPr sz="2600" b="1" dirty="0">
                <a:solidFill>
                  <a:srgbClr val="236092"/>
                </a:solidFill>
                <a:latin typeface="Arial"/>
              </a:rPr>
              <a:t/>
            </a:r>
            <a:r>
              <a:rPr lang="es-ES" sz="2600" b="1" dirty="0" err="1">
                <a:solidFill>
                  <a:srgbClr val="236092"/>
                </a:solidFill>
                <a:latin typeface="Arial"/>
              </a:rPr>
              <a:t/>
            </a:r>
            <a:r>
              <a:rPr sz="2600" b="1" dirty="0">
                <a:solidFill>
                  <a:srgbClr val="236092"/>
                </a:solidFill>
                <a:latin typeface="Arial"/>
              </a:rPr>
              <a:t/>
            </a:r>
            <a:r>
              <a:rPr sz="2600" b="1" dirty="0" err="1">
                <a:solidFill>
                  <a:srgbClr val="236092"/>
                </a:solidFill>
                <a:latin typeface="Arial"/>
              </a:rPr>
              <a:t/>
            </a:r>
            <a:r>
              <a:rPr lang="es-ES" sz="2600" b="1" dirty="0">
                <a:solidFill>
                  <a:srgbClr val="236092"/>
                </a:solidFill>
                <a:latin typeface="Arial"/>
              </a:rPr>
              <a:t/>
            </a:r>
            <a:r>
              <a:rPr lang="es-ES" sz="2600" b="1" dirty="0" err="1">
                <a:solidFill>
                  <a:srgbClr val="236092"/>
                </a:solidFill>
                <a:latin typeface="Arial"/>
              </a:rPr>
              <a:t/>
            </a:r>
            <a:endParaRPr sz="2600" b="1" dirty="0">
              <a:solidFill>
                <a:srgbClr val="236092"/>
              </a:solidFill>
              <a:latin typeface="Arial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51560" y="5074920"/>
            <a:ext cx="100584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400" b="1" dirty="0" err="1">
                <a:solidFill>
                  <a:srgbClr val="192D3E"/>
                </a:solidFill>
                <a:latin typeface="Arial"/>
              </a:rPr>
              <a:t>Canvia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la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infraestructura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;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el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cas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d'ús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i el </a:t>
            </a:r>
            <a:r>
              <a:rPr lang="es-ES" sz="2400" b="1" dirty="0" err="1">
                <a:solidFill>
                  <a:srgbClr val="192D3E"/>
                </a:solidFill>
                <a:latin typeface="Arial"/>
              </a:rPr>
              <a:t>domini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roman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en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estable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s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Agraïment</a:t>
            </a: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78973" y="1874094"/>
            <a:ext cx="9834053" cy="17805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Vull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expressar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el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meu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agraïment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al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TecnoCampus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per un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entorn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que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m’encoratja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a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créixer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,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tant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en la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docència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com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en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l’àmbit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acadèmic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, al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costat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d’un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equip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del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qual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aprenc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i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amb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qui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comparteixo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coneixement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,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responsabilitat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i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compromís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amb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la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formació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universitària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.</a:t>
            </a:r>
            <a:endParaRPr sz="2400" b="0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885683" y="4295446"/>
            <a:ext cx="8595360" cy="1217428"/>
          </a:xfrm>
          <a:prstGeom prst="roundRect">
            <a:avLst/>
          </a:prstGeom>
          <a:solidFill>
            <a:srgbClr val="F7F8F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046235" y="4399432"/>
            <a:ext cx="8099528" cy="86868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600" b="0" dirty="0" err="1">
                <a:solidFill>
                  <a:srgbClr val="192D3E"/>
                </a:solidFill>
                <a:latin typeface="Arial"/>
              </a:rPr>
              <a:t>Agraïment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especial al Dr. Josep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Roure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, company professor del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TecnoCampus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,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amb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qui he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tingut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l'oportunitat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d'aprendre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sobre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arquitectura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1600" dirty="0">
                <a:solidFill>
                  <a:srgbClr val="192D3E"/>
                </a:solidFill>
                <a:latin typeface="Arial"/>
              </a:rPr>
              <a:t>de 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software</a:t>
            </a:r>
            <a:r>
              <a:rPr lang="es-ES" sz="1600" dirty="0">
                <a:solidFill>
                  <a:srgbClr val="192D3E"/>
                </a:solidFill>
                <a:latin typeface="Arial"/>
              </a:rPr>
              <a:t>, </a:t>
            </a:r>
            <a:r>
              <a:rPr lang="es-ES" sz="1600" b="0" dirty="0" err="1">
                <a:solidFill>
                  <a:srgbClr val="192D3E"/>
                </a:solidFill>
                <a:latin typeface="Arial"/>
              </a:rPr>
              <a:t>metodologies</a:t>
            </a:r>
            <a:r>
              <a:rPr lang="es-ES" sz="1600" b="0" dirty="0">
                <a:solidFill>
                  <a:srgbClr val="192D3E"/>
                </a:solidFill>
                <a:latin typeface="Arial"/>
              </a:rPr>
              <a:t> actives </a:t>
            </a:r>
            <a:r>
              <a:rPr lang="es-ES" sz="1600" b="0" dirty="0" err="1">
                <a:solidFill>
                  <a:srgbClr val="192D3E"/>
                </a:solidFill>
                <a:latin typeface="Arial"/>
              </a:rPr>
              <a:t>d'aprenentatge</a:t>
            </a:r>
            <a:r>
              <a:rPr lang="es-ES" sz="1600" dirty="0">
                <a:solidFill>
                  <a:srgbClr val="192D3E"/>
                </a:solidFill>
                <a:latin typeface="Arial"/>
              </a:rPr>
              <a:t> i </a:t>
            </a:r>
            <a:r>
              <a:rPr lang="es-ES" sz="1600" dirty="0" err="1">
                <a:solidFill>
                  <a:srgbClr val="192D3E"/>
                </a:solidFill>
                <a:latin typeface="Arial"/>
              </a:rPr>
              <a:t>treball</a:t>
            </a:r>
            <a:r>
              <a:rPr lang="es-ES" sz="1600" dirty="0">
                <a:solidFill>
                  <a:srgbClr val="192D3E"/>
                </a:solidFill>
                <a:latin typeface="Arial"/>
              </a:rPr>
              <a:t> en </a:t>
            </a:r>
            <a:r>
              <a:rPr lang="es-ES" sz="1600" dirty="0" err="1">
                <a:solidFill>
                  <a:srgbClr val="192D3E"/>
                </a:solidFill>
                <a:latin typeface="Arial"/>
              </a:rPr>
              <a:t>equip</a:t>
            </a:r>
            <a:r>
              <a:rPr lang="es-ES" sz="1600" dirty="0">
                <a:solidFill>
                  <a:srgbClr val="192D3E"/>
                </a:solidFill>
                <a:latin typeface="Arial"/>
              </a:rPr>
              <a:t>.</a:t>
            </a:r>
            <a:endParaRPr sz="1600" b="0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219</TotalTime>
  <Words>1104</Words>
  <Application>Microsoft Macintosh PowerPoint</Application>
  <PresentationFormat>Panorámica</PresentationFormat>
  <Paragraphs>104</Paragraphs>
  <Slides>13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7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Alfredo Rueda Unsain</cp:lastModifiedBy>
  <cp:revision>28</cp:revision>
  <dcterms:created xsi:type="dcterms:W3CDTF">2013-01-27T09:14:16Z</dcterms:created>
  <dcterms:modified xsi:type="dcterms:W3CDTF">2026-06-30T20:13:30Z</dcterms:modified>
  <cp:category/>
</cp:coreProperties>
</file>