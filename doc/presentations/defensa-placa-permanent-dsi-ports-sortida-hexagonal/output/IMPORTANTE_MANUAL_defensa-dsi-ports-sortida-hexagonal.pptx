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1"/>
    <p:restoredTop sz="94658"/>
  </p:normalViewPr>
  <p:slideViewPr>
    <p:cSldViewPr snapToGrid="0" snapToObjects="1">
      <p:cViewPr varScale="1">
        <p:scale>
          <a:sx n="103" d="100"/>
          <a:sy n="103" d="100"/>
        </p:scale>
        <p:origin x="176" y="5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AC575-8351-9441-AF95-237B22BB45B7}" type="datetimeFigureOut">
              <a:rPr lang="es-ES" smtClean="0"/>
              <a:t>29/6/26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C99D2-5180-AE4F-A32B-A5730E8BE3F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383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l’accés a informació d’organismes de la Generalitat, altres administracions públiques i institucions, i també facilita la integració entre sistemes d’informació departamentals i la plataforma de tramitació corporativa.</a:t>
            </a:r>
          </a:p>
          <a:p>
            <a:endParaRPr/>
          </a:p>
          <a:p>
            <a:r>
              <a:t>Per a aquesta microlliçó, la idea important és funcional: el procediment necessita informació administrativa fiable; no necessita dependre d’una API concreta en el llenguatge del cas d’ús.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accedir a informació d’altres administracions i integrar sistemes departamentals amb la tramitació corporativa.</a:t>
            </a:r>
          </a:p>
          <a:p>
            <a:endParaRPr/>
          </a:p>
          <a:p>
            <a:r>
              <a:t>Aquí és important no presentar PICA com el problema. PICA és una plataforma corporativa d’interoperabilitat. El problema arquitectònic és que el cas d’ús o la lògica del procediment administratiu depenguin directament dels detalls tècnics de la integració, com SOAP/XML, DTOs o clients específics.</a:t>
            </a:r>
          </a:p>
          <a:p>
            <a:endParaRPr/>
          </a:p>
          <a:p>
            <a:r>
              <a:t>En el context de la consultoria a AGAUR, el problema no era consumir PICA. El problema era que part de la lògica del procediment administratiu quedava massa vinculada a crides SOAP/XML i a detalls tècnics d’integració. Si en el futur el mecanisme corporatiu d’interoperabilitat evoluciona cap a REST, API Manager o altres models, aquest acoblament genera un risc molt alt de manteniment i continuïtat operativa.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1517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dirty="0">
                <a:solidFill>
                  <a:srgbClr val="236092"/>
                </a:solidFill>
                <a:latin typeface="Arial"/>
              </a:rPr>
              <a:t>D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esacoblament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entre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, domini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dirty="0">
                <a:solidFill>
                  <a:srgbClr val="262626"/>
                </a:solidFill>
                <a:latin typeface="Arial"/>
              </a:rPr>
              <a:t>Una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microlliçó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Sistemes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d'Informació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partir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d'un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cas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real de </a:t>
            </a:r>
            <a:r>
              <a:rPr lang="es-ES" dirty="0">
                <a:solidFill>
                  <a:srgbClr val="262626"/>
                </a:solidFill>
                <a:latin typeface="Arial"/>
              </a:rPr>
              <a:t>la Generalitat de Catalunya</a:t>
            </a:r>
          </a:p>
          <a:p>
            <a:pPr algn="l"/>
            <a:endParaRPr sz="18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A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H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exagonal</a:t>
            </a:r>
            <a:endParaRPr sz="3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Ens </a:t>
            </a:r>
            <a:r>
              <a:rPr sz="2200" b="0" dirty="0" err="1">
                <a:solidFill>
                  <a:srgbClr val="262626"/>
                </a:solidFill>
                <a:latin typeface="Arial"/>
              </a:rPr>
              <a:t>centr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are</a:t>
            </a:r>
            <a:r>
              <a:rPr sz="2200" b="0" dirty="0">
                <a:solidFill>
                  <a:srgbClr val="262626"/>
                </a:solidFill>
                <a:latin typeface="Arial"/>
              </a:rPr>
              <a:t>m </a:t>
            </a:r>
            <a:r>
              <a:rPr sz="2200" b="0" dirty="0" err="1">
                <a:solidFill>
                  <a:srgbClr val="262626"/>
                </a:solidFill>
                <a:latin typeface="Arial"/>
              </a:rPr>
              <a:t>en</a:t>
            </a:r>
            <a:r>
              <a:rPr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interactuar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amb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APIs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 de manera desacoplada. 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Microlliçó dins el bloc de clean / hexagonal architecture, ports, adaptadors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Objectiu d'aprenentatge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417320"/>
            <a:ext cx="10241280" cy="64008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700" b="1" dirty="0">
                <a:solidFill>
                  <a:srgbClr val="192D3E"/>
                </a:solidFill>
                <a:latin typeface="Arial"/>
              </a:rPr>
              <a:t>El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servei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d'aplicació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capacitat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, no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tecnologia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4324096-D33B-3CBF-C022-BFBBD6A63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9017" y="2139756"/>
            <a:ext cx="8085221" cy="4027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II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a16:creationId xmlns:a16="http://schemas.microsoft.com/office/drawing/2014/main"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2AE4-020C-7BAB-E612-2262DEB4097A}"/>
              </a:ext>
            </a:extLst>
          </p:cNvPr>
          <p:cNvSpPr txBox="1"/>
          <p:nvPr/>
        </p:nvSpPr>
        <p:spPr>
          <a:xfrm>
            <a:off x="960120" y="1417320"/>
            <a:ext cx="10195560" cy="88686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700" b="1" dirty="0">
                <a:solidFill>
                  <a:srgbClr val="192D3E"/>
                </a:solidFill>
                <a:latin typeface="Arial"/>
              </a:rPr>
              <a:t>El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servei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d'aplicació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capacitat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, no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tecnolog</a:t>
            </a:r>
            <a:r>
              <a:rPr lang="es-ES" sz="2700" b="1" dirty="0">
                <a:solidFill>
                  <a:srgbClr val="192D3E"/>
                </a:solidFill>
                <a:latin typeface="Arial"/>
              </a:rPr>
              <a:t>í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a</a:t>
            </a:r>
            <a:r>
              <a:rPr lang="es-ES" sz="2700" b="1" dirty="0">
                <a:solidFill>
                  <a:srgbClr val="192D3E"/>
                </a:solidFill>
                <a:latin typeface="Arial"/>
              </a:rPr>
              <a:t> específica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4EE3A6-5D0D-EFE6-3907-91BB6540F213}"/>
              </a:ext>
            </a:extLst>
          </p:cNvPr>
          <p:cNvSpPr/>
          <p:nvPr/>
        </p:nvSpPr>
        <p:spPr>
          <a:xfrm>
            <a:off x="822960" y="2987751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1223D-ADAB-E817-C2A8-78FB596BC6F8}"/>
              </a:ext>
            </a:extLst>
          </p:cNvPr>
          <p:cNvSpPr txBox="1"/>
          <p:nvPr/>
        </p:nvSpPr>
        <p:spPr>
          <a:xfrm>
            <a:off x="1024127" y="3307791"/>
            <a:ext cx="2846123" cy="977132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Identificar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
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necessitat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o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capacitat</a:t>
            </a:r>
            <a:endParaRPr lang="es-ES" sz="24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CDC97-EADA-2158-DAC3-FD27FD257839}"/>
              </a:ext>
            </a:extLst>
          </p:cNvPr>
          <p:cNvSpPr/>
          <p:nvPr/>
        </p:nvSpPr>
        <p:spPr>
          <a:xfrm>
            <a:off x="4553712" y="2987751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DA438C-C49C-5E46-6F61-14F3896E8657}"/>
              </a:ext>
            </a:extLst>
          </p:cNvPr>
          <p:cNvSpPr txBox="1"/>
          <p:nvPr/>
        </p:nvSpPr>
        <p:spPr>
          <a:xfrm>
            <a:off x="4754880" y="3307791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Definir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
un port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F82A2A-9916-E9F8-2F4C-A47E7CF470BE}"/>
              </a:ext>
            </a:extLst>
          </p:cNvPr>
          <p:cNvSpPr/>
          <p:nvPr/>
        </p:nvSpPr>
        <p:spPr>
          <a:xfrm>
            <a:off x="8284464" y="2987751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C32489-28BB-E0B4-6D88-054802179775}"/>
              </a:ext>
            </a:extLst>
          </p:cNvPr>
          <p:cNvSpPr txBox="1"/>
          <p:nvPr/>
        </p:nvSpPr>
        <p:spPr>
          <a:xfrm>
            <a:off x="8485632" y="3307791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1" dirty="0">
                <a:solidFill>
                  <a:srgbClr val="192D3E"/>
                </a:solidFill>
                <a:latin typeface="Arial"/>
              </a:rPr>
              <a:t>Implementar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adaptadors</a:t>
            </a:r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26507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 err="1">
                <a:solidFill>
                  <a:srgbClr val="66707A"/>
                </a:solidFill>
                <a:latin typeface="Arial"/>
              </a:rPr>
              <a:t>Abans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parlar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d'arquitectura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software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cal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entendre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el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>
                <a:solidFill>
                  <a:srgbClr val="192D3E"/>
                </a:solidFill>
                <a:latin typeface="Arial"/>
              </a:rPr>
              <a:t>Sol·licitud → Expedient → Requisits generals
→ Requisits econòmics → Revisió acadèmica
→ Resolució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337560"/>
            <a:ext cx="3063240" cy="123444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3566160"/>
            <a:ext cx="2606040" cy="7498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000" b="1" dirty="0">
                <a:solidFill>
                  <a:srgbClr val="192D3E"/>
                </a:solidFill>
                <a:latin typeface="Arial"/>
              </a:rPr>
              <a:t>Si no es </a:t>
            </a:r>
            <a:r>
              <a:rPr sz="2000" b="1" dirty="0" err="1">
                <a:solidFill>
                  <a:srgbClr val="192D3E"/>
                </a:solidFill>
                <a:latin typeface="Arial"/>
              </a:rPr>
              <a:t>compleixen</a:t>
            </a:r>
            <a:r>
              <a:rPr sz="2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20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sz="2000" b="1" dirty="0">
                <a:solidFill>
                  <a:srgbClr val="192D3E"/>
                </a:solidFill>
                <a:latin typeface="Arial"/>
              </a:rPr>
              <a:t>,
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no es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pot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concedir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la beca</a:t>
            </a:r>
            <a:r>
              <a:rPr sz="20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Quina informació externa necessita el procediment?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248" y="293026"/>
            <a:ext cx="2435192" cy="46092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Patrimoni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Béns immobles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6003036"/>
            <a:ext cx="104927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PICA = Plataforma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d’Integració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Col·laboració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Administrativa de la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Generarlitat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Catalunya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És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una plataforma corporativa de la Generalitat per a facilitar la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interoperabilitat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entre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Generalitat,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administracions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públiques i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institucions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100" b="1">
                <a:solidFill>
                  <a:srgbClr val="192D3E"/>
                </a:solidFill>
                <a:latin typeface="Arial"/>
              </a:rPr>
              <a:t>Dependència directa entre procediment i integració</a:t>
            </a:r>
            <a:endParaRPr lang="es-ES"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14" y="293025"/>
            <a:ext cx="2413325" cy="4567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338855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523966"/>
            <a:ext cx="1024128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900" b="1" dirty="0">
                <a:solidFill>
                  <a:srgbClr val="192D3E"/>
                </a:solidFill>
                <a:latin typeface="Arial"/>
              </a:rPr>
              <a:t>Cas </a:t>
            </a:r>
            <a:r>
              <a:rPr sz="29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900" b="1" dirty="0">
                <a:solidFill>
                  <a:srgbClr val="192D3E"/>
                </a:solidFill>
                <a:latin typeface="Arial"/>
              </a:rPr>
              <a:t>  →  SOAP/XML  →  PICA  →  AEAT</a:t>
            </a:r>
            <a:r>
              <a:rPr lang="es-ES" sz="2900" b="1" dirty="0">
                <a:solidFill>
                  <a:srgbClr val="192D3E"/>
                </a:solidFill>
                <a:latin typeface="Arial"/>
              </a:rPr>
              <a:t> / </a:t>
            </a:r>
            <a:r>
              <a:rPr lang="es-ES" sz="2900" b="1" dirty="0" err="1">
                <a:solidFill>
                  <a:srgbClr val="192D3E"/>
                </a:solidFill>
                <a:latin typeface="Arial"/>
              </a:rPr>
              <a:t>Cadastre</a:t>
            </a:r>
            <a:endParaRPr sz="2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14400" y="3519381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793701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Acoblament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tecnològic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700" b="1" dirty="0" err="1">
                <a:solidFill>
                  <a:srgbClr val="192D3E"/>
                </a:solidFill>
                <a:latin typeface="Arial"/>
              </a:rPr>
              <a:t>administratiu</a:t>
            </a:r>
            <a:r>
              <a:rPr lang="es-E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depèn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SOAP/PICA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26280" y="3519381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793701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Impacte en el cas d’ús
L’evolució de l’API travessa la frontera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3519381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3736551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Risc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continuïtat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operativa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fràgil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267685"/>
            <a:ext cx="10241280" cy="5029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500" b="1" dirty="0">
                <a:solidFill>
                  <a:srgbClr val="236092"/>
                </a:solidFill>
                <a:latin typeface="Arial"/>
              </a:rPr>
              <a:t>El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problema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no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consumir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PICA;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que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el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procediment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en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depengui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directament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  <p:sp>
        <p:nvSpPr>
          <p:cNvPr id="15" name="CTTI diagnostic subtitle"/>
          <p:cNvSpPr txBox="1"/>
          <p:nvPr/>
        </p:nvSpPr>
        <p:spPr>
          <a:xfrm>
            <a:off x="829694" y="1736097"/>
            <a:ext cx="10532612" cy="7878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Els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principis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CTTI orienten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desacoblats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substituïbles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; per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això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, si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lògica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queda vinculada a crides SOAP/XML contra PICA,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qualsevol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evolució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REST, API Manager o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mecanismes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pot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impactar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directament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tramitació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.</a:t>
            </a:r>
            <a:endParaRPr sz="14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6" name="PICA definition slide 7"/>
          <p:cNvSpPr txBox="1"/>
          <p:nvPr/>
        </p:nvSpPr>
        <p:spPr>
          <a:xfrm>
            <a:off x="1097280" y="5938174"/>
            <a:ext cx="10532612" cy="5357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CTTI: Centre de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Telecomunicacions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Tecnologies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Informació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Generalitat de Catalunya.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És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l’organisme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Generalitat de Catalunya que presta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TIC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corporatius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i impulsa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l’arquitectura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i les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solucions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tecnològiques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transversals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Generalitat.</a:t>
            </a:r>
            <a:endParaRPr sz="10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79476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77639" y="151790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77639" y="247802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Port de sortida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77639" y="343814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Adaptador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77639" y="439826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Sistema extern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>
                <a:solidFill>
                  <a:srgbClr val="192D3E"/>
                </a:solidFill>
                <a:latin typeface="Arial"/>
              </a:rPr>
              <a:t>El port </a:t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>defineix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"</a:t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>què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" necesita el cas </a:t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>d´ús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5166360" cy="56692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 err="1">
                <a:solidFill>
                  <a:srgbClr val="192D3E"/>
                </a:solidFill>
                <a:latin typeface="Arial"/>
              </a:rPr>
              <a:t>L'adaptador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>resol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"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”, </a:t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>integrant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 tecnología específica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SOAP/XML o REST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APIs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B6A73A3E-C968-EC80-D679-F89DCA1EC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54" y="1129284"/>
            <a:ext cx="11486875" cy="53446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Venda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d'accions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proveïdor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preus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substituïble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  <p:pic>
        <p:nvPicPr>
          <p:cNvPr id="12" name="HexaStock architecture enlarged" descr="hexastock_architecture_cropped_for_slid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989" y="1225296"/>
            <a:ext cx="9622941" cy="4315968"/>
          </a:xfrm>
          <a:prstGeom prst="rect">
            <a:avLst/>
          </a:prstGeom>
        </p:spPr>
      </p:pic>
      <p:sp>
        <p:nvSpPr>
          <p:cNvPr id="13" name="Slide 10 bottom message"/>
          <p:cNvSpPr txBox="1"/>
          <p:nvPr/>
        </p:nvSpPr>
        <p:spPr>
          <a:xfrm>
            <a:off x="822960" y="5532120"/>
            <a:ext cx="1056132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Mateix patró, diferent domini: el cas d’ús necessita el preu actual, no un proveïdor concret.</a:t>
            </a:r>
          </a:p>
        </p:txBody>
      </p:sp>
      <p:sp>
        <p:nvSpPr>
          <p:cNvPr id="14" name="Slide 10 port note"/>
          <p:cNvSpPr txBox="1"/>
          <p:nvPr/>
        </p:nvSpPr>
        <p:spPr>
          <a:xfrm>
            <a:off x="822960" y="5870448"/>
            <a:ext cx="10561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66707A"/>
                </a:solidFill>
                <a:latin typeface="Arial"/>
              </a:rPr>
              <a:t>Port: StockPriceProviderPort · Adaptadors: Finnhub, Alpha Vantage, mock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Flux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codi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essencial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El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servei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coordina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El domini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decideix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L'adaptador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integra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infraestructura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tecnològica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  <p:pic>
        <p:nvPicPr>
          <p:cNvPr id="12" name="Sell stock sequence simplified" descr="sell-stoc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28" y="1371599"/>
            <a:ext cx="11191832" cy="46966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Dem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o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 dirty="0" err="1">
                <a:solidFill>
                  <a:srgbClr val="192D3E"/>
                </a:solidFill>
                <a:latin typeface="Arial"/>
              </a:rPr>
              <a:t>HexaStock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és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un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projecte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open source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propi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utilitzat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o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consultoria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dirty="0">
                <a:solidFill>
                  <a:srgbClr val="192D3E"/>
                </a:solidFill>
                <a:latin typeface="Arial"/>
              </a:rPr>
              <a:t>empresarial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d'ús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600" b="1" dirty="0" err="1">
                <a:solidFill>
                  <a:srgbClr val="236092"/>
                </a:solidFill>
                <a:latin typeface="Arial"/>
              </a:rPr>
              <a:t>Canvi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tecnològic</a:t>
            </a:r>
            <a:r>
              <a:rPr sz="2600" b="1" dirty="0">
                <a:solidFill>
                  <a:srgbClr val="236092"/>
                </a:solidFill>
                <a:latin typeface="Arial"/>
              </a:rPr>
              <a:t>: </a:t>
            </a:r>
            <a:r>
              <a:rPr sz="2600" b="1" dirty="0" err="1">
                <a:solidFill>
                  <a:srgbClr val="236092"/>
                </a:solidFill>
                <a:latin typeface="Arial"/>
              </a:rPr>
              <a:t>adaptador</a:t>
            </a:r>
            <a:r>
              <a:rPr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FinHub</a:t>
            </a:r>
            <a:r>
              <a:rPr sz="2600" b="1" dirty="0">
                <a:solidFill>
                  <a:srgbClr val="236092"/>
                </a:solidFill>
                <a:latin typeface="Arial"/>
              </a:rPr>
              <a:t>  ↔  </a:t>
            </a:r>
            <a:r>
              <a:rPr sz="2600" b="1" dirty="0" err="1">
                <a:solidFill>
                  <a:srgbClr val="236092"/>
                </a:solidFill>
                <a:latin typeface="Arial"/>
              </a:rPr>
              <a:t>adaptador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AlphaVantage</a:t>
            </a:r>
            <a:endParaRPr sz="2600" b="1" dirty="0">
              <a:solidFill>
                <a:srgbClr val="23609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Canvia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la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infraestructura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;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i el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roman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en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estable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34440" y="1600200"/>
            <a:ext cx="9601200" cy="100584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meu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per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com a docent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transferir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entre 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la </a:t>
            </a:r>
            <a:r>
              <a:rPr lang="es-ES" sz="2400" dirty="0" err="1">
                <a:solidFill>
                  <a:srgbClr val="192D3E"/>
                </a:solidFill>
                <a:latin typeface="Arial"/>
              </a:rPr>
              <a:t>U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niversitat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’empresa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519164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97912" y="3729475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especial al Dr. Josep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Roure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company professor del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qui he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tingut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molt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sobre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de 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software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metodologies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actives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1084</Words>
  <Application>Microsoft Macintosh PowerPoint</Application>
  <PresentationFormat>Panorámica</PresentationFormat>
  <Paragraphs>105</Paragraphs>
  <Slides>13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20</cp:revision>
  <dcterms:created xsi:type="dcterms:W3CDTF">2013-01-27T09:14:16Z</dcterms:created>
  <dcterms:modified xsi:type="dcterms:W3CDTF">2026-06-29T19:54:28Z</dcterms:modified>
  <cp:category/>
</cp:coreProperties>
</file>