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850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BAC575-8351-9441-AF95-237B22BB45B7}" type="datetimeFigureOut">
              <a:rPr lang="es-ES" smtClean="0"/>
              <a:t>3/7/26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8C99D2-5180-AE4F-A32B-A5730E8BE3F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3838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l’accés a informació d’organismes de la Generalitat, altres administracions públiques i institucions, i també facilita la integració entre sistemes d’informació departamentals i la plataforma de tramitació corporativa.</a:t>
            </a:r>
          </a:p>
          <a:p>
            <a:endParaRPr/>
          </a:p>
          <a:p>
            <a:r>
              <a:t>Per a aquesta classe, la idea important és funcional: el procediment necessita informació administrativa fiable; no necessita dependre d’una API concreta en el llenguatge del cas d’ús.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PICA és la Plataforma d’Integració i Col·laboració Administrativa de la Generalitat. És una plataforma corporativa d’interoperabilitat que permet accedir a informació d’altres administracions i integrar sistemes departamentals amb la tramitació corporativa.</a:t>
            </a:r>
          </a:p>
          <a:p>
            <a:endParaRPr/>
          </a:p>
          <a:p>
            <a:r>
              <a:t>Aquí és important no presentar PICA com el problema. PICA és una plataforma corporativa d’interoperabilitat. El problema arquitectònic és que el cas d’ús o la lògica del procediment administratiu depenguin directament dels detalls tècnics de la integració, com SOAP/XML, DTOs o clients específics.</a:t>
            </a:r>
          </a:p>
          <a:p>
            <a:endParaRPr/>
          </a:p>
          <a:p>
            <a:r>
              <a:t>En el context de la consultoria a AGAUR, el problema no era consumir PICA. El problema era que part de la lògica del procediment administratiu quedava massa vinculada a crides SOAP/XML i a detalls tècnics d’integració. Si en el futur el mecanisme corporatiu d’interoperabilitat evoluciona cap a REST, API Manager o altres models, aquest acoblament genera un risc molt alt de manteniment i continuïtat operativa.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classe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A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3000" b="1" dirty="0">
                <a:solidFill>
                  <a:srgbClr val="192D3E"/>
                </a:solidFill>
                <a:latin typeface="Arial"/>
              </a:rPr>
              <a:t>H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exagonal</a:t>
            </a:r>
            <a:endParaRPr sz="3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La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sessió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se centra en 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com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mecanisme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separar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necessitats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del cas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d’ús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detalls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tècnics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les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integracions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externes.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Pla docent 103322: clean/hexagonal architecture, ports i adaptadors, mapping, mòduls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 de la sessió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1" y="1417318"/>
            <a:ext cx="10062106" cy="2011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>
                <a:solidFill>
                  <a:srgbClr val="192D3E"/>
                </a:solidFill>
                <a:latin typeface="Arial"/>
              </a:rPr>
              <a:t>Principi de treball: el cas d’ús necessita una capacitat, no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específica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  <a:br>
              <a:rPr lang="es-ES" sz="2400" b="1" dirty="0">
                <a:solidFill>
                  <a:srgbClr val="192D3E"/>
                </a:solidFill>
                <a:latin typeface="Arial"/>
              </a:rPr>
            </a:br>
            <a:r>
              <a:rPr sz="2400" b="1" dirty="0">
                <a:solidFill>
                  <a:srgbClr val="192D3E"/>
                </a:solidFill>
                <a:latin typeface="Arial"/>
              </a:rPr>
              <a:t>
Ho explorarem a partir d’un cas real d’administració pública.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13816" y="3786975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14983" y="4107015"/>
            <a:ext cx="2846123" cy="9771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Identificar
necessitat</a:t>
            </a:r>
            <a:endParaRPr lang="es-ES" sz="24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44568" y="3786975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45736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Definir
port de sortida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75320" y="3786975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76488" y="4107015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lang="es-ES" sz="2400" b="1" dirty="0">
                <a:solidFill>
                  <a:srgbClr val="192D3E"/>
                </a:solidFill>
                <a:latin typeface="Arial"/>
              </a:rPr>
              <a:t>Implementar
adaptador(s)</a:t>
            </a:r>
            <a:endParaRPr sz="24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 err="1">
                <a:solidFill>
                  <a:srgbClr val="66707A"/>
                </a:solidFill>
                <a:latin typeface="Arial"/>
              </a:rPr>
              <a:t>Abans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de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parlar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d'arquitectura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software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,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cal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entendre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el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 dirty="0" err="1">
                <a:solidFill>
                  <a:srgbClr val="192D3E"/>
                </a:solidFill>
                <a:latin typeface="Arial"/>
              </a:rPr>
              <a:t>Sol·licitud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Expedient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generals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Revisió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acadèmica</a:t>
            </a:r>
            <a:r>
              <a:rPr sz="1800" b="1">
                <a:solidFill>
                  <a:srgbClr val="192D3E"/>
                </a:solidFill>
                <a:latin typeface="Arial"/>
              </a:rPr>
              <a:t>
→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Resolució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7867561" y="3304599"/>
            <a:ext cx="3375837" cy="1579148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599" y="3566160"/>
            <a:ext cx="2871981" cy="95918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Quan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s’acredita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compliment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dels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requisits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econòmics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l’expedient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no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obté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una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valoració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favorable en </a:t>
            </a:r>
            <a:r>
              <a:rPr lang="es-ES" sz="2000" b="1" dirty="0" err="1">
                <a:solidFill>
                  <a:srgbClr val="192D3E"/>
                </a:solidFill>
                <a:latin typeface="Arial"/>
              </a:rPr>
              <a:t>aquesta</a:t>
            </a:r>
            <a:r>
              <a:rPr lang="es-ES" sz="2000" b="1" dirty="0">
                <a:solidFill>
                  <a:srgbClr val="192D3E"/>
                </a:solidFill>
                <a:latin typeface="Arial"/>
              </a:rPr>
              <a:t> fase.</a:t>
            </a:r>
            <a:endParaRPr sz="20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Quina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externa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6248" y="293026"/>
            <a:ext cx="2435192" cy="46092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/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Patrimoni</a:t>
            </a:r>
            <a:endParaRPr dirty="0"/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rPr dirty="0" err="1"/>
              <a:t>Béns</a:t>
            </a:r>
            <a:r>
              <a:rPr dirty="0"/>
              <a:t> </a:t>
            </a:r>
            <a:r>
              <a:rPr dirty="0" err="1"/>
              <a:t>immobles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" y="6003036"/>
            <a:ext cx="1049274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PICA = Plataforma d’Integració i Col·laboració Administrativa de la Generalitat de Catalunya. És una plataforma corporativa de la Generalitat per facilitar la interoperabilitat entre sistemes de la Generalitat, altres administracions públiques i institucions.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lang="es-ES" sz="10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l"/>
            <a:r>
              <a:rPr sz="3100" b="1">
                <a:solidFill>
                  <a:srgbClr val="192D3E"/>
                </a:solidFill>
                <a:latin typeface="Arial"/>
              </a:rPr>
              <a:t>Dependència directa entre procediment i integració</a:t>
            </a:r>
            <a:endParaRPr lang="es-ES"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114" y="293025"/>
            <a:ext cx="2413325" cy="45678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338855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523966"/>
            <a:ext cx="10241280" cy="5669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900" b="1" dirty="0">
                <a:solidFill>
                  <a:srgbClr val="192D3E"/>
                </a:solidFill>
                <a:latin typeface="Arial"/>
              </a:rPr>
              <a:t>Cas </a:t>
            </a:r>
            <a:r>
              <a:rPr sz="29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900" b="1" dirty="0">
                <a:solidFill>
                  <a:srgbClr val="192D3E"/>
                </a:solidFill>
                <a:latin typeface="Arial"/>
              </a:rPr>
              <a:t>  →  SOAP/XML  →  PICA  →  AEAT</a:t>
            </a:r>
            <a:r>
              <a:rPr lang="es-ES" sz="2900" b="1" dirty="0">
                <a:solidFill>
                  <a:srgbClr val="192D3E"/>
                </a:solidFill>
                <a:latin typeface="Arial"/>
              </a:rPr>
              <a:t> / </a:t>
            </a:r>
            <a:r>
              <a:rPr lang="es-ES" sz="2900" b="1" dirty="0" err="1">
                <a:solidFill>
                  <a:srgbClr val="192D3E"/>
                </a:solidFill>
                <a:latin typeface="Arial"/>
              </a:rPr>
              <a:t>Cadastre</a:t>
            </a:r>
            <a:endParaRPr sz="2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914400" y="3519381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793701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Acoblament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tecnològic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procediment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700" b="1" dirty="0" err="1">
                <a:solidFill>
                  <a:srgbClr val="192D3E"/>
                </a:solidFill>
                <a:latin typeface="Arial"/>
              </a:rPr>
              <a:t>administratiu</a:t>
            </a:r>
            <a:r>
              <a:rPr lang="es-ES"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depèn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SOAP/PICA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26280" y="3519381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793701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700" b="1">
                <a:solidFill>
                  <a:srgbClr val="192D3E"/>
                </a:solidFill>
                <a:latin typeface="Arial"/>
              </a:rPr>
              <a:t>Impacte en el cas d’ús
L’evolució de l’API travessa la frontera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3519381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3736551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700" b="1" dirty="0" err="1">
                <a:solidFill>
                  <a:srgbClr val="192D3E"/>
                </a:solidFill>
                <a:latin typeface="Arial"/>
              </a:rPr>
              <a:t>Risc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continuïtat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operativa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més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fràgil</a:t>
            </a:r>
            <a:r>
              <a:rPr sz="1700" b="1" dirty="0">
                <a:solidFill>
                  <a:srgbClr val="192D3E"/>
                </a:solidFill>
                <a:latin typeface="Arial"/>
              </a:rPr>
              <a:t> del </a:t>
            </a:r>
            <a:r>
              <a:rPr sz="1700" b="1" dirty="0" err="1">
                <a:solidFill>
                  <a:srgbClr val="192D3E"/>
                </a:solidFill>
                <a:latin typeface="Arial"/>
              </a:rPr>
              <a:t>servei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14400" y="5267685"/>
            <a:ext cx="10241280" cy="50292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500" b="1" dirty="0">
                <a:solidFill>
                  <a:srgbClr val="236092"/>
                </a:solidFill>
                <a:latin typeface="Arial"/>
              </a:rPr>
              <a:t>El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problema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no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consumir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PICA;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és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que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el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procediment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en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depengui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directament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  <p:sp>
        <p:nvSpPr>
          <p:cNvPr id="15" name="CTTI diagnostic subtitle"/>
          <p:cNvSpPr txBox="1"/>
          <p:nvPr/>
        </p:nvSpPr>
        <p:spPr>
          <a:xfrm>
            <a:off x="829694" y="1736097"/>
            <a:ext cx="10532612" cy="78786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Els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principis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CTTI orienten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sistemes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desacoblats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serveis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substituïbles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; per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això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, si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lògica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del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procediment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administratiu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queda vinculada a crides SOAP/XML contra PICA,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qualsevol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evolució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cap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a REST, API Manager o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altres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mecanismes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pot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impactar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directament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 la </a:t>
            </a:r>
            <a:r>
              <a:rPr lang="es-ES" sz="1400" b="0" dirty="0" err="1">
                <a:solidFill>
                  <a:srgbClr val="66707A"/>
                </a:solidFill>
                <a:latin typeface="Arial"/>
              </a:rPr>
              <a:t>tramitació</a:t>
            </a:r>
            <a:r>
              <a:rPr lang="es-ES" sz="1400" b="0" dirty="0">
                <a:solidFill>
                  <a:srgbClr val="66707A"/>
                </a:solidFill>
                <a:latin typeface="Arial"/>
              </a:rPr>
              <a:t>.</a:t>
            </a:r>
            <a:endParaRPr sz="1400" b="0" dirty="0">
              <a:solidFill>
                <a:srgbClr val="66707A"/>
              </a:solidFill>
              <a:latin typeface="Arial"/>
            </a:endParaRPr>
          </a:p>
        </p:txBody>
      </p:sp>
      <p:sp>
        <p:nvSpPr>
          <p:cNvPr id="16" name="PICA definition slide 7"/>
          <p:cNvSpPr txBox="1"/>
          <p:nvPr/>
        </p:nvSpPr>
        <p:spPr>
          <a:xfrm>
            <a:off x="1097280" y="5938174"/>
            <a:ext cx="10532612" cy="535777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1000" b="0" dirty="0">
                <a:solidFill>
                  <a:srgbClr val="66707A"/>
                </a:solidFill>
                <a:latin typeface="Arial"/>
              </a:rPr>
              <a:t>CTTI: Centre de Telecomunicacions i Tecnologies de la Informació de la Generalitat de Catalunya. És l’organisme de la Generalitat de Catalunya que presta serveis TIC corporatius i impulsa l’arquitectura i les solucions tecnològiques transversals de la Generalitat.</a:t>
            </a:r>
            <a:br>
              <a:rPr lang="es-ES" sz="1000" b="0" dirty="0">
                <a:solidFill>
                  <a:srgbClr val="66707A"/>
                </a:solidFill>
                <a:latin typeface="Arial"/>
              </a:rPr>
            </a:br>
            <a:endParaRPr sz="10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1460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514600" y="151790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Flux d'execució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51460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514600" y="247802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→ Adaptador → Sistema extern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51460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514600" y="343814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Dependència de codi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251460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514600" y="4398264"/>
            <a:ext cx="448056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 → Port de sortida ← Adaptador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43800" y="1600200"/>
            <a:ext cx="3200400" cy="3200400"/>
          </a:xfrm>
          <a:prstGeom prst="roundRect">
            <a:avLst>
              <a:gd name="adj" fmla="val 5000"/>
            </a:avLst>
          </a:prstGeom>
          <a:solidFill>
            <a:srgbClr val="F4F8FB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ctr"/>
            <a:r>
              <a:rPr sz="1650" b="1">
                <a:solidFill>
                  <a:srgbClr val="192D3E"/>
                </a:solidFill>
                <a:latin typeface="Arial"/>
              </a:rPr>
              <a:t>Concreció en Java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Port de sortida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interfície de l’aplicació</a:t>
            </a:r>
          </a:p>
          <a:p>
            <a:endParaRPr sz="500"/>
          </a:p>
          <a:p>
            <a:pPr algn="ctr"/>
            <a:r>
              <a:rPr sz="1400" b="1">
                <a:solidFill>
                  <a:srgbClr val="192D3E"/>
                </a:solidFill>
                <a:latin typeface="Arial"/>
              </a:rPr>
              <a:t>Adaptador</a:t>
            </a:r>
          </a:p>
          <a:p>
            <a:pPr algn="ctr"/>
            <a:r>
              <a:rPr sz="1300">
                <a:solidFill>
                  <a:srgbClr val="192D3E"/>
                </a:solidFill>
                <a:latin typeface="Arial"/>
              </a:rPr>
              <a:t>classe que implementa aquesta interfície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>
                <a:solidFill>
                  <a:srgbClr val="192D3E"/>
                </a:solidFill>
                <a:latin typeface="Arial"/>
              </a:rPr>
              <a:t>El port defineix què necessita el cas d’ús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5166360" cy="56692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300" b="1" dirty="0" err="1">
                <a:solidFill>
                  <a:srgbClr val="192D3E"/>
                </a:solidFill>
                <a:latin typeface="Arial"/>
              </a:rPr>
              <a:t>La infraestructura depèn del port definit per l’aplicació</a:t>
            </a:r>
            <a:endParaRPr sz="23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SOAP/XML o REST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APIs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4993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74450190-3EBE-2ED3-C573-816824D867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197888"/>
            <a:ext cx="11229045" cy="523489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400" dirty="0">
                <a:solidFill>
                  <a:srgbClr val="192D3E"/>
                </a:solidFill>
                <a:latin typeface="Arial"/>
              </a:rPr>
              <a:t>El cas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'Venda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d'accions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borsàries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'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el preu actual,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independentment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1400" dirty="0" err="1">
                <a:solidFill>
                  <a:srgbClr val="192D3E"/>
                </a:solidFill>
                <a:latin typeface="Arial"/>
              </a:rPr>
              <a:t>proveïdor</a:t>
            </a:r>
            <a:r>
              <a:rPr lang="es-ES" sz="1400" dirty="0">
                <a:solidFill>
                  <a:srgbClr val="192D3E"/>
                </a:solidFill>
                <a:latin typeface="Arial"/>
              </a:rPr>
              <a:t> (API).</a:t>
            </a:r>
            <a:endParaRPr sz="130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  <p:sp>
        <p:nvSpPr>
          <p:cNvPr id="14" name="Slide 10 port note"/>
          <p:cNvSpPr txBox="1"/>
          <p:nvPr/>
        </p:nvSpPr>
        <p:spPr>
          <a:xfrm>
            <a:off x="4274820" y="6523074"/>
            <a:ext cx="10561320" cy="20116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900" b="0" dirty="0">
                <a:solidFill>
                  <a:srgbClr val="66707A"/>
                </a:solidFill>
                <a:latin typeface="Arial"/>
              </a:rPr>
              <a:t>Port: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StockPriceProviderPort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 ·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Adaptadors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: </a:t>
            </a:r>
            <a:r>
              <a:rPr sz="900" b="0" dirty="0" err="1">
                <a:solidFill>
                  <a:srgbClr val="66707A"/>
                </a:solidFill>
                <a:latin typeface="Arial"/>
              </a:rPr>
              <a:t>Finnhub</a:t>
            </a:r>
            <a:r>
              <a:rPr sz="900" b="0" dirty="0">
                <a:solidFill>
                  <a:srgbClr val="66707A"/>
                </a:solidFill>
                <a:latin typeface="Arial"/>
              </a:rPr>
              <a:t>, Alpha Vantage, mock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A6EDC6F8-5757-04F1-70A5-BEE4AFAFA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128" y="1101320"/>
            <a:ext cx="10757264" cy="534807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>
                <a:solidFill>
                  <a:srgbClr val="192D3E"/>
                </a:solidFill>
                <a:latin typeface="Arial"/>
              </a:rPr>
              <a:t>Flux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codi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essencial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 dirty="0">
                <a:solidFill>
                  <a:srgbClr val="66707A"/>
                </a:solidFill>
                <a:latin typeface="Arial"/>
              </a:rPr>
              <a:t>El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servei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coordina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El domini </a:t>
            </a:r>
            <a:r>
              <a:rPr sz="1300" b="0" dirty="0" err="1">
                <a:solidFill>
                  <a:srgbClr val="66707A"/>
                </a:solidFill>
                <a:latin typeface="Arial"/>
              </a:rPr>
              <a:t>decideix</a:t>
            </a:r>
            <a:r>
              <a:rPr sz="1300" b="0" dirty="0">
                <a:solidFill>
                  <a:srgbClr val="66707A"/>
                </a:solidFill>
                <a:latin typeface="Arial"/>
              </a:rPr>
              <a:t>.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L'adaptador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integra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amb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infraestructura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tecnològica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 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  <p:pic>
        <p:nvPicPr>
          <p:cNvPr id="12" name="Sell stock sequence simplified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28" y="1371599"/>
            <a:ext cx="11191832" cy="46966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78973" y="1874094"/>
            <a:ext cx="9834053" cy="178052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Vull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expressar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meu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per un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entorn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que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m’encoratja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créixer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tant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docència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l’àmbit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acadèmic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al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costat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d’un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del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qual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aprenc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qui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comparteixo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coneixement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responsabilitat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compromís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la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formació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0" dirty="0" err="1">
                <a:solidFill>
                  <a:srgbClr val="192D3E"/>
                </a:solidFill>
                <a:latin typeface="Arial"/>
              </a:rPr>
              <a:t>universitària</a:t>
            </a:r>
            <a:r>
              <a:rPr lang="es-ES" sz="2400" b="0" dirty="0">
                <a:solidFill>
                  <a:srgbClr val="192D3E"/>
                </a:solidFill>
                <a:latin typeface="Arial"/>
              </a:rPr>
              <a:t>.</a:t>
            </a:r>
            <a:endParaRPr sz="24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1885683" y="4295446"/>
            <a:ext cx="8595360" cy="12174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046235" y="4399432"/>
            <a:ext cx="8099528" cy="86868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600" b="0" dirty="0" err="1">
                <a:solidFill>
                  <a:srgbClr val="192D3E"/>
                </a:solidFill>
                <a:latin typeface="Arial"/>
              </a:rPr>
              <a:t>Agraïment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especial al Dr. Josep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Roure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company professor del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TecnoCampus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,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qui he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tingut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l'oportunitat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d'aprendre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sobre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sz="1600" b="0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de </a:t>
            </a:r>
            <a:r>
              <a:rPr sz="1600" b="0" dirty="0">
                <a:solidFill>
                  <a:srgbClr val="192D3E"/>
                </a:solidFill>
                <a:latin typeface="Arial"/>
              </a:rPr>
              <a:t>software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,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metodologies</a:t>
            </a:r>
            <a:r>
              <a:rPr lang="es-ES" sz="1600" b="0" dirty="0">
                <a:solidFill>
                  <a:srgbClr val="192D3E"/>
                </a:solidFill>
                <a:latin typeface="Arial"/>
              </a:rPr>
              <a:t> actives </a:t>
            </a:r>
            <a:r>
              <a:rPr lang="es-ES" sz="1600" b="0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i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treball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 en </a:t>
            </a:r>
            <a:r>
              <a:rPr lang="es-ES" sz="1600" dirty="0" err="1">
                <a:solidFill>
                  <a:srgbClr val="192D3E"/>
                </a:solidFill>
                <a:latin typeface="Arial"/>
              </a:rPr>
              <a:t>equip</a:t>
            </a:r>
            <a:r>
              <a:rPr lang="es-ES" sz="1600" dirty="0">
                <a:solidFill>
                  <a:srgbClr val="192D3E"/>
                </a:solidFill>
                <a:latin typeface="Arial"/>
              </a:rPr>
              <a:t>.</a:t>
            </a:r>
            <a:endParaRPr sz="1600" b="0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11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Annex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. Demo opcional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 dirty="0" err="1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professional.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d'ús</a:t>
            </a:r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1900" b="1" dirty="0" err="1">
                <a:solidFill>
                  <a:srgbClr val="192D3E"/>
                </a:solidFill>
                <a:latin typeface="Arial"/>
              </a:rPr>
              <a:t>ervei</a:t>
            </a:r>
            <a:r>
              <a:rPr lang="es-ES" sz="19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900" b="1" dirty="0" err="1">
                <a:solidFill>
                  <a:srgbClr val="192D3E"/>
                </a:solidFill>
                <a:latin typeface="Arial"/>
              </a:rPr>
              <a:t>d’Aplicació</a:t>
            </a:r>
            <a:endParaRPr lang="es-ES" sz="1900" b="1" dirty="0">
              <a:solidFill>
                <a:srgbClr val="192D3E"/>
              </a:solidFill>
              <a:latin typeface="Arial"/>
            </a:endParaRPr>
          </a:p>
          <a:p>
            <a:pPr algn="ctr"/>
            <a:endParaRPr sz="19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19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Canvi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tecnològic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: adaptador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Finnhub</a:t>
            </a:r>
            <a:r>
              <a:rPr lang="es-ES" sz="2600" b="1" dirty="0">
                <a:solidFill>
                  <a:srgbClr val="236092"/>
                </a:solidFill>
                <a:latin typeface="Arial"/>
              </a:rPr>
              <a:t> ↔ adaptador Alpha </a:t>
            </a:r>
            <a:r>
              <a:rPr lang="es-ES" sz="2600" b="1" dirty="0" err="1">
                <a:solidFill>
                  <a:srgbClr val="236092"/>
                </a:solidFill>
                <a:latin typeface="Arial"/>
              </a:rPr>
              <a:t>Vantage</a:t>
            </a:r>
            <a:endParaRPr sz="2600" b="1" dirty="0">
              <a:solidFill>
                <a:srgbClr val="236092"/>
              </a:solidFill>
              <a:latin typeface="Arial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 dirty="0" err="1">
                <a:solidFill>
                  <a:srgbClr val="192D3E"/>
                </a:solidFill>
                <a:latin typeface="Arial"/>
              </a:rPr>
              <a:t>Canvia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la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infraestructura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;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el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cas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d'ús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i el </a:t>
            </a:r>
            <a:r>
              <a:rPr lang="es-ES" sz="24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roman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en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400" b="1" dirty="0" err="1">
                <a:solidFill>
                  <a:srgbClr val="192D3E"/>
                </a:solidFill>
                <a:latin typeface="Arial"/>
              </a:rPr>
              <a:t>estable</a:t>
            </a:r>
            <a:r>
              <a:rPr lang="es-ES" sz="2400" b="1" dirty="0">
                <a:solidFill>
                  <a:srgbClr val="192D3E"/>
                </a:solidFill>
                <a:latin typeface="Arial"/>
              </a:rPr>
              <a:t>s</a:t>
            </a:r>
            <a:r>
              <a:rPr sz="24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lang="es-ES" sz="800" b="0" dirty="0">
                <a:solidFill>
                  <a:srgbClr val="66707A"/>
                </a:solidFill>
                <a:latin typeface="Arial"/>
              </a:rPr>
              <a:t>12</a:t>
            </a:r>
          </a:p>
          <a:p>
            <a:pPr algn="r"/>
            <a:endParaRPr sz="800" b="0" dirty="0">
              <a:solidFill>
                <a:srgbClr val="66707A"/>
              </a:solidFill>
              <a:latin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1730</TotalTime>
  <Words>1118</Words>
  <Application>Microsoft Macintosh PowerPoint</Application>
  <PresentationFormat>Panorámica</PresentationFormat>
  <Paragraphs>97</Paragraphs>
  <Slides>12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36</cp:revision>
  <cp:lastPrinted>2026-07-01T20:23:23Z</cp:lastPrinted>
  <dcterms:created xsi:type="dcterms:W3CDTF">2013-01-27T09:14:16Z</dcterms:created>
  <dcterms:modified xsi:type="dcterms:W3CDTF">2026-07-03T19:06:20Z</dcterms:modified>
  <cp:category/>
</cp:coreProperties>
</file>