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8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58"/>
  </p:normalViewPr>
  <p:slideViewPr>
    <p:cSldViewPr snapToGrid="0">
      <p:cViewPr varScale="1">
        <p:scale>
          <a:sx n="120" d="100"/>
          <a:sy n="120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Context: classe de DSI.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real acreditat: consultoria Generalitat / AGAUR.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trobada entre dimensió acadèmica i professional.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ports de sortida quan cal informació externa. No panoràmica completa d'arquitectura hexagonal.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situar la sessió dins l’assignatura.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Situar: DSI, tercer curs,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 i arquitectura hexagonal, ports i adaptadors, mapping, modularització i Domain-Driven Design.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limitat: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formular l’objectiu de treball.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capacitat funcional, no tecnologia específica.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Tres decisions: identificar necessitat, definir port, implementar 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explicar encara tota l’abstracció.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cas real, després decisió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procediment administratiu de beca.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entendre el procediment; després la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Sol·licitud -&gt; expedient -&gt; requisits -&gt;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Avaluació econòmica: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Encara no parlar de SOAP, XML, REST o BD.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quina informació externa cal?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 funcional: informació fiable de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administratives: AEAT i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Canal o plataforma d’interoperabilitat: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presentar PICA com a font original del mateix tipus.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informació administrativa, no API concreta.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què passa si el cas d’ús coneix la integració?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Problema: acoblament directe amb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cadena SOAP/XML -&gt; PICA -&gt; AEAT i/o Cadastre és el problema, no la 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cas d’ús acaba coneixent SOAP/XML, DTOs, clients i errors.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canvia la integració, el canvi travessa el cas d’ús.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Riscos: manteniment fràgil i més superfície d’impacte davant canvis externs.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resposta arquitectònica,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Distingir dues fletxes: flux i dependència de codi.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Flux: el cas d’ús demana informació cap enfora.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Dependència: cas d’ús -&gt; port; adaptador -&gt;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Conceptualment, el port és un contracte; en Java, aquí s’expressa com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L’adaptador implementa aquesta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la infraestructura depèn del port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aplicar-ho a la necessitat d’informació econòmica.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Servei d’aplicació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Ports dins del llenguatge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Adaptadors fora del nucli: PICA, JDBC, REST, SOAP/XML.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Fletxa important: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mateix patró, canvi de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-&gt; cartera d’inversió personal. Cas d’ús: vendre accions. Necessitat: preu actual de l’acció. Port de sortida: StockPriceProviderPort. Separar proveïdor de dades, API concreta, contracte tècnic i adaptador. Servei d’aplicació coordina consulta del preu i recuperació de cartera. Domini decideix; adaptador integra. Transició: conclusió tècnica.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la dependència externa; la situa en una frontera explícita i controlable.</a:t>
            </a:r>
          </a:p>
          <a:p>
            <a:r>
              <a:rPr lang="ca-ES"/>
              <a:t>Quan canvia proveïdor o API, volem localitzar l’impacte a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La frase clau és l’element més memorable: l’arquitectura no elimina el canvi; el localitza.</a:t>
            </a:r>
          </a:p>
          <a:p>
            <a:r>
              <a:rPr lang="ca-ES"/>
              <a:t>Sense agraïments en aquesta diapositiva: donar pas a la diapositiva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opcional: només si el tribunal ho demana o queda temps clar.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forma part del cos principal de 20 minuts.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Missatge demo: mateix cas d’ús, servei i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Canvia l’adaptador: Finnhub, Alpha Vantage o mock.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Objectiu docent: contracte estable, infraestructura substituïble.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Frase d’agraïment literal: no resumir-la ni canviar cap paraula.</a:t>
            </a:r>
          </a:p>
          <a:p>
            <a:r>
              <a:rPr lang="ca-ES"/>
              <a:t>Cap nom de persona i cap altre agraïment.</a:t>
            </a:r>
          </a:p>
          <a:p>
            <a:r>
              <a:rPr lang="ca-ES"/>
              <a:t>Pausa natural abans de: Moltes gràcies.</a:t>
            </a:r>
          </a:p>
          <a:p>
            <a:r>
              <a:rPr lang="ca-ES"/>
              <a:t>Després de Moltes gràcies, la classe queda formalment tancada.</a:t>
            </a:r>
          </a:p>
          <a:p>
            <a:r>
              <a:rPr lang="ca-ES"/>
              <a:t>No obrir la demo si el tribunal no la demana o si no hi ha temps explícit.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2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procediment </a:t>
            </a:r>
            <a:r>
              <a:rPr lang="es-E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administratiu </a:t>
            </a: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depèn de SOAP/PICA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Impacte en 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L’evolució de la integració travessa la frontera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Més superfície d'impacte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Manteniment més fràgil del servei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Java concretion container"/>
          <p:cNvSpPr/>
          <p:nvPr/>
        </p:nvSpPr>
        <p:spPr>
          <a:xfrm>
            <a:off x="7498079" y="1371600"/>
            <a:ext cx="3657600" cy="3703320"/>
          </a:xfrm>
          <a:prstGeom prst="roundRect">
            <a:avLst>
              <a:gd name="adj" fmla="val 55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Java concretion title"/>
          <p:cNvSpPr txBox="1"/>
          <p:nvPr/>
        </p:nvSpPr>
        <p:spPr>
          <a:xfrm>
            <a:off x="7498079" y="149961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92D3E"/>
                </a:solidFill>
                <a:latin typeface="Arial"/>
              </a:rPr>
              <a:t>Concreció en Java</a:t>
            </a:r>
          </a:p>
        </p:txBody>
      </p:sp>
      <p:sp>
        <p:nvSpPr>
          <p:cNvPr id="156" name="Port interface card"/>
          <p:cNvSpPr/>
          <p:nvPr/>
        </p:nvSpPr>
        <p:spPr>
          <a:xfrm>
            <a:off x="7818120" y="1874519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Port interface name"/>
          <p:cNvSpPr txBox="1"/>
          <p:nvPr/>
        </p:nvSpPr>
        <p:spPr>
          <a:xfrm>
            <a:off x="7818120" y="1947672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6707A"/>
                </a:solidFill>
                <a:latin typeface="Arial"/>
              </a:rPr>
              <a:t>«interface»</a:t>
            </a:r>
          </a:p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58" name="Port card divider"/>
          <p:cNvSpPr/>
          <p:nvPr/>
        </p:nvSpPr>
        <p:spPr>
          <a:xfrm>
            <a:off x="8001000" y="2505456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Port card subtitle"/>
          <p:cNvSpPr txBox="1"/>
          <p:nvPr/>
        </p:nvSpPr>
        <p:spPr>
          <a:xfrm>
            <a:off x="7818120" y="256032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contracte de l’aplicació</a:t>
            </a:r>
          </a:p>
        </p:txBody>
      </p:sp>
      <p:sp>
        <p:nvSpPr>
          <p:cNvPr id="160" name="Implements arrow head"/>
          <p:cNvSpPr/>
          <p:nvPr/>
        </p:nvSpPr>
        <p:spPr>
          <a:xfrm>
            <a:off x="9226296" y="2871216"/>
            <a:ext cx="201168" cy="155448"/>
          </a:xfrm>
          <a:prstGeom prst="triangle">
            <a:avLst/>
          </a:prstGeom>
          <a:solidFill>
            <a:srgbClr val="FFFFFF"/>
          </a:solidFill>
          <a:ln w="15875">
            <a:solidFill>
              <a:srgbClr val="19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Implements arrow shaft"/>
          <p:cNvCxnSpPr/>
          <p:nvPr/>
        </p:nvCxnSpPr>
        <p:spPr>
          <a:xfrm>
            <a:off x="9326880" y="3026664"/>
            <a:ext cx="0" cy="768096"/>
          </a:xfrm>
          <a:prstGeom prst="line">
            <a:avLst/>
          </a:prstGeom>
          <a:ln w="19050">
            <a:solidFill>
              <a:srgbClr val="192D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Implements label"/>
          <p:cNvSpPr txBox="1"/>
          <p:nvPr/>
        </p:nvSpPr>
        <p:spPr>
          <a:xfrm>
            <a:off x="9464040" y="324612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>
                <a:solidFill>
                  <a:srgbClr val="66707A"/>
                </a:solidFill>
                <a:latin typeface="Consolas"/>
              </a:rPr>
              <a:t>implements</a:t>
            </a:r>
          </a:p>
        </p:txBody>
      </p:sp>
      <p:sp>
        <p:nvSpPr>
          <p:cNvPr id="163" name="Adapter card"/>
          <p:cNvSpPr/>
          <p:nvPr/>
        </p:nvSpPr>
        <p:spPr>
          <a:xfrm>
            <a:off x="7818120" y="3794760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Adapter name"/>
          <p:cNvSpPr txBox="1"/>
          <p:nvPr/>
        </p:nvSpPr>
        <p:spPr>
          <a:xfrm>
            <a:off x="781812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65" name="Adapter card divider"/>
          <p:cNvSpPr/>
          <p:nvPr/>
        </p:nvSpPr>
        <p:spPr>
          <a:xfrm>
            <a:off x="8001000" y="4224528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Adapter subtitle"/>
          <p:cNvSpPr txBox="1"/>
          <p:nvPr/>
        </p:nvSpPr>
        <p:spPr>
          <a:xfrm>
            <a:off x="7955279" y="42793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classe que implementa</a:t>
            </a:r>
          </a:p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aquesta interfície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«Venda d’accions»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396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81396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expressa què necessita.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464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4464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el contracte de l’aplicació.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7532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L’adaptador encapsula la integració externa.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69840" y="3350000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30392" y="3453986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L’arquitectura no elimina el canvi; el localitza.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10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2600000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30392" y="4800000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Moltes gràcies.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1768</TotalTime>
  <Words>1471</Words>
  <Application>Microsoft Macintosh PowerPoint</Application>
  <PresentationFormat>Panorámica</PresentationFormat>
  <Paragraphs>177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46</cp:revision>
  <cp:lastPrinted>2026-07-01T20:23:23Z</cp:lastPrinted>
  <dcterms:created xsi:type="dcterms:W3CDTF">2013-01-27T09:14:16Z</dcterms:created>
  <dcterms:modified xsi:type="dcterms:W3CDTF">2026-07-12T19:45:33Z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