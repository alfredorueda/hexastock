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850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4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BAC575-8351-9441-AF95-237B22BB45B7}" type="datetimeFigureOut">
              <a:rPr lang="es-ES" smtClean="0"/>
              <a:t>3/7/26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8C99D2-5180-AE4F-A32B-A5730E8BE3F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33838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PICA és la Plataforma d’Integració i Col·laboració Administrativa de la Generalitat. És una plataforma corporativa d’interoperabilitat que permet l’accés a informació d’organismes de la Generalitat, altres administracions públiques i institucions, i també facilita la integració entre sistemes d’informació departamentals i la plataforma de tramitació corporativa.</a:t>
            </a:r>
          </a:p>
          <a:p>
            <a:endParaRPr/>
          </a:p>
          <a:p>
            <a:r>
              <a:t>Per a aquesta classe, la idea important és funcional: el procediment necessita informació administrativa fiable; no necessita dependre d’una API concreta en el llenguatge del cas d’ús.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PICA és la Plataforma d’Integració i Col·laboració Administrativa de la Generalitat. És una plataforma corporativa d’interoperabilitat que permet accedir a informació d’altres administracions i integrar sistemes departamentals amb la tramitació corporativa.</a:t>
            </a:r>
          </a:p>
          <a:p>
            <a:endParaRPr/>
          </a:p>
          <a:p>
            <a:r>
              <a:t>Aquí és important no presentar PICA com el problema. PICA és una plataforma corporativa d’interoperabilitat. El problema arquitectònic és que el cas d’ús o la lògica del procediment administratiu depenguin directament dels detalls tècnics de la integració, com SOAP/XML, DTOs o clients específics.</a:t>
            </a:r>
          </a:p>
          <a:p>
            <a:endParaRPr/>
          </a:p>
          <a:p>
            <a:r>
              <a:t>En el context de la consultoria a AGAUR, el problema no era consumir PICA. El problema era que part de la lògica del procediment administratiu quedava massa vinculada a crides SOAP/XML i a detalls tècnics d’integració. Si en el futur el mecanisme corporatiu d’interoperabilitat evoluciona cap a REST, API Manager o altres models, aquest acoblament genera un risc molt alt de manteniment i continuïtat operativa.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1234440"/>
            <a:ext cx="9875520" cy="82296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3200" b="1">
                <a:solidFill>
                  <a:srgbClr val="192D3E"/>
                </a:solidFill>
                <a:latin typeface="Arial"/>
              </a:rPr>
              <a:t>Disseny de ports de sortida en arquitectura hexagonal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41517"/>
            <a:ext cx="932688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2100" dirty="0">
                <a:solidFill>
                  <a:srgbClr val="236092"/>
                </a:solidFill>
                <a:latin typeface="Arial"/>
              </a:rPr>
              <a:t>D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esacoblament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entre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casos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d'ús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, domini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i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APIs externes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88920"/>
            <a:ext cx="96012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0" dirty="0">
                <a:solidFill>
                  <a:srgbClr val="262626"/>
                </a:solidFill>
                <a:latin typeface="Arial"/>
              </a:rPr>
              <a:t>Una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classe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Sistemes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d'Informació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partir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d'un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cas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real de </a:t>
            </a:r>
            <a:r>
              <a:rPr lang="es-ES" dirty="0">
                <a:solidFill>
                  <a:srgbClr val="262626"/>
                </a:solidFill>
                <a:latin typeface="Arial"/>
              </a:rPr>
              <a:t>la Generalitat de Catalunya</a:t>
            </a:r>
          </a:p>
          <a:p>
            <a:pPr algn="l"/>
            <a:endParaRPr sz="18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4663440"/>
            <a:ext cx="685800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66707A"/>
                </a:solidFill>
                <a:latin typeface="Arial"/>
              </a:rPr>
              <a:t>Alfredo Rueda Unsain
Defensa de plaça de professorat permanent
TecnoCampus · classe magistral reduïda, 20 minuts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On som dins l'assignatura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Disseny de Sistemes d'Informació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3749039" cy="91440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800" b="1">
                <a:solidFill>
                  <a:srgbClr val="192D3E"/>
                </a:solidFill>
                <a:latin typeface="Arial"/>
              </a:rPr>
              <a:t>Disseny de Sistemes d'Informació
3r curs · 6 ECTS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0" y="1508760"/>
            <a:ext cx="45720" cy="3200400"/>
          </a:xfrm>
          <a:prstGeom prst="roundRect">
            <a:avLst/>
          </a:prstGeom>
          <a:solidFill>
            <a:srgbClr val="236092"/>
          </a:solidFill>
          <a:ln w="9525">
            <a:solidFill>
              <a:srgbClr val="2360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66360" y="1508760"/>
            <a:ext cx="5394960" cy="1051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3000" b="1" dirty="0">
                <a:solidFill>
                  <a:srgbClr val="192D3E"/>
                </a:solidFill>
                <a:latin typeface="Arial"/>
              </a:rPr>
              <a:t>Ports de 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en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3000" b="1" dirty="0">
                <a:solidFill>
                  <a:srgbClr val="192D3E"/>
                </a:solidFill>
                <a:latin typeface="Arial"/>
              </a:rPr>
              <a:t>A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rquitectura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3000" b="1" dirty="0">
                <a:solidFill>
                  <a:srgbClr val="192D3E"/>
                </a:solidFill>
                <a:latin typeface="Arial"/>
              </a:rPr>
              <a:t>H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exagonal</a:t>
            </a:r>
            <a:endParaRPr sz="30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394960" y="2971800"/>
            <a:ext cx="4983480" cy="114300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0" dirty="0">
                <a:solidFill>
                  <a:srgbClr val="262626"/>
                </a:solidFill>
                <a:latin typeface="Arial"/>
              </a:rPr>
              <a:t>
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La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sessió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se centra en el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ports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sortida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com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a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mecanisme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per separar les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necessitats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del cas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d’ús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dels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detalls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tècnics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les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integracions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externes.</a:t>
            </a:r>
            <a:endParaRPr sz="22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" y="5669280"/>
            <a:ext cx="98755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0">
                <a:solidFill>
                  <a:srgbClr val="66707A"/>
                </a:solidFill>
                <a:latin typeface="Arial"/>
              </a:rPr>
              <a:t>Pla docent 103322: clean/hexagonal architecture, ports i adaptadors, mapping, mòduls i DDD.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7A17-E989-2125-8BF4-9FD64C66B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13BE6D-4BF0-DC81-2CE8-23039C4C9D58}"/>
              </a:ext>
            </a:extLst>
          </p:cNvPr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Objectiu de la sessió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>
            <a:extLst>
              <a:ext uri="{FF2B5EF4-FFF2-40B4-BE49-F238E27FC236}">
                <a16:creationId xmlns:a16="http://schemas.microsoft.com/office/drawing/2014/main" id="{6E5AEF9E-E38C-2981-74C2-DA381C8551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65CC16B-626E-E880-45E7-0DBECBCD6306}"/>
              </a:ext>
            </a:extLst>
          </p:cNvPr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442AE4-020C-7BAB-E612-2262DEB4097A}"/>
              </a:ext>
            </a:extLst>
          </p:cNvPr>
          <p:cNvSpPr txBox="1"/>
          <p:nvPr/>
        </p:nvSpPr>
        <p:spPr>
          <a:xfrm>
            <a:off x="960121" y="1417318"/>
            <a:ext cx="10062106" cy="2011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>
                <a:solidFill>
                  <a:srgbClr val="192D3E"/>
                </a:solidFill>
                <a:latin typeface="Arial"/>
              </a:rPr>
              <a:t>Principi de treball: el cas d’ús necessita una capacitat, no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una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tecnologia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 específica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.</a:t>
            </a:r>
            <a:br>
              <a:rPr lang="es-ES" sz="2400" b="1" dirty="0">
                <a:solidFill>
                  <a:srgbClr val="192D3E"/>
                </a:solidFill>
                <a:latin typeface="Arial"/>
              </a:rPr>
            </a:br>
            <a:r>
              <a:rPr sz="2400" b="1" dirty="0">
                <a:solidFill>
                  <a:srgbClr val="192D3E"/>
                </a:solidFill>
                <a:latin typeface="Arial"/>
              </a:rPr>
              <a:t>
Ho explorarem a partir d’un cas real d’administració pública.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64EE3A6-5D0D-EFE6-3907-91BB6540F213}"/>
              </a:ext>
            </a:extLst>
          </p:cNvPr>
          <p:cNvSpPr/>
          <p:nvPr/>
        </p:nvSpPr>
        <p:spPr>
          <a:xfrm>
            <a:off x="813816" y="3786975"/>
            <a:ext cx="3246120" cy="1600200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F1223D-ADAB-E817-C2A8-78FB596BC6F8}"/>
              </a:ext>
            </a:extLst>
          </p:cNvPr>
          <p:cNvSpPr txBox="1"/>
          <p:nvPr/>
        </p:nvSpPr>
        <p:spPr>
          <a:xfrm>
            <a:off x="1014983" y="4107015"/>
            <a:ext cx="2846123" cy="9771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Identificar
necessitat</a:t>
            </a:r>
            <a:endParaRPr lang="es-ES" sz="2400" b="1" dirty="0">
              <a:solidFill>
                <a:srgbClr val="192D3E"/>
              </a:solidFill>
              <a:latin typeface="Arial"/>
            </a:endParaRPr>
          </a:p>
          <a:p>
            <a:pPr algn="ctr"/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60CDC97-EADA-2158-DAC3-FD27FD257839}"/>
              </a:ext>
            </a:extLst>
          </p:cNvPr>
          <p:cNvSpPr/>
          <p:nvPr/>
        </p:nvSpPr>
        <p:spPr>
          <a:xfrm>
            <a:off x="4544568" y="3786975"/>
            <a:ext cx="3246120" cy="160020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DA438C-C49C-5E46-6F61-14F3896E8657}"/>
              </a:ext>
            </a:extLst>
          </p:cNvPr>
          <p:cNvSpPr txBox="1"/>
          <p:nvPr/>
        </p:nvSpPr>
        <p:spPr>
          <a:xfrm>
            <a:off x="4745736" y="4107015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Definir
port de sortida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4F82A2A-9916-E9F8-2F4C-A47E7CF470BE}"/>
              </a:ext>
            </a:extLst>
          </p:cNvPr>
          <p:cNvSpPr/>
          <p:nvPr/>
        </p:nvSpPr>
        <p:spPr>
          <a:xfrm>
            <a:off x="8275320" y="3786975"/>
            <a:ext cx="3246120" cy="160020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C32489-28BB-E0B4-6D88-054802179775}"/>
              </a:ext>
            </a:extLst>
          </p:cNvPr>
          <p:cNvSpPr txBox="1"/>
          <p:nvPr/>
        </p:nvSpPr>
        <p:spPr>
          <a:xfrm>
            <a:off x="8476488" y="4107015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lang="es-ES" sz="2400" b="1" dirty="0">
                <a:solidFill>
                  <a:srgbClr val="192D3E"/>
                </a:solidFill>
                <a:latin typeface="Arial"/>
              </a:rPr>
              <a:t>Implementar
adaptador(s)</a:t>
            </a:r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98AC41-2EA2-3BF1-14F5-5DF9647D4D84}"/>
              </a:ext>
            </a:extLst>
          </p:cNvPr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D08D29-A0AD-1C10-91EF-4939D83B6478}"/>
              </a:ext>
            </a:extLst>
          </p:cNvPr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026507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Avaluació econòmica d'una beca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 err="1">
                <a:solidFill>
                  <a:srgbClr val="66707A"/>
                </a:solidFill>
                <a:latin typeface="Arial"/>
              </a:rPr>
              <a:t>Abans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de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parlar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d'arquitectura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software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cal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entendre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el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procediment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administratiu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 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functional-scholarsh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5147" y="1234440"/>
            <a:ext cx="3950745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01000" y="1691640"/>
            <a:ext cx="3063240" cy="123444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800" b="1" dirty="0" err="1">
                <a:solidFill>
                  <a:srgbClr val="192D3E"/>
                </a:solidFill>
                <a:latin typeface="Arial"/>
              </a:rPr>
              <a:t>Sol·licitud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→ Expedient 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generals
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econòmics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Revisió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acadèmica</a:t>
            </a:r>
            <a:r>
              <a:rPr sz="1800" b="1">
                <a:solidFill>
                  <a:srgbClr val="192D3E"/>
                </a:solidFill>
                <a:latin typeface="Arial"/>
              </a:rPr>
              <a:t>
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Resolució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867561" y="3304599"/>
            <a:ext cx="3375837" cy="1579148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599" y="3566160"/>
            <a:ext cx="2871981" cy="959186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Quan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no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s’acredita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compliment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dels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econòmics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l’expedient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no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obté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una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valoració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favorable en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aquesta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fase.</a:t>
            </a:r>
            <a:endParaRPr sz="20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01000" y="5166360"/>
            <a:ext cx="3063240" cy="29260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1000" b="0">
                <a:solidFill>
                  <a:srgbClr val="66707A"/>
                </a:solidFill>
                <a:latin typeface="Arial"/>
              </a:rPr>
              <a:t>Fonts públiques: AGAUR requisits econòmics i BOE 2025-2026.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Quina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informació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externa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necessita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el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procediment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Renda, patrimoni i informació cadastral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6248" y="293026"/>
            <a:ext cx="2435192" cy="46092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data-interoperabil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9754" y="1234440"/>
            <a:ext cx="2541531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41732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NECESSITAT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1828800"/>
            <a:ext cx="2743200" cy="96012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rPr dirty="0"/>
              <a:t>Renda familiar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rPr dirty="0" err="1"/>
              <a:t>Patrimoni</a:t>
            </a:r>
            <a:endParaRPr dirty="0"/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rPr dirty="0" err="1"/>
              <a:t>Béns</a:t>
            </a:r>
            <a:r>
              <a:rPr dirty="0"/>
              <a:t> </a:t>
            </a:r>
            <a:r>
              <a:rPr dirty="0" err="1"/>
              <a:t>immobles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8183879" y="306324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FONTS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3474720"/>
            <a:ext cx="2743200" cy="9144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AEAT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Cadastre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PICA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892040"/>
            <a:ext cx="3063240" cy="6858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600" b="1">
                <a:solidFill>
                  <a:srgbClr val="192D3E"/>
                </a:solidFill>
                <a:latin typeface="Arial"/>
              </a:rPr>
              <a:t>El procediment necessita informació administrativa,
no una API concreta.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" y="6003036"/>
            <a:ext cx="1049274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1000" b="0" dirty="0">
                <a:solidFill>
                  <a:srgbClr val="66707A"/>
                </a:solidFill>
                <a:latin typeface="Arial"/>
              </a:rPr>
              <a:t>PICA = Plataforma d’Integració i Col·laboració Administrativa de la Generalitat de Catalunya. És una plataforma corporativa de la Generalitat per facilitar la interoperabilitat entre sistemes de la Generalitat, altres administracions públiques i institucions.</a:t>
            </a:r>
            <a:br>
              <a:rPr lang="es-ES" sz="1000" b="0" dirty="0">
                <a:solidFill>
                  <a:srgbClr val="66707A"/>
                </a:solidFill>
                <a:latin typeface="Arial"/>
              </a:rPr>
            </a:br>
            <a:endParaRPr lang="es-ES" sz="1000" b="0" dirty="0">
              <a:solidFill>
                <a:srgbClr val="66707A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l"/>
            <a:r>
              <a:rPr sz="3100" b="1">
                <a:solidFill>
                  <a:srgbClr val="192D3E"/>
                </a:solidFill>
                <a:latin typeface="Arial"/>
              </a:rPr>
              <a:t>Dependència directa entre procediment i integració</a:t>
            </a:r>
            <a:endParaRPr lang="es-ES"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114" y="293025"/>
            <a:ext cx="2413325" cy="45678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338855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523966"/>
            <a:ext cx="10241280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900" b="1" dirty="0">
                <a:solidFill>
                  <a:srgbClr val="192D3E"/>
                </a:solidFill>
                <a:latin typeface="Arial"/>
              </a:rPr>
              <a:t>Cas </a:t>
            </a:r>
            <a:r>
              <a:rPr sz="2900" b="1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sz="2900" b="1" dirty="0">
                <a:solidFill>
                  <a:srgbClr val="192D3E"/>
                </a:solidFill>
                <a:latin typeface="Arial"/>
              </a:rPr>
              <a:t>  →  SOAP/XML  →  PICA  →  AEAT</a:t>
            </a:r>
            <a:r>
              <a:rPr lang="es-ES" sz="2900" b="1" dirty="0">
                <a:solidFill>
                  <a:srgbClr val="192D3E"/>
                </a:solidFill>
                <a:latin typeface="Arial"/>
              </a:rPr>
              <a:t> / </a:t>
            </a:r>
            <a:r>
              <a:rPr lang="es-ES" sz="2900" b="1" dirty="0" err="1">
                <a:solidFill>
                  <a:srgbClr val="192D3E"/>
                </a:solidFill>
                <a:latin typeface="Arial"/>
              </a:rPr>
              <a:t>Cadastre</a:t>
            </a:r>
            <a:endParaRPr sz="2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14400" y="3519381"/>
            <a:ext cx="3063240" cy="1188720"/>
          </a:xfrm>
          <a:prstGeom prst="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3793701"/>
            <a:ext cx="2606040" cy="54864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700" b="1" dirty="0" err="1">
                <a:solidFill>
                  <a:srgbClr val="192D3E"/>
                </a:solidFill>
                <a:latin typeface="Arial"/>
              </a:rPr>
              <a:t>Acoblament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tecnològic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
El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procediment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700" b="1" dirty="0" err="1">
                <a:solidFill>
                  <a:srgbClr val="192D3E"/>
                </a:solidFill>
                <a:latin typeface="Arial"/>
              </a:rPr>
              <a:t>administratiu</a:t>
            </a:r>
            <a:r>
              <a:rPr lang="es-ES"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depèn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 SOAP/PICA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26280" y="3519381"/>
            <a:ext cx="3063240" cy="1188720"/>
          </a:xfrm>
          <a:prstGeom prst="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0" y="3793701"/>
            <a:ext cx="2656574" cy="65379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/>
            <a:r>
              <a:rPr sz="1700" b="1">
                <a:solidFill>
                  <a:srgbClr val="192D3E"/>
                </a:solidFill>
                <a:latin typeface="Arial"/>
              </a:rPr>
              <a:t>Impacte en el cas d’ús
L’evolució de l’API travessa la frontera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138160" y="3519381"/>
            <a:ext cx="3063240" cy="1188720"/>
          </a:xfrm>
          <a:prstGeom prst="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60080" y="3736551"/>
            <a:ext cx="2788920" cy="809244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700" b="1" dirty="0" err="1">
                <a:solidFill>
                  <a:srgbClr val="192D3E"/>
                </a:solidFill>
                <a:latin typeface="Arial"/>
              </a:rPr>
              <a:t>Risc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continuïtat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operativa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Manteniment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més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fràgil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del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servei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5267685"/>
            <a:ext cx="10241280" cy="50292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500" b="1" dirty="0">
                <a:solidFill>
                  <a:srgbClr val="236092"/>
                </a:solidFill>
                <a:latin typeface="Arial"/>
              </a:rPr>
              <a:t>El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problema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no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és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consumir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PICA;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és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que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el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procediment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en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depengui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directament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6</a:t>
            </a:r>
          </a:p>
        </p:txBody>
      </p:sp>
      <p:sp>
        <p:nvSpPr>
          <p:cNvPr id="15" name="CTTI diagnostic subtitle"/>
          <p:cNvSpPr txBox="1"/>
          <p:nvPr/>
        </p:nvSpPr>
        <p:spPr>
          <a:xfrm>
            <a:off x="829694" y="1736097"/>
            <a:ext cx="10532612" cy="7878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Els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principis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del CTTI orienten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cap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sistemes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desacoblats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i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serveis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substituïbles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; per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això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, si la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lògica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del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procediment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administratiu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queda vinculada a crides SOAP/XML contra PICA,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qualsevol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evolució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cap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a REST, API Manager o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altres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mecanismes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pot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impactar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directament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la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tramitació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.</a:t>
            </a:r>
            <a:endParaRPr sz="1400" b="0" dirty="0">
              <a:solidFill>
                <a:srgbClr val="66707A"/>
              </a:solidFill>
              <a:latin typeface="Arial"/>
            </a:endParaRPr>
          </a:p>
        </p:txBody>
      </p:sp>
      <p:sp>
        <p:nvSpPr>
          <p:cNvPr id="16" name="PICA definition slide 7"/>
          <p:cNvSpPr txBox="1"/>
          <p:nvPr/>
        </p:nvSpPr>
        <p:spPr>
          <a:xfrm>
            <a:off x="1097280" y="5938174"/>
            <a:ext cx="10532612" cy="53577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1000" b="0" dirty="0">
                <a:solidFill>
                  <a:srgbClr val="66707A"/>
                </a:solidFill>
                <a:latin typeface="Arial"/>
              </a:rPr>
              <a:t>CTTI: Centre de Telecomunicacions i Tecnologies de la Informació de la Generalitat de Catalunya. És l’organisme de la Generalitat de Catalunya que presta serveis TIC corporatius i impulsa l’arquitectura i les solucions tecnològiques transversals de la Generalitat.</a:t>
            </a:r>
            <a:br>
              <a:rPr lang="es-ES" sz="1000" b="0" dirty="0">
                <a:solidFill>
                  <a:srgbClr val="66707A"/>
                </a:solidFill>
                <a:latin typeface="Arial"/>
              </a:rPr>
            </a:br>
            <a:endParaRPr sz="10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Port de sortida i adaptador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794760" y="1417320"/>
            <a:ext cx="4480560" cy="566928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0" y="1517904"/>
            <a:ext cx="68580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Flux d'execució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98424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794760" y="2377440"/>
            <a:ext cx="4480560" cy="566928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0" y="2478024"/>
            <a:ext cx="68580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Cas d'ús → Port → Adaptador → Sistema extern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94436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794760" y="3337560"/>
            <a:ext cx="4480560" cy="566928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200" y="3438144"/>
            <a:ext cx="68580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Dependència de codi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390448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794760" y="4297680"/>
            <a:ext cx="4480560" cy="5669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43200" y="4398264"/>
            <a:ext cx="68580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Cas d'ús → Port de sortida ← Adaptador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4754880" cy="347472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300" b="1" dirty="0">
                <a:solidFill>
                  <a:srgbClr val="192D3E"/>
                </a:solidFill>
                <a:latin typeface="Arial"/>
              </a:rPr>
              <a:t>El port defineix què necessita el cas d’ús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349240"/>
            <a:ext cx="5166360" cy="56692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300" b="1" dirty="0" err="1">
                <a:solidFill>
                  <a:srgbClr val="192D3E"/>
                </a:solidFill>
                <a:latin typeface="Arial"/>
              </a:rPr>
              <a:t>La infraestructura depèn del port definit per l’aplicació</a:t>
            </a:r>
            <a:endParaRPr sz="23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s-ES" sz="2800" b="1" dirty="0">
                <a:solidFill>
                  <a:srgbClr val="192D3E"/>
                </a:solidFill>
                <a:latin typeface="Arial"/>
              </a:rPr>
              <a:t>Port de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per a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informació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patrimonial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1300" b="0" dirty="0">
                <a:solidFill>
                  <a:srgbClr val="66707A"/>
                </a:solidFill>
                <a:latin typeface="Arial"/>
              </a:rPr>
              <a:t>El cas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d’ús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depèn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d’un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contracte de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l’aplicació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, no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detalls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PICA, SOAP/XML o REST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APIs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4993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8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4450190-3EBE-2ED3-C573-816824D867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97888"/>
            <a:ext cx="11229045" cy="523489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Transferència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financer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1400" dirty="0">
                <a:solidFill>
                  <a:srgbClr val="192D3E"/>
                </a:solidFill>
                <a:latin typeface="Arial"/>
              </a:rPr>
              <a:t>El cas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'Venda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d'accions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borsàries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'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necessita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el preu actual,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independentment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del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proveïdor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(API).</a:t>
            </a:r>
            <a:endParaRPr sz="130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9</a:t>
            </a:r>
          </a:p>
        </p:txBody>
      </p:sp>
      <p:sp>
        <p:nvSpPr>
          <p:cNvPr id="14" name="Slide 10 port note"/>
          <p:cNvSpPr txBox="1"/>
          <p:nvPr/>
        </p:nvSpPr>
        <p:spPr>
          <a:xfrm>
            <a:off x="4274820" y="6523074"/>
            <a:ext cx="10561320" cy="201168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/>
            <a:r>
              <a:rPr sz="900" b="0" dirty="0">
                <a:solidFill>
                  <a:srgbClr val="66707A"/>
                </a:solidFill>
                <a:latin typeface="Arial"/>
              </a:rPr>
              <a:t>Port: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StockPriceProviderPort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 ·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Adaptadors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: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Finnhub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, Alpha Vantage, mock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A6EDC6F8-5757-04F1-70A5-BEE4AFAFA3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128" y="1101320"/>
            <a:ext cx="10757264" cy="534807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2D3E"/>
                </a:solidFill>
                <a:latin typeface="Arial"/>
              </a:rPr>
              <a:t>Flux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i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codi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essencial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>
                <a:solidFill>
                  <a:srgbClr val="66707A"/>
                </a:solidFill>
                <a:latin typeface="Arial"/>
              </a:rPr>
              <a:t>El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servei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coordina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. El domini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decideix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.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L'adaptador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integra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amb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infraestructura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tecnològica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 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10</a:t>
            </a:r>
          </a:p>
        </p:txBody>
      </p:sp>
      <p:pic>
        <p:nvPicPr>
          <p:cNvPr id="12" name="Sell stock sequence simplified" descr="sell-stock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328" y="1371599"/>
            <a:ext cx="11191832" cy="46966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2D3E"/>
                </a:solidFill>
                <a:latin typeface="Arial"/>
              </a:rPr>
              <a:t>Dem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o (Opcional)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Mateix cas d'ús, adaptador substituïble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10287000" cy="50292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800" b="0" dirty="0" err="1">
                <a:solidFill>
                  <a:srgbClr val="192D3E"/>
                </a:solidFill>
                <a:latin typeface="Arial"/>
              </a:rPr>
              <a:t>HexaStock és un projecte open source propi utilitzat en docència universitària i formació o consultoria professional.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240280"/>
            <a:ext cx="3246120" cy="960120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cas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d'ús</a:t>
            </a:r>
            <a:endParaRPr sz="1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572000" y="2240280"/>
            <a:ext cx="3246120" cy="96012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900" b="1" dirty="0">
                <a:solidFill>
                  <a:srgbClr val="192D3E"/>
                </a:solidFill>
                <a:latin typeface="Arial"/>
              </a:rPr>
              <a:t>S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ervei</a:t>
            </a:r>
            <a:r>
              <a:rPr lang="es-ES"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900" b="1" dirty="0" err="1">
                <a:solidFill>
                  <a:srgbClr val="192D3E"/>
                </a:solidFill>
                <a:latin typeface="Arial"/>
              </a:rPr>
              <a:t>d’Aplicació</a:t>
            </a:r>
            <a:endParaRPr lang="es-ES" sz="1900" b="1" dirty="0">
              <a:solidFill>
                <a:srgbClr val="192D3E"/>
              </a:solidFill>
              <a:latin typeface="Arial"/>
            </a:endParaRPr>
          </a:p>
          <a:p>
            <a:pPr algn="ctr"/>
            <a:endParaRPr sz="1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19" y="2240280"/>
            <a:ext cx="3246120" cy="96012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58199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domini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886200"/>
            <a:ext cx="1005840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/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Canvi</a:t>
            </a:r>
            <a:r>
              <a:rPr lang="es-ES" sz="2600" b="1" dirty="0">
                <a:solidFill>
                  <a:srgbClr val="236092"/>
                </a:solidFill>
                <a:latin typeface="Arial"/>
              </a:rPr>
              <a:t> </a:t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tecnològic</a:t>
            </a:r>
            <a:r>
              <a:rPr lang="es-ES" sz="2600" b="1" dirty="0">
                <a:solidFill>
                  <a:srgbClr val="236092"/>
                </a:solidFill>
                <a:latin typeface="Arial"/>
              </a:rPr>
              <a:t>: adaptador </a:t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Finnhub</a:t>
            </a:r>
            <a:r>
              <a:rPr lang="es-ES" sz="2600" b="1" dirty="0">
                <a:solidFill>
                  <a:srgbClr val="236092"/>
                </a:solidFill>
                <a:latin typeface="Arial"/>
              </a:rPr>
              <a:t> ↔ adaptador Alpha </a:t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Vantage</a:t>
            </a:r>
            <a:endParaRPr sz="2600" b="1" dirty="0">
              <a:solidFill>
                <a:srgbClr val="236092"/>
              </a:solidFill>
              <a:latin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51560" y="5074920"/>
            <a:ext cx="100584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Canvia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la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infraestructura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;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el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cas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i el </a:t>
            </a:r>
            <a:r>
              <a:rPr lang="es-ES" sz="24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roman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en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estable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Agraïment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78973" y="1874094"/>
            <a:ext cx="9834053" cy="17805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Vull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expressar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meu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per un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entorn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que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m’encoratja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créixer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tant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en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docència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l’àmbit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acadèmic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costat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d’un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equip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del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qual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aprenc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comparteixo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coneixement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responsabilitat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compromís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formació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universitària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.</a:t>
            </a:r>
            <a:endParaRPr sz="24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885683" y="4295446"/>
            <a:ext cx="8595360" cy="12174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46235" y="4399432"/>
            <a:ext cx="8099528" cy="868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especial al Dr. Josep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Roure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, company professor del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,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qui he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tingut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l'oportunitat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d'aprendre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sobre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arquitectura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de 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software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1600" b="0" dirty="0" err="1">
                <a:solidFill>
                  <a:srgbClr val="192D3E"/>
                </a:solidFill>
                <a:latin typeface="Arial"/>
              </a:rPr>
              <a:t>metodologies</a:t>
            </a:r>
            <a:r>
              <a:rPr lang="es-ES" sz="1600" b="0" dirty="0">
                <a:solidFill>
                  <a:srgbClr val="192D3E"/>
                </a:solidFill>
                <a:latin typeface="Arial"/>
              </a:rPr>
              <a:t> actives </a:t>
            </a:r>
            <a:r>
              <a:rPr lang="es-ES" sz="1600" b="0" dirty="0" err="1">
                <a:solidFill>
                  <a:srgbClr val="192D3E"/>
                </a:solidFill>
                <a:latin typeface="Arial"/>
              </a:rPr>
              <a:t>d'aprenentatge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1600" dirty="0" err="1">
                <a:solidFill>
                  <a:srgbClr val="192D3E"/>
                </a:solidFill>
                <a:latin typeface="Arial"/>
              </a:rPr>
              <a:t>treball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 en </a:t>
            </a:r>
            <a:r>
              <a:rPr lang="es-ES" sz="1600" dirty="0" err="1">
                <a:solidFill>
                  <a:srgbClr val="192D3E"/>
                </a:solidFill>
                <a:latin typeface="Arial"/>
              </a:rPr>
              <a:t>equip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.</a:t>
            </a:r>
            <a:endParaRPr sz="16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1722</TotalTime>
  <Words>1119</Words>
  <Application>Microsoft Macintosh PowerPoint</Application>
  <PresentationFormat>Panorámica</PresentationFormat>
  <Paragraphs>97</Paragraphs>
  <Slides>12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Alfredo Rueda Unsain</cp:lastModifiedBy>
  <cp:revision>34</cp:revision>
  <cp:lastPrinted>2026-07-01T20:23:23Z</cp:lastPrinted>
  <dcterms:created xsi:type="dcterms:W3CDTF">2013-01-27T09:14:16Z</dcterms:created>
  <dcterms:modified xsi:type="dcterms:W3CDTF">2026-07-03T18:53:59Z</dcterms:modified>
  <cp:category/>
</cp:coreProperties>
</file>