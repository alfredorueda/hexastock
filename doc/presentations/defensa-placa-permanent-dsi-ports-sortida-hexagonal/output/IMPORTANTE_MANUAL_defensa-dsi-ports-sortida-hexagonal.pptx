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95996"/>
            <a:ext cx="2971800" cy="562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3392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0">
                <a:solidFill>
                  <a:srgbClr val="236092"/>
                </a:solidFill>
                <a:latin typeface="Arial"/>
              </a:rPr>
              <a:t>desacoblament entre casos d'ús, domini i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Arial"/>
              </a:rPr>
              <a:t>Una microlliçó de Disseny de Sistemes d'Informació a partir d'un cas real de consultoria i del projecte HexaStock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Ens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centr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are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m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en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interactuar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amb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APIs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 de manera desacoplada. 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Microlliçó dins el bloc de clean / hexagonal architecture, ports, adaptadors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II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>
                <a:solidFill>
                  <a:srgbClr val="192D3E"/>
                </a:solidFill>
                <a:latin typeface="Arial"/>
              </a:rPr>
              <a:t>El servei d'aplicació necessita una capacitat, no una tecnologia.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743200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8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Identificar
acoblament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743200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743200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Substituir
adaptadors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Abans de parlar d'arquitectura, cal entendre el procediment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2000" b="1">
                <a:solidFill>
                  <a:srgbClr val="192D3E"/>
                </a:solidFill>
                <a:latin typeface="Arial"/>
              </a:rPr>
              <a:t>Si no es compleixen
requisits econòmics,
l'expedient no avança.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PICA: interoperabilitat administrativa · Cadastre: registre de béns immobles · SOAP/XML: missatgeria i format d'integració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Quan canvia la integració, canvia massa codi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102412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100" b="1">
                <a:solidFill>
                  <a:srgbClr val="192D3E"/>
                </a:solidFill>
                <a:latin typeface="Arial"/>
              </a:rPr>
              <a:t>Cas d'ús  →  SOAP/XML  →  PICA  →  AEAT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017520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El cas d'ús coneix
la infraestructura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743200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017520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8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canvi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b="1" dirty="0">
                <a:solidFill>
                  <a:srgbClr val="192D3E"/>
                </a:solidFill>
                <a:latin typeface="Arial"/>
              </a:rPr>
              <a:t>de tecnología de la API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impacta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en 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2743200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2960370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L'acoplement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infraestructura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tecnològica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concreta dificulta el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 software. 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102412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500" b="1" dirty="0" err="1">
                <a:solidFill>
                  <a:srgbClr val="236092"/>
                </a:solidFill>
                <a:latin typeface="Arial"/>
              </a:rPr>
              <a:t>Separar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, </a:t>
            </a:r>
            <a:r>
              <a:rPr lang="es-ES" sz="2500" b="1" dirty="0" err="1">
                <a:solidFill>
                  <a:srgbClr val="236092"/>
                </a:solidFill>
                <a:latin typeface="Arial"/>
              </a:rPr>
              <a:t>domini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infraestructura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El port defineix què.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L'adaptador resol com.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AEAT 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Cadastre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308010"/>
            <a:ext cx="11102753" cy="51659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Venda d'accions amb proveïdor de preus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exastock-sellstocks-arquitectura-v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64444"/>
            <a:ext cx="7863840" cy="441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481328"/>
            <a:ext cx="274320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2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problema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,
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diferent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788920"/>
            <a:ext cx="274320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Cas </a:t>
            </a:r>
            <a:r>
              <a:rPr dirty="0" err="1"/>
              <a:t>d'ús</a:t>
            </a:r>
            <a:r>
              <a:rPr dirty="0"/>
              <a:t>: </a:t>
            </a:r>
            <a:r>
              <a:rPr dirty="0" err="1"/>
              <a:t>venda</a:t>
            </a:r>
            <a:r>
              <a:rPr dirty="0"/>
              <a:t> </a:t>
            </a:r>
            <a:r>
              <a:rPr dirty="0" err="1"/>
              <a:t>d'accions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 err="1"/>
              <a:t>Necessitat</a:t>
            </a:r>
            <a:r>
              <a:rPr dirty="0"/>
              <a:t>: </a:t>
            </a:r>
            <a:r>
              <a:rPr dirty="0" err="1"/>
              <a:t>preu</a:t>
            </a:r>
            <a:r>
              <a:rPr dirty="0"/>
              <a:t> actual</a:t>
            </a:r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No </a:t>
            </a:r>
            <a:r>
              <a:rPr dirty="0" err="1"/>
              <a:t>depèn</a:t>
            </a:r>
            <a:r>
              <a:rPr dirty="0"/>
              <a:t> de </a:t>
            </a:r>
            <a:r>
              <a:rPr dirty="0" err="1"/>
              <a:t>proveïdors</a:t>
            </a:r>
            <a:r>
              <a:rPr dirty="0"/>
              <a:t> </a:t>
            </a:r>
            <a:r>
              <a:rPr dirty="0" err="1"/>
              <a:t>concrets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549640" y="5669280"/>
            <a:ext cx="2743200" cy="2286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Port: StockPriceProviderPort
Adaptadors: Finnhub, Alpha Vantage, mock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Flux i codi essencial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El servei coordina. El domini decideix. La infraestructura adapta.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2677"/>
            <a:ext cx="7315200" cy="30698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45920"/>
            <a:ext cx="3520440" cy="1417320"/>
          </a:xfrm>
          <a:prstGeom prst="roundRect">
            <a:avLst/>
          </a:prstGeom>
          <a:solidFill>
            <a:srgbClr val="1F2429"/>
          </a:solidFill>
          <a:ln>
            <a:solidFill>
              <a:srgbClr val="1F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93608" y="1810512"/>
            <a:ext cx="311810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5F6F7"/>
                </a:solidFill>
                <a:latin typeface="Consolas"/>
              </a:rPr>
              <a:t>stockPrice = port.fetch(ticker);
result = portfolio.sell(...);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306324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servei coordina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port obté informació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domini decideix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Demo controlada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amb institucions financeres.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cas d'ús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servei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600" b="1">
                <a:solidFill>
                  <a:srgbClr val="236092"/>
                </a:solidFill>
                <a:latin typeface="Arial"/>
              </a:rPr>
              <a:t>Canvi: adaptador real  ↔  adaptador 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Canvia la infraestructura; el cas d'ús roman estable.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Conclusió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L'arquitectura no elimina el canvi. El localitza.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fore-after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91858"/>
            <a:ext cx="7086600" cy="4485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874519"/>
            <a:ext cx="2971800" cy="173736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Quan el proveïdor canvia, volem canviar l'adaptador, no el cas d'ús ni el model de domini.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>
                <a:solidFill>
                  <a:srgbClr val="192D3E"/>
                </a:solidFill>
                <a:latin typeface="Arial"/>
              </a:rPr>
              <a:t>Vull expressar el meu agraïment al TecnoCampus per l'oportunitat d'aprendre, créixer com a docent i transferir coneixement entre l'empresa i la universitat.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971800"/>
            <a:ext cx="9052560" cy="685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100" b="0">
                <a:solidFill>
                  <a:srgbClr val="262626"/>
                </a:solidFill>
                <a:latin typeface="Arial"/>
              </a:rPr>
              <a:t>Aquesta experiència m'ha permès portar casos reals, criteri professional i arquitectura aplicada a l'aula.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4343400"/>
            <a:ext cx="8275320" cy="914400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40280" y="4553712"/>
            <a:ext cx="7726679" cy="43891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600" b="0">
                <a:solidFill>
                  <a:srgbClr val="192D3E"/>
                </a:solidFill>
                <a:latin typeface="Arial"/>
              </a:rPr>
              <a:t>Agraïment especial al Dr. Josep Roure, company professor del TecnoCampus, amb qui he tingut l'oportunitat d'aprendre molt sobre arquitectura i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773</Words>
  <Application>Microsoft Macintosh PowerPoint</Application>
  <PresentationFormat>Panorámica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</cp:revision>
  <dcterms:created xsi:type="dcterms:W3CDTF">2013-01-27T09:14:16Z</dcterms:created>
  <dcterms:modified xsi:type="dcterms:W3CDTF">2026-06-29T17:44:00Z</dcterms:modified>
  <cp:category/>
</cp:coreProperties>
</file>