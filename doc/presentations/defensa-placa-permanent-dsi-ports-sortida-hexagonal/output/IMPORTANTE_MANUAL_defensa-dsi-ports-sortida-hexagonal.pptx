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6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(1:35): obrir la microlliçó i delimitar-ne el focus.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 i cas real acreditat de consultoria per a la Generalitat/AGAUR.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Missatge: trobada entre dimensió acadèmica i professional, sense detalls interns.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no és una panoràmica completa de l’arquitectura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de focus: dissenyar un port de sortida quan el cas d’ús necessita informació externa.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«Situem primer la sessió dins l’assignatura.»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(1:05): justificar l’encaix de la sessió en el pla docent.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Assenyalar: DSI, 3r curs i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Architecture, arquitectura hexagonal, ports i adaptadors, mapping, modularització i DDD.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fer una enumeració llarga del temari: el focus és una decisió concreta sobre ports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«Amb aquest context, formulem l’objectiu mínim de la sessió.»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(0:55): diapositiva pont; passar-hi ràpid i no anticipar tota la teoria.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CLAU, mirant el tribunal: «El cas d’ús necessita una capacitat, no una tecnologia.»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les tres decisions: identificar necessitat, definir port i implementar adaptador(s).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Metodologia: primer el cas real; després, l’abstracció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«Comencem, per tant, pel procediment de beca.»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establir el problema funcional abans de parlar de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la seqüència: sol·licitud, expedient, requisits, revisió i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l’avaluació econòmica necessita renda i patrimoni fiables.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la decisió administrativa i el mecanisme tècnic són nivells diferents.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encara SOAP, REST, PICA o bases de dades.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«Quina informació externa necessita el procediment per prendre aquesta decisió?»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separar necessitat funcional, font administrativa i canal d’interoperabilitat.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Necessitats: renda, patrimoni i béns immobles. Fonts: AEAT i Cadastre. Canal: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PICA no és una font original del mateix tipus que AEAT o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CLAU, amb pausa: «El procediment necessita informació administrativa, no una API concreta.»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«Quan aquesta separació no es respecta, apareix el problema arquitectònic.»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(2:20): diagnosticar una cadena causal, no enumerar tres riscos independents.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d’esquerra a dreta: CAUSA (acoblament) → PROPAGACIÓ (el canvi travessa la frontera) → CONSEQÜÈNCIA (més codi afectat i manteniment més fràgil).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un únic acoblament converteix el canvi d’infraestructura en un canvi que arriba al procediment.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el problema no és PICA; és la dependència directa dels seus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PREGUNTA DOCENT, literal: «Com podem permetre que el cas d’ús necessiti dades externes, però sense dependre directament de la tecnologia que les proporciona?»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PAUSA. TRANSICIÓ: «La resposta és introduir un port de sortida.»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(2:20): frontissa conceptual forta; baixar el ritme.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Primera línia: flux d’execució, del cas d’ús cap al sistema extern.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Segona línia: dependència de codi; el cas d’ús depèn del port i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el mini-UML: el port és un contracte; en Java el representem amb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«El servei usa el port; l’adaptador implementa el port.»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Inversió: la infraestructura depèn del port definit per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«Apliquem ara aquesta distinció a la informació patrimonial.»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aplicar la distinció al cas administratiu.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Nucli: servei d’aplicació i domini; el servei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Exterior: adaptadors PICA/JDBC i mecanismes SOAP/XML o REST.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Llegir bé les fletxes: el servei usa el port;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el domini no coneix ni PICA ni els adaptadors.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«Transferim la mateixa decisió arquitectònica a un domini financer.»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(1:25): demostrar que la decisió es transfereix entre dominis.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→ cartera d’inversió personal.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d’ús: vendre accions. Necessitat: preu actual. Port: StockPriceProviderPort.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Finnhub, Alpha Vantage o mock són adaptadors que encapsulen APIs concretes.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«El servei coordina; el domini decideix; l’adaptador integra.»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Matís: la substitució exigeix preservar el contracte funcional i la semàntica.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«Canvia el domini, però es manté la decisió arquitectònica.»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FUNCIÓ (0:45): tancar el contingut tècnic, sense introduir res de nou.</a:t>
            </a:r>
          </a:p>
          <a:p>
            <a:r>
              <a:rPr lang="ca-ES"/>
              <a:t>Recuperar les tres decisions: necessitat funcional, port i adaptador.</a:t>
            </a:r>
          </a:p>
          <a:p>
            <a:r>
              <a:rPr lang="ca-ES"/>
              <a:t>Matís: l’arquitectura no elimina la dependència externa ni tots els canvis; en localitza l’impacte.</a:t>
            </a:r>
          </a:p>
          <a:p>
            <a:r>
              <a:rPr lang="ca-ES"/>
              <a:t>FRASE FINAL, amb pausa i mirant el tribunal: «L’arquitectura no elimina el canvi; el localitza.»</a:t>
            </a:r>
          </a:p>
          <a:p>
            <a:r>
              <a:rPr lang="ca-ES"/>
              <a:t>No fer encara l’agraïment: donar pas net a la diapositiva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FUNCIÓ (0:25): tancament institucional i protocol·lari.</a:t>
            </a:r>
          </a:p>
          <a:p>
            <a:r>
              <a:rPr lang="ca-ES"/>
              <a:t>Llegir la frase d’agraïment literal; no resumir-la ni canviar-ne cap paraula.</a:t>
            </a:r>
          </a:p>
          <a:p>
            <a:r>
              <a:rPr lang="ca-ES"/>
              <a:t>No afegir noms de persones ni altres agraïments.</a:t>
            </a:r>
          </a:p>
          <a:p>
            <a:r>
              <a:rPr lang="ca-ES"/>
              <a:t>Fer una pausa natural abans de «Moltes gràcies» i dir-ho mirant el tribunal.</a:t>
            </a:r>
          </a:p>
          <a:p>
            <a:r>
              <a:rPr lang="ca-ES"/>
              <a:t>Després de «Moltes gràcies», la classe queda formalment tancada.</a:t>
            </a:r>
          </a:p>
          <a:p>
            <a:r>
              <a:rPr lang="ca-ES"/>
              <a:t>No obrir la demo si el tribunal no la demana o si no hi ha temps explícit.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(1:30–2:30): verificació pràctica opcional, posterior al tancament formal.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Activar només si el tribunal ho demana o hi ha temps explícit.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Assenyalar: mateix cas d’ús, mateix servei i mateix domini; canvia l’adaptador.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Finnhub, Alpha Vantage o mock són implementacions, no el contracte.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Utilitat docent: provar sense claus reals ni disponibilitat del proveïdor.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«Canvia la infraestructura; el cas d’ús i el domini romanen estables.»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convertir l’annex en una segona explicació llarga.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Causa: 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coneix SOAP/XML i detalls de 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Propagació del canvi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La integració travessa la frontera del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 dirty="0" err="1">
                <a:solidFill>
                  <a:srgbClr val="192D3E"/>
                </a:solidFill>
                <a:effectLst/>
                <a:uFillTx/>
                <a:latin typeface="Arial"/>
              </a:rPr>
              <a:t>Conseqüència</a:t>
            </a:r>
            <a:r>
              <a:rPr lang="en-US" sz="170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: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dificultat</a:t>
            </a:r>
            <a:r>
              <a:rPr lang="en-U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lang="en-US"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codi</a:t>
            </a:r>
            <a:endParaRPr lang="es-E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Java concretion container"/>
          <p:cNvSpPr/>
          <p:nvPr/>
        </p:nvSpPr>
        <p:spPr>
          <a:xfrm>
            <a:off x="7498079" y="1371600"/>
            <a:ext cx="3657600" cy="3703320"/>
          </a:xfrm>
          <a:prstGeom prst="roundRect">
            <a:avLst>
              <a:gd name="adj" fmla="val 55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Java concretion title"/>
          <p:cNvSpPr txBox="1"/>
          <p:nvPr/>
        </p:nvSpPr>
        <p:spPr>
          <a:xfrm>
            <a:off x="7498079" y="149961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192D3E"/>
                </a:solidFill>
                <a:latin typeface="Arial"/>
              </a:rPr>
              <a:t>Concreció en Java</a:t>
            </a:r>
          </a:p>
        </p:txBody>
      </p:sp>
      <p:sp>
        <p:nvSpPr>
          <p:cNvPr id="156" name="Port interface card"/>
          <p:cNvSpPr/>
          <p:nvPr/>
        </p:nvSpPr>
        <p:spPr>
          <a:xfrm>
            <a:off x="7818120" y="1874519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Port interface name"/>
          <p:cNvSpPr txBox="1"/>
          <p:nvPr/>
        </p:nvSpPr>
        <p:spPr>
          <a:xfrm>
            <a:off x="7818120" y="1947672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66707A"/>
                </a:solidFill>
                <a:latin typeface="Arial"/>
              </a:rPr>
              <a:t>«interface»</a:t>
            </a:r>
          </a:p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58" name="Port card divider"/>
          <p:cNvSpPr/>
          <p:nvPr/>
        </p:nvSpPr>
        <p:spPr>
          <a:xfrm>
            <a:off x="8001000" y="2505456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Port card subtitle"/>
          <p:cNvSpPr txBox="1"/>
          <p:nvPr/>
        </p:nvSpPr>
        <p:spPr>
          <a:xfrm>
            <a:off x="7818120" y="2560320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contracte de l’aplicació</a:t>
            </a:r>
          </a:p>
        </p:txBody>
      </p:sp>
      <p:sp>
        <p:nvSpPr>
          <p:cNvPr id="160" name="Implements arrow head"/>
          <p:cNvSpPr/>
          <p:nvPr/>
        </p:nvSpPr>
        <p:spPr>
          <a:xfrm>
            <a:off x="9226296" y="2871216"/>
            <a:ext cx="201168" cy="155448"/>
          </a:xfrm>
          <a:prstGeom prst="triangle">
            <a:avLst/>
          </a:prstGeom>
          <a:solidFill>
            <a:srgbClr val="FFFFFF"/>
          </a:solidFill>
          <a:ln w="15875">
            <a:solidFill>
              <a:srgbClr val="19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1" name="Implements arrow shaft"/>
          <p:cNvCxnSpPr/>
          <p:nvPr/>
        </p:nvCxnSpPr>
        <p:spPr>
          <a:xfrm>
            <a:off x="9326880" y="3026664"/>
            <a:ext cx="0" cy="768096"/>
          </a:xfrm>
          <a:prstGeom prst="line">
            <a:avLst/>
          </a:prstGeom>
          <a:ln w="19050">
            <a:solidFill>
              <a:srgbClr val="192D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Implements label"/>
          <p:cNvSpPr txBox="1"/>
          <p:nvPr/>
        </p:nvSpPr>
        <p:spPr>
          <a:xfrm>
            <a:off x="9464040" y="3246120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i="1">
                <a:solidFill>
                  <a:srgbClr val="66707A"/>
                </a:solidFill>
                <a:latin typeface="Consolas"/>
              </a:rPr>
              <a:t>implements</a:t>
            </a:r>
          </a:p>
        </p:txBody>
      </p:sp>
      <p:sp>
        <p:nvSpPr>
          <p:cNvPr id="163" name="Adapter card"/>
          <p:cNvSpPr/>
          <p:nvPr/>
        </p:nvSpPr>
        <p:spPr>
          <a:xfrm>
            <a:off x="7818120" y="3794760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Adapter name"/>
          <p:cNvSpPr txBox="1"/>
          <p:nvPr/>
        </p:nvSpPr>
        <p:spPr>
          <a:xfrm>
            <a:off x="7818120" y="38862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65" name="Adapter card divider"/>
          <p:cNvSpPr/>
          <p:nvPr/>
        </p:nvSpPr>
        <p:spPr>
          <a:xfrm>
            <a:off x="8001000" y="4224528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Adapter subtitle"/>
          <p:cNvSpPr txBox="1"/>
          <p:nvPr/>
        </p:nvSpPr>
        <p:spPr>
          <a:xfrm>
            <a:off x="7955279" y="42793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classe que implementa</a:t>
            </a:r>
          </a:p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aquesta interfície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«Venda d’accions»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87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77787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expressa què necessita.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855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0855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el contracte de l’aplicació.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923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3923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L’adaptador encapsula la integració externa.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3757" y="384695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94309" y="395094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L’arquitectura no elimina el canvi; el localitza.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2600000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0392" y="4800000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Moltes gràcies.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1774</TotalTime>
  <Words>1934</Words>
  <Application>Microsoft Macintosh PowerPoint</Application>
  <PresentationFormat>Panorámica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Calibri</vt:lpstr>
      <vt:lpstr>Consolas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49</cp:revision>
  <cp:lastPrinted>2026-07-01T20:23:23Z</cp:lastPrinted>
  <dcterms:created xsi:type="dcterms:W3CDTF">2013-01-27T09:14:16Z</dcterms:created>
  <dcterms:modified xsi:type="dcterms:W3CDTF">2026-07-14T20:07:28Z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