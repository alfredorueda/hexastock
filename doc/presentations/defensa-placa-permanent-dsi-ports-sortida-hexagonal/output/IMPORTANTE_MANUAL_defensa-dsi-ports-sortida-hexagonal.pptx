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66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38"/>
  </p:normalViewPr>
  <p:slideViewPr>
    <p:cSldViewPr snapToGrid="0">
      <p:cViewPr varScale="1">
        <p:scale>
          <a:sx n="128" d="100"/>
          <a:sy n="128" d="100"/>
        </p:scale>
        <p:origin x="1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631BB4B-9592-4554-8EE5-C4A07A43FD2D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Context: classe de DSI.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Cas real acreditat: consultoria Generalitat / AGAUR.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Idea: trobada entre dimensió acadèmica i professional.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Focus: ports de sortida quan cal informació externa. No panoràmica completa d'arquitectura hexagonal.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Transició: situar la sessió dins l’assignatura.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6F1B75C-4B08-4CC7-9796-A276BB086824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Situar: DSI, tercer curs, 6 ECTS.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Bloc: Clean Architecture i arquitectura hexagonal, ports i adaptadors, mapping, modularització i Domain-Driven Design.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Focus limitat: port de sortida.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Transició: formular l’objectiu de treball.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ADFA09-EE7C-43EF-856C-EE6392323D30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Frase clau: capacitat funcional, no tecnologia específica.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Tres decisions: identificar necessitat, definir port, implementar adaptador.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explicar encara tota l’abstracció.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Primer cas real, després decisió arquitectònica.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Transició: procediment administratiu de beca.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DB0473-3FF7-4E97-994D-3625B2D467F3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Primer entendre el procediment; després la tecnologia.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Sol·licitud -&gt; expedient -&gt; requisits -&gt; resolució.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Avaluació econòmica: renda i patrimoni.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Encara no parlar de SOAP, XML, REST o BD.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Transició: quina informació externa cal?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BB6F08-9FC4-4E16-ADC5-A771378993CE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Necessitat funcional: informació fiable de renda i patrimoni.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Fonts administratives: AEAT i Cadastre.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Canal o plataforma d’interoperabilitat: PICA.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presentar PICA com a font original del mateix tipus.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Frase clau: informació administrativa, no API concreta.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Transició: què passa si el cas d’ús coneix la integració?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3A4757E-1D4F-4A13-8566-361925C4050A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Problema: acoblament directe amb detalls tècnics.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cadena SOAP/XML -&gt; PICA -&gt; AEAT i/o Cadastre és el problema, no la solució.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cas d’ús acaba coneixent SOAP/XML, DTOs, clients i errors.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 canvia la integració, el canvi travessa el cas d’ús.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Riscos: manteniment fràgil i més superfície d’impacte davant canvis externs.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Transició: resposta arquitectònica, port de sortida.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47FB541-E37B-4E36-BB98-0E226F01602E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Distingir dues fletxes: flux i dependència de codi.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Flux: el cas d’ús demana informació cap enfora.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Dependència: cas d’ús -&gt; port; adaptador -&gt; port.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Conceptualment, el port és un contracte; en Java, aquí s’expressa com una interfície.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L’adaptador implementa aquesta interfície.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Frase clau: la infraestructura depèn del port de l’aplicació.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Transició: aplicar-ho a la necessitat d’informació econòmica.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19A241-8106-4F4D-910A-78FA45E9ED70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Servei d’aplicació depèn de contractes propis.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Ports dins del llenguatge de l’aplicació.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Adaptadors fora del nucli: PICA, JDBC, REST, SOAP/XML.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Fletxa important: l’adaptador implementa el port.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Transició: mateix patró, canvi de domini.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1A0FBC-446E-4632-82A2-E5240C67175D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Canvi explícit: beca -&gt; cartera d’inversió personal. Cas d’ús: vendre accions. Necessitat: preu actual de l’acció. Port de sortida: StockPriceProviderPort. Separar proveïdor de dades, API concreta, contracte tècnic i adaptador. Servei d’aplicació coordina consulta del preu i recuperació de cartera. Domini decideix; adaptador integra. Transició: conclusió tècnica.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6F4BD54-7309-4D8F-B416-C2CE833940FF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a-ES"/>
              <a:t>Tancament: l’arquitectura no elimina la dependència externa; la situa en una frontera explícita i controlable.</a:t>
            </a:r>
          </a:p>
          <a:p>
            <a:r>
              <a:rPr lang="ca-ES"/>
              <a:t>Quan canvia proveïdor o API, volem localitzar l’impacte a l’adaptador.</a:t>
            </a:r>
          </a:p>
          <a:p>
            <a:r>
              <a:rPr lang="ca-ES"/>
              <a:t>No reescriure cas d’ús ni deformar domini.</a:t>
            </a:r>
          </a:p>
          <a:p>
            <a:r>
              <a:rPr lang="ca-ES"/>
              <a:t>La frase clau és l’element més memorable: l’arquitectura no elimina el canvi; el localitza.</a:t>
            </a:r>
          </a:p>
          <a:p>
            <a:r>
              <a:rPr lang="ca-ES"/>
              <a:t>Sense agraïments en aquesta diapositiva: donar pas a la diapositiva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a-ES"/>
              <a:t>Frase d’agraïment literal: no resumir-la ni canviar cap paraula.</a:t>
            </a:r>
          </a:p>
          <a:p>
            <a:r>
              <a:rPr lang="ca-ES"/>
              <a:t>Cap nom de persona i cap altre agraïment.</a:t>
            </a:r>
          </a:p>
          <a:p>
            <a:r>
              <a:rPr lang="ca-ES"/>
              <a:t>Pausa natural abans de: Moltes gràcies.</a:t>
            </a:r>
          </a:p>
          <a:p>
            <a:r>
              <a:rPr lang="ca-ES"/>
              <a:t>Després de Moltes gràcies, la classe queda formalment tancada.</a:t>
            </a:r>
          </a:p>
          <a:p>
            <a:r>
              <a:rPr lang="ca-ES"/>
              <a:t>No obrir la demo si el tribunal no la demana o si no hi ha temps explícit.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Annex opcional: només si el tribunal ho demana o queda temps clar.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forma part del cos principal de 20 minuts.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Missatge demo: mateix cas d’ús, servei i domini.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Canvia l’adaptador: Finnhub, Alpha Vantage o mock.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Objectiu docent: contracte estable, infraestructura substituïble.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FCD26F0-68A2-4F90-A117-9A4BFB6DC3AF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4FE3A9-50D1-4980-BB14-42AE98E162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DC0793-2F3D-4585-A464-DC7AD7B412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97B0A1-CAEB-4CC6-8503-C391DA0EA1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861ABC-A83C-4C5F-A337-D925B57A52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3F6B2A-DBBB-44AA-A556-26BD00646B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58E916-EAE0-4030-89D9-2E376B95F1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F2C998-3D89-4B39-858E-EC3F1395F3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24A710-4F74-414A-B8A2-A74AE7CB93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C20B3E-F971-40A3-8A7C-23D29FF610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D2AE38-5CC7-4435-A1DC-DDCF3E4375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A35B38-5923-446D-9135-73EC5A9A49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93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8480160" y="293040"/>
            <a:ext cx="304092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2"/>
          <p:cNvSpPr/>
          <p:nvPr/>
        </p:nvSpPr>
        <p:spPr>
          <a:xfrm>
            <a:off x="658440" y="1234440"/>
            <a:ext cx="98751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19999"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Disseny de ports de sortida en arquitectura hexagonal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685800" y="2041560"/>
            <a:ext cx="9326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457200">
              <a:lnSpc>
                <a:spcPct val="100000"/>
              </a:lnSpc>
            </a:pPr>
            <a:r>
              <a:rPr lang="es-ES" sz="2100" b="0" u="none" strike="noStrike">
                <a:solidFill>
                  <a:srgbClr val="236092"/>
                </a:solidFill>
                <a:effectLst/>
                <a:uFillTx/>
                <a:latin typeface="Arial"/>
              </a:rPr>
              <a:t>Desacoblament entre casos d'ús, domini i serveis externs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685800" y="2788920"/>
            <a:ext cx="96008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Una classe de Disseny de Sistemes d'Informació a partir d'un cas real de </a:t>
            </a:r>
            <a:r>
              <a:rPr lang="es-ES" sz="18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la Generalitat de Catalunya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85800" y="4663440"/>
            <a:ext cx="68576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15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Alfredo Rueda Unsain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Defensa de plaça de professorat permanent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TecnoCampus · classe magistral reduïda, 20 minuts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594360" y="647388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Disseny de Sistemes d'Informació · Ports de sortida en arquitectura hexagonal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11155680" y="647388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1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594360" y="320040"/>
            <a:ext cx="8960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On som dins l'assignatura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612720" y="822960"/>
            <a:ext cx="8869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Disseny de Sistemes d'Informació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3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8480160" y="293040"/>
            <a:ext cx="304092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angle 4"/>
          <p:cNvSpPr/>
          <p:nvPr/>
        </p:nvSpPr>
        <p:spPr>
          <a:xfrm>
            <a:off x="594360" y="1115640"/>
            <a:ext cx="10972440" cy="13320"/>
          </a:xfrm>
          <a:prstGeom prst="rect">
            <a:avLst/>
          </a:prstGeom>
          <a:solidFill>
            <a:srgbClr val="D6DBE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822960" y="150876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20000"/>
          </a:bodyPr>
          <a:lstStyle/>
          <a:p>
            <a:r>
              <a:rPr lang="en-US" sz="28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Disseny de Sistemes d'Informació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3r curs · 6 ECTS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6"/>
          <p:cNvSpPr/>
          <p:nvPr/>
        </p:nvSpPr>
        <p:spPr>
          <a:xfrm>
            <a:off x="4800600" y="1508760"/>
            <a:ext cx="45360" cy="3200040"/>
          </a:xfrm>
          <a:prstGeom prst="roundRect">
            <a:avLst>
              <a:gd name="adj" fmla="val 16667"/>
            </a:avLst>
          </a:prstGeom>
          <a:solidFill>
            <a:srgbClr val="236092"/>
          </a:solidFill>
          <a:ln>
            <a:solidFill>
              <a:srgbClr val="23609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5166360" y="1508760"/>
            <a:ext cx="539460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30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Ports de sortida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en </a:t>
            </a:r>
            <a:r>
              <a:rPr lang="es-ES" sz="30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A</a:t>
            </a:r>
            <a:r>
              <a:rPr lang="en-US" sz="30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rquitectura </a:t>
            </a:r>
            <a:r>
              <a:rPr lang="es-ES" sz="30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H</a:t>
            </a:r>
            <a:r>
              <a:rPr lang="en-US" sz="30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exagonal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5394960" y="2971800"/>
            <a:ext cx="498312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77500" lnSpcReduction="20000"/>
          </a:bodyPr>
          <a:lstStyle/>
          <a:p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S" sz="22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La sessió se centra en el disseny de ports de sortida com a mecanisme per separar les necessitats del cas d’ús dels detalls tècnics de les integracions externes.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9"/>
          <p:cNvSpPr/>
          <p:nvPr/>
        </p:nvSpPr>
        <p:spPr>
          <a:xfrm>
            <a:off x="960120" y="5669280"/>
            <a:ext cx="9875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Pla docent 103322: Clean Architecture i arquitectura hexagonal, ports i adaptadors, mapping, modularització i Domain-Driven Design.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594360" y="647388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Disseny de Sistemes d'Informació · Ports de sortida en arquitectura hexagonal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1"/>
          <p:cNvSpPr/>
          <p:nvPr/>
        </p:nvSpPr>
        <p:spPr>
          <a:xfrm>
            <a:off x="11155680" y="647388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2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594360" y="320040"/>
            <a:ext cx="8960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Objectiu de la sessió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2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8480160" y="293040"/>
            <a:ext cx="304092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Rectangle 3"/>
          <p:cNvSpPr/>
          <p:nvPr/>
        </p:nvSpPr>
        <p:spPr>
          <a:xfrm>
            <a:off x="594360" y="1115640"/>
            <a:ext cx="10972440" cy="13320"/>
          </a:xfrm>
          <a:prstGeom prst="rect">
            <a:avLst/>
          </a:prstGeom>
          <a:solidFill>
            <a:srgbClr val="D6DBE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960120" y="1417320"/>
            <a:ext cx="1006164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Principi de treball: el cas d’ús necessita una capacitat</a:t>
            </a:r>
            <a:r>
              <a:rPr lang="es-E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 funcional</a:t>
            </a:r>
            <a:r>
              <a:rPr lang="en-U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, no una tecnologia</a:t>
            </a:r>
            <a:r>
              <a:rPr lang="es-E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 específica</a:t>
            </a:r>
            <a:r>
              <a:rPr lang="en-U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Ho explorarem a partir d’un cas real d’administració pública.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5"/>
          <p:cNvSpPr/>
          <p:nvPr/>
        </p:nvSpPr>
        <p:spPr>
          <a:xfrm>
            <a:off x="813960" y="3786840"/>
            <a:ext cx="3245760" cy="1599840"/>
          </a:xfrm>
          <a:prstGeom prst="roundRect">
            <a:avLst>
              <a:gd name="adj" fmla="val 16667"/>
            </a:avLst>
          </a:prstGeom>
          <a:solidFill>
            <a:srgbClr val="F8EAEA"/>
          </a:solidFill>
          <a:ln>
            <a:solidFill>
              <a:srgbClr val="DCE0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1014840" y="4106880"/>
            <a:ext cx="2845800" cy="97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Identificar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necessitat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7"/>
          <p:cNvSpPr/>
          <p:nvPr/>
        </p:nvSpPr>
        <p:spPr>
          <a:xfrm>
            <a:off x="4544640" y="3786840"/>
            <a:ext cx="3245760" cy="1599840"/>
          </a:xfrm>
          <a:prstGeom prst="roundRect">
            <a:avLst>
              <a:gd name="adj" fmla="val 16667"/>
            </a:avLst>
          </a:prstGeom>
          <a:solidFill>
            <a:srgbClr val="FFF3D6"/>
          </a:solidFill>
          <a:ln>
            <a:solidFill>
              <a:srgbClr val="DCE0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4745880" y="4106880"/>
            <a:ext cx="28342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r>
              <a:rPr lang="en-U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Definir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port de sortida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9"/>
          <p:cNvSpPr/>
          <p:nvPr/>
        </p:nvSpPr>
        <p:spPr>
          <a:xfrm>
            <a:off x="8275320" y="3786840"/>
            <a:ext cx="3245760" cy="1599840"/>
          </a:xfrm>
          <a:prstGeom prst="roundRect">
            <a:avLst>
              <a:gd name="adj" fmla="val 16667"/>
            </a:avLst>
          </a:prstGeom>
          <a:solidFill>
            <a:srgbClr val="EBF6F0"/>
          </a:solidFill>
          <a:ln>
            <a:solidFill>
              <a:srgbClr val="DCE0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8476560" y="4106880"/>
            <a:ext cx="28342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r>
              <a:rPr lang="es-E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Implementar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adaptador(s)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1"/>
          <p:cNvSpPr/>
          <p:nvPr/>
        </p:nvSpPr>
        <p:spPr>
          <a:xfrm>
            <a:off x="594360" y="647388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Disseny de Sistemes d'Informació · Ports de sortida en arquitectura hexagonal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2"/>
          <p:cNvSpPr/>
          <p:nvPr/>
        </p:nvSpPr>
        <p:spPr>
          <a:xfrm>
            <a:off x="11155680" y="647388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3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594360" y="320040"/>
            <a:ext cx="8960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Avaluació econòmica d'una beca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612720" y="822960"/>
            <a:ext cx="8869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Abans de parlar d'arquitectura</a:t>
            </a:r>
            <a:r>
              <a:rPr lang="es-ES" sz="13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 de software</a:t>
            </a:r>
            <a:r>
              <a:rPr lang="en-US" sz="13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, cal entendre el procediment</a:t>
            </a:r>
            <a:r>
              <a:rPr lang="es-ES" sz="13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 administratiu. 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Picture 3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8480160" y="293040"/>
            <a:ext cx="304092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Rectangle 4"/>
          <p:cNvSpPr/>
          <p:nvPr/>
        </p:nvSpPr>
        <p:spPr>
          <a:xfrm>
            <a:off x="594360" y="1115640"/>
            <a:ext cx="10972440" cy="13320"/>
          </a:xfrm>
          <a:prstGeom prst="rect">
            <a:avLst/>
          </a:prstGeom>
          <a:solidFill>
            <a:srgbClr val="D6DBE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1" name="Picture 5" descr="agaur-functional-scholarship.png"/>
          <p:cNvPicPr/>
          <p:nvPr/>
        </p:nvPicPr>
        <p:blipFill>
          <a:blip r:embed="rId4"/>
          <a:stretch/>
        </p:blipFill>
        <p:spPr>
          <a:xfrm>
            <a:off x="2185200" y="1234440"/>
            <a:ext cx="3950280" cy="475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Box 6"/>
          <p:cNvSpPr/>
          <p:nvPr/>
        </p:nvSpPr>
        <p:spPr>
          <a:xfrm>
            <a:off x="8001000" y="1691640"/>
            <a:ext cx="306288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19999"/>
          </a:bodyPr>
          <a:lstStyle/>
          <a:p>
            <a:r>
              <a:rPr lang="en-US" sz="18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Sol·licitud → Expedient → Requisits generals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→ Requisits econòmics → Revisió acadèmica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→ Resolució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7"/>
          <p:cNvSpPr/>
          <p:nvPr/>
        </p:nvSpPr>
        <p:spPr>
          <a:xfrm>
            <a:off x="7867440" y="3304440"/>
            <a:ext cx="3375360" cy="1578960"/>
          </a:xfrm>
          <a:prstGeom prst="roundRect">
            <a:avLst>
              <a:gd name="adj" fmla="val 16667"/>
            </a:avLst>
          </a:prstGeom>
          <a:solidFill>
            <a:srgbClr val="F8EAEA"/>
          </a:solidFill>
          <a:ln>
            <a:solidFill>
              <a:srgbClr val="DCE0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8"/>
          <p:cNvSpPr/>
          <p:nvPr/>
        </p:nvSpPr>
        <p:spPr>
          <a:xfrm>
            <a:off x="8229600" y="3566160"/>
            <a:ext cx="2871720" cy="95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77500" lnSpcReduction="20000"/>
          </a:bodyPr>
          <a:lstStyle/>
          <a:p>
            <a:pPr algn="ctr" defTabSz="457200">
              <a:lnSpc>
                <a:spcPct val="100000"/>
              </a:lnSpc>
            </a:pPr>
            <a:r>
              <a:rPr lang="es-ES" sz="20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Quan no s’acredita el compliment dels requisits econòmics, l’expedient no obté una valoració favorable en aquesta fase.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9"/>
          <p:cNvSpPr/>
          <p:nvPr/>
        </p:nvSpPr>
        <p:spPr>
          <a:xfrm>
            <a:off x="8001000" y="5166360"/>
            <a:ext cx="306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20000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Fonts públiques: AGAUR requisits econòmics i BOE 2025-2026.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594360" y="647388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Disseny de Sistemes d'Informació · Ports de sortida en arquitectura hexagonal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1"/>
          <p:cNvSpPr/>
          <p:nvPr/>
        </p:nvSpPr>
        <p:spPr>
          <a:xfrm>
            <a:off x="11155680" y="647388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4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594360" y="320040"/>
            <a:ext cx="8960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ca-ES" sz="28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Quina informació externa necessita el procediment?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612720" y="822960"/>
            <a:ext cx="8869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457200">
              <a:lnSpc>
                <a:spcPct val="100000"/>
              </a:lnSpc>
            </a:pPr>
            <a:r>
              <a:rPr lang="ca-ES" sz="13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Renda, patrimoni i informació cadastral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Picture 3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9086400" y="293040"/>
            <a:ext cx="243468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Rectangle 4"/>
          <p:cNvSpPr/>
          <p:nvPr/>
        </p:nvSpPr>
        <p:spPr>
          <a:xfrm>
            <a:off x="594360" y="1115640"/>
            <a:ext cx="10972440" cy="13320"/>
          </a:xfrm>
          <a:prstGeom prst="rect">
            <a:avLst/>
          </a:prstGeom>
          <a:solidFill>
            <a:srgbClr val="D6DBE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ca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2" name="Picture 5" descr="agaur-data-interoperability.png"/>
          <p:cNvPicPr/>
          <p:nvPr/>
        </p:nvPicPr>
        <p:blipFill>
          <a:blip r:embed="rId4"/>
          <a:stretch/>
        </p:blipFill>
        <p:spPr>
          <a:xfrm>
            <a:off x="2460600" y="1234440"/>
            <a:ext cx="3399840" cy="47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Box 10"/>
          <p:cNvSpPr/>
          <p:nvPr/>
        </p:nvSpPr>
        <p:spPr>
          <a:xfrm>
            <a:off x="7850160" y="5180040"/>
            <a:ext cx="3369600" cy="51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77500" lnSpcReduction="19999"/>
          </a:bodyPr>
          <a:lstStyle/>
          <a:p>
            <a:r>
              <a:rPr lang="ca-ES" sz="1370" b="1" u="none" strike="noStrike" dirty="0">
                <a:solidFill>
                  <a:srgbClr val="192D3E"/>
                </a:solidFill>
                <a:effectLst/>
                <a:uFillTx/>
                <a:latin typeface="Arial"/>
              </a:rPr>
              <a:t>El procediment necessita informació administrativa, no una API concreta.</a:t>
            </a:r>
            <a:endParaRPr lang="es-ES" sz="13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1"/>
          <p:cNvSpPr/>
          <p:nvPr/>
        </p:nvSpPr>
        <p:spPr>
          <a:xfrm>
            <a:off x="1028880" y="6019920"/>
            <a:ext cx="1049256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457200">
              <a:lnSpc>
                <a:spcPct val="100000"/>
              </a:lnSpc>
            </a:pPr>
            <a:r>
              <a:rPr lang="ca-ES" sz="10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PICA = Plataforma d’Integració i Col·laboració Administrativa. En aquesta sessió es tracta com a canal corporatiu d’interoperabilitat, no com a font administrativa original del mateix tipus que AEAT o Cadastre.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2"/>
          <p:cNvSpPr/>
          <p:nvPr/>
        </p:nvSpPr>
        <p:spPr>
          <a:xfrm>
            <a:off x="594360" y="647388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ca-E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Disseny de Sistemes d'Informació · Ports de sortida en arquitectura hexagonal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3"/>
          <p:cNvSpPr/>
          <p:nvPr/>
        </p:nvSpPr>
        <p:spPr>
          <a:xfrm>
            <a:off x="11155680" y="647388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algn="r" defTabSz="457200">
              <a:lnSpc>
                <a:spcPct val="100000"/>
              </a:lnSpc>
            </a:pPr>
            <a:r>
              <a:rPr lang="ca-E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5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rup necessitat"/>
          <p:cNvSpPr/>
          <p:nvPr/>
        </p:nvSpPr>
        <p:spPr>
          <a:xfrm>
            <a:off x="7850160" y="1374840"/>
            <a:ext cx="3369600" cy="1329480"/>
          </a:xfrm>
          <a:prstGeom prst="roundRect">
            <a:avLst>
              <a:gd name="adj" fmla="val 16667"/>
            </a:avLst>
          </a:prstGeom>
          <a:solidFill>
            <a:srgbClr val="F4F9FD"/>
          </a:solidFill>
          <a:ln w="9525">
            <a:solidFill>
              <a:srgbClr val="D6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0080" tIns="119880" rIns="190080" bIns="100080" anchor="t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649"/>
              </a:spcAft>
            </a:pPr>
            <a:r>
              <a:rPr lang="ca-ES" sz="1250" b="1" u="none" strike="noStrike">
                <a:solidFill>
                  <a:srgbClr val="236092"/>
                </a:solidFill>
                <a:effectLst/>
                <a:uFillTx/>
                <a:latin typeface="Arial"/>
              </a:rPr>
              <a:t>NECESSITAT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21"/>
              </a:spcAft>
            </a:pPr>
            <a:r>
              <a:rPr lang="ca-ES" sz="142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Renda familiar</a:t>
            </a:r>
            <a:endParaRPr lang="es-E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21"/>
              </a:spcAft>
            </a:pPr>
            <a:r>
              <a:rPr lang="ca-ES" sz="142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Patrimoni</a:t>
            </a:r>
            <a:endParaRPr lang="es-E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21"/>
              </a:spcAft>
            </a:pPr>
            <a:r>
              <a:rPr lang="ca-ES" sz="142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Béns immobles</a:t>
            </a:r>
            <a:endParaRPr lang="es-E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rup fonts administratives"/>
          <p:cNvSpPr/>
          <p:nvPr/>
        </p:nvSpPr>
        <p:spPr>
          <a:xfrm>
            <a:off x="7850160" y="2859840"/>
            <a:ext cx="3369600" cy="1119600"/>
          </a:xfrm>
          <a:prstGeom prst="roundRect">
            <a:avLst>
              <a:gd name="adj" fmla="val 16667"/>
            </a:avLst>
          </a:prstGeom>
          <a:solidFill>
            <a:srgbClr val="F8FBF6"/>
          </a:solidFill>
          <a:ln w="9525">
            <a:solidFill>
              <a:srgbClr val="D6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0080" tIns="119880" rIns="190080" bIns="100080" anchor="t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649"/>
              </a:spcAft>
            </a:pPr>
            <a:r>
              <a:rPr lang="ca-ES" sz="1250" b="1" u="none" strike="noStrike">
                <a:solidFill>
                  <a:srgbClr val="236092"/>
                </a:solidFill>
                <a:effectLst/>
                <a:uFillTx/>
                <a:latin typeface="Arial"/>
              </a:rPr>
              <a:t>FONTS ADMINISTRATIVES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21"/>
              </a:spcAft>
            </a:pPr>
            <a:r>
              <a:rPr lang="ca-ES" sz="142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AEAT</a:t>
            </a:r>
            <a:endParaRPr lang="es-E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21"/>
              </a:spcAft>
            </a:pPr>
            <a:r>
              <a:rPr lang="ca-ES" sz="142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Cadastre</a:t>
            </a:r>
            <a:endParaRPr lang="es-E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rup canal interoperabilitat"/>
          <p:cNvSpPr/>
          <p:nvPr/>
        </p:nvSpPr>
        <p:spPr>
          <a:xfrm>
            <a:off x="7850160" y="4129920"/>
            <a:ext cx="3369600" cy="779760"/>
          </a:xfrm>
          <a:prstGeom prst="roundRect">
            <a:avLst>
              <a:gd name="adj" fmla="val 16667"/>
            </a:avLst>
          </a:prstGeom>
          <a:solidFill>
            <a:srgbClr val="FFF7E3"/>
          </a:solidFill>
          <a:ln w="9525">
            <a:solidFill>
              <a:srgbClr val="D6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0080" tIns="119880" rIns="190080" bIns="100080" anchor="t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649"/>
              </a:spcAft>
            </a:pPr>
            <a:r>
              <a:rPr lang="ca-ES" sz="1250" b="1" u="none" strike="noStrike">
                <a:solidFill>
                  <a:srgbClr val="236092"/>
                </a:solidFill>
                <a:effectLst/>
                <a:uFillTx/>
                <a:latin typeface="Arial"/>
              </a:rPr>
              <a:t>CANAL D’INTEROPERABILITAT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21"/>
              </a:spcAft>
            </a:pPr>
            <a:r>
              <a:rPr lang="ca-ES" sz="142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PICA</a:t>
            </a:r>
            <a:endParaRPr lang="es-E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594360" y="320040"/>
            <a:ext cx="8960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Dependència directa entre procediment i integració</a:t>
            </a:r>
            <a:endParaRPr lang="es-E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2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9108000" y="293040"/>
            <a:ext cx="24130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Rectangle 3"/>
          <p:cNvSpPr/>
          <p:nvPr/>
        </p:nvSpPr>
        <p:spPr>
          <a:xfrm>
            <a:off x="594360" y="1338840"/>
            <a:ext cx="10972440" cy="13320"/>
          </a:xfrm>
          <a:prstGeom prst="rect">
            <a:avLst/>
          </a:prstGeom>
          <a:solidFill>
            <a:srgbClr val="D6DBE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960120" y="252396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70000" lnSpcReduction="20000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Escenari d'acoblament indesitjable:</a:t>
            </a:r>
            <a:endParaRPr lang="es-E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Cas d'ús  →  SOAP/XML  →  PICA  →  AEAT / Cadastre</a:t>
            </a:r>
            <a:endParaRPr lang="es-E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5"/>
          <p:cNvSpPr/>
          <p:nvPr/>
        </p:nvSpPr>
        <p:spPr>
          <a:xfrm>
            <a:off x="914400" y="3519360"/>
            <a:ext cx="3062880" cy="1188360"/>
          </a:xfrm>
          <a:prstGeom prst="rect">
            <a:avLst/>
          </a:prstGeom>
          <a:solidFill>
            <a:srgbClr val="F8EAEA"/>
          </a:solidFill>
          <a:ln>
            <a:solidFill>
              <a:srgbClr val="DCE0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1143000" y="3793680"/>
            <a:ext cx="2605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77500" lnSpcReduction="20000"/>
          </a:bodyPr>
          <a:lstStyle/>
          <a:p>
            <a:r>
              <a:rPr lang="en-US" sz="17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Acoblament tecnològic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El procediment </a:t>
            </a:r>
            <a:r>
              <a:rPr lang="es-ES" sz="17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administratiu </a:t>
            </a:r>
            <a:r>
              <a:rPr lang="en-US" sz="17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depèn de SOAP/PICA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7"/>
          <p:cNvSpPr/>
          <p:nvPr/>
        </p:nvSpPr>
        <p:spPr>
          <a:xfrm>
            <a:off x="4526280" y="3519360"/>
            <a:ext cx="3062880" cy="1188360"/>
          </a:xfrm>
          <a:prstGeom prst="rect">
            <a:avLst/>
          </a:prstGeom>
          <a:solidFill>
            <a:srgbClr val="FFF3D6"/>
          </a:solidFill>
          <a:ln>
            <a:solidFill>
              <a:srgbClr val="DCE0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4754880" y="3793680"/>
            <a:ext cx="2656080" cy="65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19999"/>
          </a:bodyPr>
          <a:lstStyle/>
          <a:p>
            <a:r>
              <a:rPr lang="en-US" sz="17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Impacte en el cas d’ús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L’evolució de la integració travessa la frontera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9"/>
          <p:cNvSpPr/>
          <p:nvPr/>
        </p:nvSpPr>
        <p:spPr>
          <a:xfrm>
            <a:off x="8138160" y="3519360"/>
            <a:ext cx="3062880" cy="1188360"/>
          </a:xfrm>
          <a:prstGeom prst="rect">
            <a:avLst/>
          </a:prstGeom>
          <a:solidFill>
            <a:srgbClr val="E8F1F8"/>
          </a:solidFill>
          <a:ln>
            <a:solidFill>
              <a:srgbClr val="DCE0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8260200" y="3736440"/>
            <a:ext cx="2788560" cy="80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r>
              <a:rPr lang="en-US" sz="17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Més superfície d'impacte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Manteniment més fràgil del servei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914400" y="5267520"/>
            <a:ext cx="10240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70000" lnSpcReduction="20000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236092"/>
                </a:solidFill>
                <a:effectLst/>
                <a:uFillTx/>
                <a:latin typeface="Arial"/>
              </a:rPr>
              <a:t>El problema no és consumir PICA; és que el procediment depengui directament dels detalls tècnics de la integració.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2"/>
          <p:cNvSpPr/>
          <p:nvPr/>
        </p:nvSpPr>
        <p:spPr>
          <a:xfrm>
            <a:off x="594360" y="647388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Disseny de Sistemes d'Informació · Ports de sortida en arquitectura hexagonal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3"/>
          <p:cNvSpPr/>
          <p:nvPr/>
        </p:nvSpPr>
        <p:spPr>
          <a:xfrm>
            <a:off x="11155680" y="647388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6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CTTI diagnostic subtitle"/>
          <p:cNvSpPr/>
          <p:nvPr/>
        </p:nvSpPr>
        <p:spPr>
          <a:xfrm>
            <a:off x="829800" y="1735920"/>
            <a:ext cx="10532160" cy="78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s-ES" sz="14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Els principis del CTTI orienten cap a sistemes desacoblats i serveis substituïbles; per això, si la lògica del procediment queda vinculada a crides SOAP/XML contra la integració, qualsevol evolució del mecanisme pot impactar directament la tramitació.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ICA definition slide 7"/>
          <p:cNvSpPr/>
          <p:nvPr/>
        </p:nvSpPr>
        <p:spPr>
          <a:xfrm>
            <a:off x="1097280" y="5938200"/>
            <a:ext cx="10532160" cy="53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algn="ctr" defTabSz="457200">
              <a:lnSpc>
                <a:spcPct val="100000"/>
              </a:lnSpc>
            </a:pPr>
            <a:r>
              <a:rPr lang="es-ES" sz="10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CTTI: Centre de Telecomunicacions i Tecnologies de la Informació de la Generalitat de Catalunya. És l’organisme de la Generalitat de Catalunya que presta serveis TIC corporatius i impulsa l’arquitectura i les solucions tecnològiques transversals de la Generalitat.</a:t>
            </a:r>
            <a:br>
              <a:rPr sz="1000"/>
            </a:b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"/>
          <p:cNvSpPr/>
          <p:nvPr/>
        </p:nvSpPr>
        <p:spPr>
          <a:xfrm>
            <a:off x="594360" y="320040"/>
            <a:ext cx="8960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Port de sortida i adaptador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Picture 2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8480160" y="293040"/>
            <a:ext cx="304092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Rectangle 3"/>
          <p:cNvSpPr/>
          <p:nvPr/>
        </p:nvSpPr>
        <p:spPr>
          <a:xfrm>
            <a:off x="594360" y="1115640"/>
            <a:ext cx="10972440" cy="13320"/>
          </a:xfrm>
          <a:prstGeom prst="rect">
            <a:avLst/>
          </a:prstGeom>
          <a:solidFill>
            <a:srgbClr val="D6DBE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ounded Rectangle 4"/>
          <p:cNvSpPr/>
          <p:nvPr/>
        </p:nvSpPr>
        <p:spPr>
          <a:xfrm>
            <a:off x="2514600" y="1417320"/>
            <a:ext cx="4480200" cy="566640"/>
          </a:xfrm>
          <a:prstGeom prst="roundRect">
            <a:avLst>
              <a:gd name="adj" fmla="val 16667"/>
            </a:avLst>
          </a:prstGeom>
          <a:solidFill>
            <a:srgbClr val="E8F1F8"/>
          </a:solidFill>
          <a:ln>
            <a:solidFill>
              <a:srgbClr val="DCE0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5"/>
          <p:cNvSpPr/>
          <p:nvPr/>
        </p:nvSpPr>
        <p:spPr>
          <a:xfrm>
            <a:off x="2514600" y="1517760"/>
            <a:ext cx="4480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62500" lnSpcReduction="20000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Flux d'execució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6"/>
          <p:cNvSpPr/>
          <p:nvPr/>
        </p:nvSpPr>
        <p:spPr>
          <a:xfrm>
            <a:off x="5897880" y="1984320"/>
            <a:ext cx="2739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19999"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ounded Rectangle 7"/>
          <p:cNvSpPr/>
          <p:nvPr/>
        </p:nvSpPr>
        <p:spPr>
          <a:xfrm>
            <a:off x="2514600" y="2377440"/>
            <a:ext cx="4480200" cy="566640"/>
          </a:xfrm>
          <a:prstGeom prst="roundRect">
            <a:avLst>
              <a:gd name="adj" fmla="val 16667"/>
            </a:avLst>
          </a:prstGeom>
          <a:solidFill>
            <a:srgbClr val="FFF3D6"/>
          </a:solidFill>
          <a:ln>
            <a:solidFill>
              <a:srgbClr val="DCE0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8"/>
          <p:cNvSpPr/>
          <p:nvPr/>
        </p:nvSpPr>
        <p:spPr>
          <a:xfrm>
            <a:off x="2514600" y="2477880"/>
            <a:ext cx="4480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62500" lnSpcReduction="20000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Cas d'ús → Port → Adaptador → Sistema extern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9"/>
          <p:cNvSpPr/>
          <p:nvPr/>
        </p:nvSpPr>
        <p:spPr>
          <a:xfrm>
            <a:off x="5897880" y="2944440"/>
            <a:ext cx="2739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19999"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ounded Rectangle 10"/>
          <p:cNvSpPr/>
          <p:nvPr/>
        </p:nvSpPr>
        <p:spPr>
          <a:xfrm>
            <a:off x="2514600" y="3337560"/>
            <a:ext cx="4480200" cy="566640"/>
          </a:xfrm>
          <a:prstGeom prst="roundRect">
            <a:avLst>
              <a:gd name="adj" fmla="val 16667"/>
            </a:avLst>
          </a:prstGeom>
          <a:solidFill>
            <a:srgbClr val="EBF6F0"/>
          </a:solidFill>
          <a:ln>
            <a:solidFill>
              <a:srgbClr val="DCE0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11"/>
          <p:cNvSpPr/>
          <p:nvPr/>
        </p:nvSpPr>
        <p:spPr>
          <a:xfrm>
            <a:off x="2514600" y="3438000"/>
            <a:ext cx="4480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62500" lnSpcReduction="20000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Dependència de codi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2"/>
          <p:cNvSpPr/>
          <p:nvPr/>
        </p:nvSpPr>
        <p:spPr>
          <a:xfrm>
            <a:off x="5897880" y="3904560"/>
            <a:ext cx="2739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19999"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ounded Rectangle 13"/>
          <p:cNvSpPr/>
          <p:nvPr/>
        </p:nvSpPr>
        <p:spPr>
          <a:xfrm>
            <a:off x="2514600" y="4297680"/>
            <a:ext cx="4480200" cy="56664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DCE0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4"/>
          <p:cNvSpPr/>
          <p:nvPr/>
        </p:nvSpPr>
        <p:spPr>
          <a:xfrm>
            <a:off x="2514600" y="4398120"/>
            <a:ext cx="4480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62500" lnSpcReduction="20000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Cas d'ús → Port de sortida ← Adaptador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5"/>
          <p:cNvSpPr/>
          <p:nvPr/>
        </p:nvSpPr>
        <p:spPr>
          <a:xfrm>
            <a:off x="914400" y="534924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20000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El port defineix què necessita el cas d’ús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6"/>
          <p:cNvSpPr/>
          <p:nvPr/>
        </p:nvSpPr>
        <p:spPr>
          <a:xfrm>
            <a:off x="6400800" y="5349240"/>
            <a:ext cx="51660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20000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Conceptualment és un contracte; en Java el representem amb una interfície</a:t>
            </a:r>
            <a:endParaRPr lang="es-E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7"/>
          <p:cNvSpPr/>
          <p:nvPr/>
        </p:nvSpPr>
        <p:spPr>
          <a:xfrm>
            <a:off x="594360" y="647388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Disseny de Sistemes d'Informació · Ports de sortida en arquitectura hexagonal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8"/>
          <p:cNvSpPr/>
          <p:nvPr/>
        </p:nvSpPr>
        <p:spPr>
          <a:xfrm>
            <a:off x="11155680" y="647388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7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Java concretion container"/>
          <p:cNvSpPr/>
          <p:nvPr/>
        </p:nvSpPr>
        <p:spPr>
          <a:xfrm>
            <a:off x="7498079" y="1371600"/>
            <a:ext cx="3657600" cy="3703320"/>
          </a:xfrm>
          <a:prstGeom prst="roundRect">
            <a:avLst>
              <a:gd name="adj" fmla="val 5500"/>
            </a:avLst>
          </a:prstGeom>
          <a:solidFill>
            <a:srgbClr val="F4F8FB"/>
          </a:solidFill>
          <a:ln w="9525">
            <a:solidFill>
              <a:srgbClr val="DC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Java concretion title"/>
          <p:cNvSpPr txBox="1"/>
          <p:nvPr/>
        </p:nvSpPr>
        <p:spPr>
          <a:xfrm>
            <a:off x="7498079" y="149961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192D3E"/>
                </a:solidFill>
                <a:latin typeface="Arial"/>
              </a:rPr>
              <a:t>Concreció en Java</a:t>
            </a:r>
          </a:p>
        </p:txBody>
      </p:sp>
      <p:sp>
        <p:nvSpPr>
          <p:cNvPr id="156" name="Port interface card"/>
          <p:cNvSpPr/>
          <p:nvPr/>
        </p:nvSpPr>
        <p:spPr>
          <a:xfrm>
            <a:off x="7818120" y="1874519"/>
            <a:ext cx="3017520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AEB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Port interface name"/>
          <p:cNvSpPr txBox="1"/>
          <p:nvPr/>
        </p:nvSpPr>
        <p:spPr>
          <a:xfrm>
            <a:off x="7818120" y="1947672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>
                <a:solidFill>
                  <a:srgbClr val="66707A"/>
                </a:solidFill>
                <a:latin typeface="Arial"/>
              </a:rPr>
              <a:t>«interface»</a:t>
            </a:r>
          </a:p>
          <a:p>
            <a:pPr algn="ctr"/>
            <a:r>
              <a:rPr sz="1550" b="1" i="0">
                <a:solidFill>
                  <a:srgbClr val="192D3E"/>
                </a:solidFill>
                <a:latin typeface="Arial"/>
              </a:rPr>
              <a:t>Port de sortida</a:t>
            </a:r>
          </a:p>
        </p:txBody>
      </p:sp>
      <p:sp>
        <p:nvSpPr>
          <p:cNvPr id="158" name="Port card divider"/>
          <p:cNvSpPr/>
          <p:nvPr/>
        </p:nvSpPr>
        <p:spPr>
          <a:xfrm>
            <a:off x="8001000" y="2505456"/>
            <a:ext cx="2651760" cy="9525"/>
          </a:xfrm>
          <a:prstGeom prst="rect">
            <a:avLst/>
          </a:prstGeom>
          <a:solidFill>
            <a:srgbClr val="D6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Port card subtitle"/>
          <p:cNvSpPr txBox="1"/>
          <p:nvPr/>
        </p:nvSpPr>
        <p:spPr>
          <a:xfrm>
            <a:off x="7818120" y="2560320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i="0">
                <a:solidFill>
                  <a:srgbClr val="192D3E"/>
                </a:solidFill>
                <a:latin typeface="Arial"/>
              </a:rPr>
              <a:t>contracte de l’aplicació</a:t>
            </a:r>
          </a:p>
        </p:txBody>
      </p:sp>
      <p:sp>
        <p:nvSpPr>
          <p:cNvPr id="160" name="Implements arrow head"/>
          <p:cNvSpPr/>
          <p:nvPr/>
        </p:nvSpPr>
        <p:spPr>
          <a:xfrm>
            <a:off x="9226296" y="2871216"/>
            <a:ext cx="201168" cy="155448"/>
          </a:xfrm>
          <a:prstGeom prst="triangle">
            <a:avLst/>
          </a:prstGeom>
          <a:solidFill>
            <a:srgbClr val="FFFFFF"/>
          </a:solidFill>
          <a:ln w="15875">
            <a:solidFill>
              <a:srgbClr val="19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1" name="Implements arrow shaft"/>
          <p:cNvCxnSpPr/>
          <p:nvPr/>
        </p:nvCxnSpPr>
        <p:spPr>
          <a:xfrm>
            <a:off x="9326880" y="3026664"/>
            <a:ext cx="0" cy="768096"/>
          </a:xfrm>
          <a:prstGeom prst="line">
            <a:avLst/>
          </a:prstGeom>
          <a:ln w="19050">
            <a:solidFill>
              <a:srgbClr val="192D3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Implements label"/>
          <p:cNvSpPr txBox="1"/>
          <p:nvPr/>
        </p:nvSpPr>
        <p:spPr>
          <a:xfrm>
            <a:off x="9464040" y="324612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i="1">
                <a:solidFill>
                  <a:srgbClr val="66707A"/>
                </a:solidFill>
                <a:latin typeface="Consolas"/>
              </a:rPr>
              <a:t>implements</a:t>
            </a:r>
          </a:p>
        </p:txBody>
      </p:sp>
      <p:sp>
        <p:nvSpPr>
          <p:cNvPr id="163" name="Adapter card"/>
          <p:cNvSpPr/>
          <p:nvPr/>
        </p:nvSpPr>
        <p:spPr>
          <a:xfrm>
            <a:off x="7818120" y="3794760"/>
            <a:ext cx="3017520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AEB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Adapter name"/>
          <p:cNvSpPr txBox="1"/>
          <p:nvPr/>
        </p:nvSpPr>
        <p:spPr>
          <a:xfrm>
            <a:off x="7818120" y="38862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50" b="1" i="0">
                <a:solidFill>
                  <a:srgbClr val="192D3E"/>
                </a:solidFill>
                <a:latin typeface="Arial"/>
              </a:rPr>
              <a:t>Adaptador</a:t>
            </a:r>
          </a:p>
        </p:txBody>
      </p:sp>
      <p:sp>
        <p:nvSpPr>
          <p:cNvPr id="165" name="Adapter card divider"/>
          <p:cNvSpPr/>
          <p:nvPr/>
        </p:nvSpPr>
        <p:spPr>
          <a:xfrm>
            <a:off x="8001000" y="4224528"/>
            <a:ext cx="2651760" cy="9525"/>
          </a:xfrm>
          <a:prstGeom prst="rect">
            <a:avLst/>
          </a:prstGeom>
          <a:solidFill>
            <a:srgbClr val="D6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Adapter subtitle"/>
          <p:cNvSpPr txBox="1"/>
          <p:nvPr/>
        </p:nvSpPr>
        <p:spPr>
          <a:xfrm>
            <a:off x="7955279" y="427939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i="0">
                <a:solidFill>
                  <a:srgbClr val="192D3E"/>
                </a:solidFill>
                <a:latin typeface="Arial"/>
              </a:rPr>
              <a:t>classe que implementa</a:t>
            </a:r>
          </a:p>
          <a:p>
            <a:pPr algn="ctr"/>
            <a:r>
              <a:rPr sz="1150" b="0" i="0">
                <a:solidFill>
                  <a:srgbClr val="192D3E"/>
                </a:solidFill>
                <a:latin typeface="Arial"/>
              </a:rPr>
              <a:t>aquesta interfície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"/>
          <p:cNvSpPr/>
          <p:nvPr/>
        </p:nvSpPr>
        <p:spPr>
          <a:xfrm>
            <a:off x="594360" y="320040"/>
            <a:ext cx="8960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s-ES" sz="28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Port de sortida per a informació patrimonial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"/>
          <p:cNvSpPr/>
          <p:nvPr/>
        </p:nvSpPr>
        <p:spPr>
          <a:xfrm>
            <a:off x="612720" y="822960"/>
            <a:ext cx="8869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457200">
              <a:lnSpc>
                <a:spcPct val="100000"/>
              </a:lnSpc>
            </a:pPr>
            <a:r>
              <a:rPr lang="es-ES" sz="13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El cas d’ús depèn d’un contracte de l’aplicació, no dels detalls de PICA, SOAP/XML o API REST.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Picture 3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8480160" y="293040"/>
            <a:ext cx="304092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Rectangle 4"/>
          <p:cNvSpPr/>
          <p:nvPr/>
        </p:nvSpPr>
        <p:spPr>
          <a:xfrm>
            <a:off x="594360" y="1115640"/>
            <a:ext cx="10972440" cy="13320"/>
          </a:xfrm>
          <a:prstGeom prst="rect">
            <a:avLst/>
          </a:prstGeom>
          <a:solidFill>
            <a:srgbClr val="D6DBE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8"/>
          <p:cNvSpPr/>
          <p:nvPr/>
        </p:nvSpPr>
        <p:spPr>
          <a:xfrm>
            <a:off x="605160" y="647388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Disseny de Sistemes d'Informació · Ports de sortida en arquitectura hexagonal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9"/>
          <p:cNvSpPr/>
          <p:nvPr/>
        </p:nvSpPr>
        <p:spPr>
          <a:xfrm>
            <a:off x="11155680" y="647388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8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n 6"/>
          <p:cNvPicPr/>
          <p:nvPr/>
        </p:nvPicPr>
        <p:blipFill>
          <a:blip r:embed="rId4"/>
          <a:stretch/>
        </p:blipFill>
        <p:spPr>
          <a:xfrm>
            <a:off x="594360" y="1197720"/>
            <a:ext cx="11228760" cy="5234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Box 1"/>
          <p:cNvSpPr/>
          <p:nvPr/>
        </p:nvSpPr>
        <p:spPr>
          <a:xfrm>
            <a:off x="594360" y="320040"/>
            <a:ext cx="8960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Transferència al domini financer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2"/>
          <p:cNvSpPr/>
          <p:nvPr/>
        </p:nvSpPr>
        <p:spPr>
          <a:xfrm>
            <a:off x="612720" y="822960"/>
            <a:ext cx="8869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s-ES" sz="1400" b="0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El cas d’ús «Venda d’accions» necessita el preu actual, independentment del proveïdor de dades i de l’API concreta.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Picture 3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8480160" y="293040"/>
            <a:ext cx="304092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Rectangle 4"/>
          <p:cNvSpPr/>
          <p:nvPr/>
        </p:nvSpPr>
        <p:spPr>
          <a:xfrm>
            <a:off x="594360" y="1115640"/>
            <a:ext cx="10972440" cy="13320"/>
          </a:xfrm>
          <a:prstGeom prst="rect">
            <a:avLst/>
          </a:prstGeom>
          <a:solidFill>
            <a:srgbClr val="D6DBE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9"/>
          <p:cNvSpPr/>
          <p:nvPr/>
        </p:nvSpPr>
        <p:spPr>
          <a:xfrm>
            <a:off x="594360" y="647388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Disseny de Sistemes d'Informació · Ports de sortida en arquitectura hexagonal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0"/>
          <p:cNvSpPr/>
          <p:nvPr/>
        </p:nvSpPr>
        <p:spPr>
          <a:xfrm>
            <a:off x="11155680" y="647388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9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lide 10 port note"/>
          <p:cNvSpPr/>
          <p:nvPr/>
        </p:nvSpPr>
        <p:spPr>
          <a:xfrm>
            <a:off x="4275000" y="6523200"/>
            <a:ext cx="10560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Port: StockPriceProviderPort · Adaptadors: Finnhub, Alpha Vantage, mock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Imagen 6"/>
          <p:cNvPicPr/>
          <p:nvPr/>
        </p:nvPicPr>
        <p:blipFill>
          <a:blip r:embed="rId4"/>
          <a:stretch/>
        </p:blipFill>
        <p:spPr>
          <a:xfrm>
            <a:off x="702000" y="1101240"/>
            <a:ext cx="10756800" cy="534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2800" b="1">
                <a:solidFill>
                  <a:srgbClr val="192D3E"/>
                </a:solidFill>
                <a:latin typeface="Arial"/>
              </a:rPr>
              <a:t>Idea clau i tancament</a:t>
            </a:r>
          </a:p>
        </p:txBody>
      </p:sp>
      <p:pic>
        <p:nvPicPr>
          <p:cNvPr id="3" name="Picture 2" descr="logotip-oficial-tecnocampus-upf-horitzontal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078" y="293025"/>
            <a:ext cx="3041362" cy="57565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1115568"/>
            <a:ext cx="10972800" cy="13716"/>
          </a:xfrm>
          <a:prstGeom prst="rect">
            <a:avLst/>
          </a:prstGeom>
          <a:solidFill>
            <a:srgbClr val="D6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877" y="1756956"/>
            <a:ext cx="3245760" cy="1150000"/>
          </a:xfrm>
          <a:prstGeom prst="roundRect">
            <a:avLst>
              <a:gd name="adj" fmla="val 16667"/>
            </a:avLst>
          </a:prstGeom>
          <a:solidFill>
            <a:srgbClr val="F8EAEA"/>
          </a:solidFill>
          <a:ln>
            <a:solidFill>
              <a:srgbClr val="DCE0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" name="TextBox 11"/>
          <p:cNvSpPr/>
          <p:nvPr/>
        </p:nvSpPr>
        <p:spPr>
          <a:xfrm>
            <a:off x="777877" y="1756956"/>
            <a:ext cx="3245760" cy="115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/>
            <a:r>
              <a:rPr lang="ca-ES" sz="16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1. Necessitat funcional</a:t>
            </a:r>
          </a:p>
          <a:p>
            <a:pPr algn="ctr"/>
            <a:r>
              <a:rPr lang="ca-ES" sz="1300" b="0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El cas d’ús expressa què necessita.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8557" y="1756956"/>
            <a:ext cx="3245760" cy="1150000"/>
          </a:xfrm>
          <a:prstGeom prst="roundRect">
            <a:avLst>
              <a:gd name="adj" fmla="val 16667"/>
            </a:avLst>
          </a:prstGeom>
          <a:solidFill>
            <a:srgbClr val="FFF3D6"/>
          </a:solidFill>
          <a:ln>
            <a:solidFill>
              <a:srgbClr val="DCE0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Box 13"/>
          <p:cNvSpPr/>
          <p:nvPr/>
        </p:nvSpPr>
        <p:spPr>
          <a:xfrm>
            <a:off x="4508557" y="1756956"/>
            <a:ext cx="3245760" cy="115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/>
            <a:r>
              <a:rPr lang="ca-ES" sz="16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2. Port de sortida</a:t>
            </a:r>
          </a:p>
          <a:p>
            <a:pPr algn="ctr"/>
            <a:r>
              <a:rPr lang="ca-ES" sz="1300" b="0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El port defineix el contracte de l’aplicació.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9237" y="1756956"/>
            <a:ext cx="3245760" cy="1150000"/>
          </a:xfrm>
          <a:prstGeom prst="roundRect">
            <a:avLst>
              <a:gd name="adj" fmla="val 16667"/>
            </a:avLst>
          </a:prstGeom>
          <a:solidFill>
            <a:srgbClr val="EBF6F0"/>
          </a:solidFill>
          <a:ln>
            <a:solidFill>
              <a:srgbClr val="DCE0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Box 15"/>
          <p:cNvSpPr/>
          <p:nvPr/>
        </p:nvSpPr>
        <p:spPr>
          <a:xfrm>
            <a:off x="8239237" y="1756956"/>
            <a:ext cx="3245760" cy="115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/>
            <a:r>
              <a:rPr lang="ca-ES" sz="16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3. Adaptador</a:t>
            </a:r>
          </a:p>
          <a:p>
            <a:pPr algn="ctr"/>
            <a:r>
              <a:rPr lang="ca-ES" sz="1300" b="0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L’adaptador encapsula la integració externa.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33757" y="3846956"/>
            <a:ext cx="8595360" cy="1217428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94309" y="3950942"/>
            <a:ext cx="8099528" cy="86868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ca-ES" sz="2800" b="1" dirty="0">
                <a:solidFill>
                  <a:srgbClr val="192D3E"/>
                </a:solidFill>
                <a:latin typeface="Arial"/>
              </a:rPr>
              <a:t>L’arquitectura no elimina el canvi; el localitza.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595360" cy="201168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800" b="0">
                <a:solidFill>
                  <a:srgbClr val="66707A"/>
                </a:solidFill>
                <a:latin typeface="Arial"/>
              </a:rPr>
              <a:t>Disseny de Sistemes d'Informació · Ports de sortida en arquitectura hexagonal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r"/>
            <a:r>
              <a:rPr lang="es-ES" sz="800" b="0" dirty="0">
                <a:solidFill>
                  <a:srgbClr val="66707A"/>
                </a:solidFill>
                <a:latin typeface="Arial"/>
              </a:rPr>
              <a:t>10</a:t>
            </a:r>
          </a:p>
          <a:p>
            <a:pPr algn="r"/>
            <a:endParaRPr sz="800" b="0" dirty="0">
              <a:solidFill>
                <a:srgbClr val="66707A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2800" b="1">
                <a:solidFill>
                  <a:srgbClr val="192D3E"/>
                </a:solidFill>
                <a:latin typeface="Arial"/>
              </a:rPr>
              <a:t>Agraïment</a:t>
            </a:r>
          </a:p>
        </p:txBody>
      </p:sp>
      <p:pic>
        <p:nvPicPr>
          <p:cNvPr id="3" name="Picture 2" descr="logotip-oficial-tecnocampus-upf-horitzontal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078" y="293025"/>
            <a:ext cx="3041362" cy="57565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1115568"/>
            <a:ext cx="10972800" cy="13716"/>
          </a:xfrm>
          <a:prstGeom prst="rect">
            <a:avLst/>
          </a:prstGeom>
          <a:solidFill>
            <a:srgbClr val="D6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78973" y="2600000"/>
            <a:ext cx="9834053" cy="1780528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Vull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expressar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el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meu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agraïment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al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TecnoCampus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per un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entorn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que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m'encoratja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a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créixer</a:t>
            </a:r>
            <a:r>
              <a:rPr lang="es-ES" sz="2400" b="0">
                <a:solidFill>
                  <a:srgbClr val="192D3E"/>
                </a:solidFill>
                <a:latin typeface="Arial"/>
              </a:rPr>
              <a:t>, 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al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costat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d'un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equip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del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qual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aprenc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i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amb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qui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comparteixo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coneixement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,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responsabilitat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i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compromís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amb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la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formació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 </a:t>
            </a:r>
            <a:r>
              <a:rPr lang="es-ES" sz="2400" b="0" dirty="0" err="1">
                <a:solidFill>
                  <a:srgbClr val="192D3E"/>
                </a:solidFill>
                <a:latin typeface="Arial"/>
              </a:rPr>
              <a:t>universitària</a:t>
            </a:r>
            <a:r>
              <a:rPr lang="es-ES" sz="2400" b="0" dirty="0">
                <a:solidFill>
                  <a:srgbClr val="192D3E"/>
                </a:solidFill>
                <a:latin typeface="Arial"/>
              </a:rPr>
              <a:t>. </a:t>
            </a:r>
            <a:br>
              <a:rPr lang="es-ES" sz="2400" b="0" dirty="0">
                <a:solidFill>
                  <a:srgbClr val="192D3E"/>
                </a:solidFill>
                <a:latin typeface="Arial"/>
              </a:rPr>
            </a:br>
            <a:endParaRPr lang="es-ES" sz="2400" b="0" dirty="0">
              <a:solidFill>
                <a:srgbClr val="192D3E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30392" y="4800000"/>
            <a:ext cx="8099528" cy="86868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ca-ES" sz="2800" b="1" dirty="0">
                <a:solidFill>
                  <a:srgbClr val="192D3E"/>
                </a:solidFill>
                <a:latin typeface="Arial"/>
              </a:rPr>
              <a:t>Moltes gràcies.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595360" cy="201168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800" b="0">
                <a:solidFill>
                  <a:srgbClr val="66707A"/>
                </a:solidFill>
                <a:latin typeface="Arial"/>
              </a:rPr>
              <a:t>Disseny de Sistemes d'Informació · Ports de sortida en arquitectura hexagonal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r"/>
            <a:r>
              <a:rPr lang="es-ES" sz="800" b="0" dirty="0">
                <a:solidFill>
                  <a:srgbClr val="66707A"/>
                </a:solidFill>
                <a:latin typeface="Arial"/>
              </a:rPr>
              <a:t>11</a:t>
            </a:r>
          </a:p>
          <a:p>
            <a:pPr algn="r"/>
            <a:endParaRPr sz="800" b="0" dirty="0">
              <a:solidFill>
                <a:srgbClr val="66707A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Box 1"/>
          <p:cNvSpPr/>
          <p:nvPr/>
        </p:nvSpPr>
        <p:spPr>
          <a:xfrm>
            <a:off x="594360" y="320040"/>
            <a:ext cx="8960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s-ES" sz="28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Annex. Demo opcional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"/>
          <p:cNvSpPr/>
          <p:nvPr/>
        </p:nvSpPr>
        <p:spPr>
          <a:xfrm>
            <a:off x="612720" y="822960"/>
            <a:ext cx="8869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Mateix cas d'ús, adaptador substituïble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Picture 3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8480160" y="293040"/>
            <a:ext cx="304092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Rectangle 4"/>
          <p:cNvSpPr/>
          <p:nvPr/>
        </p:nvSpPr>
        <p:spPr>
          <a:xfrm>
            <a:off x="594360" y="1115640"/>
            <a:ext cx="10972440" cy="13320"/>
          </a:xfrm>
          <a:prstGeom prst="rect">
            <a:avLst/>
          </a:prstGeom>
          <a:solidFill>
            <a:srgbClr val="D6DBE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5"/>
          <p:cNvSpPr/>
          <p:nvPr/>
        </p:nvSpPr>
        <p:spPr>
          <a:xfrm>
            <a:off x="914400" y="1325880"/>
            <a:ext cx="10286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9999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HexaStock és un projecte open source propi utilitzat en docència universitària i formació o consultoria professional.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6"/>
          <p:cNvSpPr/>
          <p:nvPr/>
        </p:nvSpPr>
        <p:spPr>
          <a:xfrm>
            <a:off x="868680" y="2240280"/>
            <a:ext cx="3245760" cy="959760"/>
          </a:xfrm>
          <a:prstGeom prst="roundRect">
            <a:avLst>
              <a:gd name="adj" fmla="val 16667"/>
            </a:avLst>
          </a:prstGeom>
          <a:solidFill>
            <a:srgbClr val="E8F1F8"/>
          </a:solidFill>
          <a:ln>
            <a:solidFill>
              <a:srgbClr val="DCE0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7"/>
          <p:cNvSpPr/>
          <p:nvPr/>
        </p:nvSpPr>
        <p:spPr>
          <a:xfrm>
            <a:off x="1051560" y="2541960"/>
            <a:ext cx="2880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77500" lnSpcReduction="20000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Mateix cas d'ús</a:t>
            </a:r>
            <a:endParaRPr lang="es-E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8"/>
          <p:cNvSpPr/>
          <p:nvPr/>
        </p:nvSpPr>
        <p:spPr>
          <a:xfrm>
            <a:off x="4572000" y="2240280"/>
            <a:ext cx="3245760" cy="959760"/>
          </a:xfrm>
          <a:prstGeom prst="roundRect">
            <a:avLst>
              <a:gd name="adj" fmla="val 16667"/>
            </a:avLst>
          </a:prstGeom>
          <a:solidFill>
            <a:srgbClr val="FFF3D6"/>
          </a:solidFill>
          <a:ln>
            <a:solidFill>
              <a:srgbClr val="DCE0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9"/>
          <p:cNvSpPr/>
          <p:nvPr/>
        </p:nvSpPr>
        <p:spPr>
          <a:xfrm>
            <a:off x="4754880" y="2541960"/>
            <a:ext cx="2880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77500" lnSpcReduction="20000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Mateix </a:t>
            </a:r>
            <a:r>
              <a:rPr lang="es-ES" sz="19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S</a:t>
            </a:r>
            <a:r>
              <a:rPr lang="en-US" sz="19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ervei</a:t>
            </a:r>
            <a:r>
              <a:rPr lang="es-ES" sz="19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 d’Aplicació</a:t>
            </a:r>
            <a:endParaRPr lang="es-E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s-E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10"/>
          <p:cNvSpPr/>
          <p:nvPr/>
        </p:nvSpPr>
        <p:spPr>
          <a:xfrm>
            <a:off x="8275320" y="2240280"/>
            <a:ext cx="3245760" cy="959760"/>
          </a:xfrm>
          <a:prstGeom prst="roundRect">
            <a:avLst>
              <a:gd name="adj" fmla="val 16667"/>
            </a:avLst>
          </a:prstGeom>
          <a:solidFill>
            <a:srgbClr val="EBF6F0"/>
          </a:solidFill>
          <a:ln>
            <a:solidFill>
              <a:srgbClr val="DCE0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11"/>
          <p:cNvSpPr/>
          <p:nvPr/>
        </p:nvSpPr>
        <p:spPr>
          <a:xfrm>
            <a:off x="8458200" y="2541960"/>
            <a:ext cx="2880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77500" lnSpcReduction="20000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Mateix domini</a:t>
            </a:r>
            <a:endParaRPr lang="es-E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2"/>
          <p:cNvSpPr/>
          <p:nvPr/>
        </p:nvSpPr>
        <p:spPr>
          <a:xfrm>
            <a:off x="1051560" y="388620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algn="ctr" defTabSz="457200">
              <a:lnSpc>
                <a:spcPct val="100000"/>
              </a:lnSpc>
            </a:pPr>
            <a:r>
              <a:rPr lang="es-ES" sz="2600" b="1" u="none" strike="noStrike">
                <a:solidFill>
                  <a:srgbClr val="236092"/>
                </a:solidFill>
                <a:effectLst/>
                <a:uFillTx/>
                <a:latin typeface="Arial"/>
              </a:rPr>
              <a:t>Canvi tecnològic: adaptador Finnhub ↔ adaptador Alpha Vantage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3"/>
          <p:cNvSpPr/>
          <p:nvPr/>
        </p:nvSpPr>
        <p:spPr>
          <a:xfrm>
            <a:off x="1051560" y="507492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Canvia la infraestructura; el cas d'ús </a:t>
            </a:r>
            <a:r>
              <a:rPr lang="es-E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i el domini </a:t>
            </a:r>
            <a:r>
              <a:rPr lang="en-U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roman</a:t>
            </a:r>
            <a:r>
              <a:rPr lang="es-E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en</a:t>
            </a:r>
            <a:r>
              <a:rPr lang="en-U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 estable</a:t>
            </a:r>
            <a:r>
              <a:rPr lang="es-E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s</a:t>
            </a:r>
            <a:r>
              <a:rPr lang="en-US" sz="2400" b="1" u="none" strike="noStrike">
                <a:solidFill>
                  <a:srgbClr val="192D3E"/>
                </a:solidFill>
                <a:effectLst/>
                <a:uFillTx/>
                <a:latin typeface="Arial"/>
              </a:rPr>
              <a:t>.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4"/>
          <p:cNvSpPr/>
          <p:nvPr/>
        </p:nvSpPr>
        <p:spPr>
          <a:xfrm>
            <a:off x="594360" y="647388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66707A"/>
                </a:solidFill>
                <a:effectLst/>
                <a:uFillTx/>
                <a:latin typeface="Arial"/>
              </a:rPr>
              <a:t>Disseny de Sistemes d'Informació · Ports de sortida en arquitectura hexagonal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5"/>
          <p:cNvSpPr/>
          <p:nvPr/>
        </p:nvSpPr>
        <p:spPr>
          <a:xfrm>
            <a:off x="11155680" y="6473880"/>
            <a:ext cx="411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algn="ctr" defTabSz="457200">
              <a:lnSpc>
                <a:spcPct val="100000"/>
              </a:lnSpc>
            </a:pPr>
            <a:r>
              <a:rPr lang="ca-ES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Annex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1770</TotalTime>
  <Words>1567</Words>
  <Application>Microsoft Macintosh PowerPoint</Application>
  <PresentationFormat>Panorámica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Consolas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Alfredo Rueda Unsain</cp:lastModifiedBy>
  <cp:revision>48</cp:revision>
  <cp:lastPrinted>2026-07-01T20:23:23Z</cp:lastPrinted>
  <dcterms:created xsi:type="dcterms:W3CDTF">2013-01-27T09:14:16Z</dcterms:created>
  <dcterms:modified xsi:type="dcterms:W3CDTF">2026-07-14T15:56:02Z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Panorámica</vt:lpwstr>
  </property>
  <property fmtid="{D5CDD505-2E9C-101B-9397-08002B2CF9AE}" pid="4" name="Slides">
    <vt:r8>12</vt:r8>
  </property>
</Properties>
</file>