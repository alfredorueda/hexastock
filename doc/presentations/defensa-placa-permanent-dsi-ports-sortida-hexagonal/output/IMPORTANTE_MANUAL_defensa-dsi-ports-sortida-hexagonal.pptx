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8" r:id="rId12"/>
    <p:sldId id="266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850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40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BAC575-8351-9441-AF95-237B22BB45B7}" type="datetimeFigureOut">
              <a:rPr lang="es-ES" smtClean="0"/>
              <a:t>12/7/26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8C99D2-5180-AE4F-A32B-A5730E8BE3F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338386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ca-ES" dirty="0"/>
              <a:t>Context: classe de DSI.</a:t>
            </a:r>
          </a:p>
          <a:p>
            <a:r>
              <a:rPr lang="ca-ES" dirty="0"/>
              <a:t>Cas real acreditat: consultoria Generalitat / AGAUR.</a:t>
            </a:r>
          </a:p>
          <a:p>
            <a:r>
              <a:rPr lang="ca-ES" dirty="0"/>
              <a:t>Idea: trobada entre dimensió acadèmica i professional.</a:t>
            </a:r>
          </a:p>
          <a:p>
            <a:r>
              <a:rPr lang="ca-ES" dirty="0"/>
              <a:t>Focus: ports de sortida quan cal informació externa. No panoràmica completa d'arquitectura hexagonal.</a:t>
            </a:r>
          </a:p>
          <a:p>
            <a:r>
              <a:rPr lang="ca-ES" dirty="0"/>
              <a:t>Transició: situar la sessió dins l’assignatura.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ca-ES" dirty="0"/>
              <a:t>Situar: DSI, tercer curs, 6 ECTS.</a:t>
            </a:r>
          </a:p>
          <a:p>
            <a:r>
              <a:rPr lang="ca-ES" dirty="0"/>
              <a:t>Bloc: Clean Architecture i arquitectura hexagonal, ports i adaptadors, mapping, modularització i Domain-Driven Design.</a:t>
            </a:r>
          </a:p>
          <a:p>
            <a:r>
              <a:rPr lang="ca-ES" dirty="0"/>
              <a:t>Focus limitat: port de sortida.</a:t>
            </a:r>
          </a:p>
          <a:p>
            <a:r>
              <a:rPr lang="ca-ES" dirty="0"/>
              <a:t>Transició: formular l’objectiu de treball.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ca-ES" dirty="0"/>
              <a:t>Frase clau: capacitat funcional, no tecnologia específica.</a:t>
            </a:r>
          </a:p>
          <a:p>
            <a:r>
              <a:rPr lang="ca-ES" dirty="0"/>
              <a:t>Tres decisions: identificar necessitat, definir port, implementar adaptador.</a:t>
            </a:r>
          </a:p>
          <a:p>
            <a:r>
              <a:rPr lang="ca-ES" dirty="0"/>
              <a:t>No explicar encara tota l’abstracció.</a:t>
            </a:r>
          </a:p>
          <a:p>
            <a:r>
              <a:rPr lang="ca-ES" dirty="0"/>
              <a:t>Primer cas real, després decisió arquitectònica.</a:t>
            </a:r>
          </a:p>
          <a:p>
            <a:r>
              <a:rPr lang="ca-ES" dirty="0"/>
              <a:t>Transició: procediment administratiu de beca.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ca-ES" dirty="0"/>
              <a:t>Primer entendre el procediment; després la tecnologia.</a:t>
            </a:r>
          </a:p>
          <a:p>
            <a:r>
              <a:rPr lang="ca-ES" dirty="0"/>
              <a:t>Sol·licitud -&gt; expedient -&gt; requisits -&gt; resolució.</a:t>
            </a:r>
          </a:p>
          <a:p>
            <a:r>
              <a:rPr lang="ca-ES" dirty="0"/>
              <a:t>Avaluació econòmica: renda i patrimoni.</a:t>
            </a:r>
          </a:p>
          <a:p>
            <a:r>
              <a:rPr lang="ca-ES" dirty="0"/>
              <a:t>Encara no parlar de SOAP, XML, REST o BD.</a:t>
            </a:r>
          </a:p>
          <a:p>
            <a:r>
              <a:rPr lang="ca-ES" dirty="0"/>
              <a:t>Transició: quina informació externa cal?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ca-ES"/>
              <a:t>Necessitat funcional: informació fiable de renda i patrimoni.</a:t>
            </a:r>
          </a:p>
          <a:p>
            <a:r>
              <a:rPr lang="ca-ES"/>
              <a:t>Fonts administratives: AEAT i Cadastre.</a:t>
            </a:r>
          </a:p>
          <a:p>
            <a:r>
              <a:rPr lang="ca-ES"/>
              <a:t>Canal o plataforma d’interoperabilitat: PICA.</a:t>
            </a:r>
          </a:p>
          <a:p>
            <a:r>
              <a:rPr lang="ca-ES"/>
              <a:t>No presentar PICA com a font original del mateix tipus.</a:t>
            </a:r>
          </a:p>
          <a:p>
            <a:r>
              <a:rPr lang="ca-ES"/>
              <a:t>Frase clau: informació administrativa, no API concreta.</a:t>
            </a:r>
          </a:p>
          <a:p>
            <a:r>
              <a:rPr lang="ca-ES"/>
              <a:t>Transició: què passa si el cas d’ús coneix la integració?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ca-ES"/>
              <a:t>Problema: acoblament directe amb detalls tècnics.</a:t>
            </a:r>
          </a:p>
          <a:p>
            <a:r>
              <a:rPr lang="ca-ES"/>
              <a:t>La cadena SOAP/XML -&gt; PICA -&gt; AEAT i/o Cadastre és el problema, no la solució.</a:t>
            </a:r>
          </a:p>
          <a:p>
            <a:r>
              <a:rPr lang="ca-ES"/>
              <a:t>El cas d’ús acaba coneixent SOAP/XML, DTOs, clients i errors.</a:t>
            </a:r>
          </a:p>
          <a:p>
            <a:r>
              <a:rPr lang="ca-ES"/>
              <a:t>Si canvia la integració, el canvi travessa el cas d’ús.</a:t>
            </a:r>
          </a:p>
          <a:p>
            <a:r>
              <a:rPr lang="ca-ES"/>
              <a:t>Riscos: manteniment fràgil i més superfície d’impacte davant canvis externs.</a:t>
            </a:r>
          </a:p>
          <a:p>
            <a:r>
              <a:rPr lang="ca-ES"/>
              <a:t>Transició: resposta arquitectònica, port de sortida.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ca-ES" dirty="0"/>
              <a:t>Distingir dues fletxes: flux i dependència de codi.</a:t>
            </a:r>
          </a:p>
          <a:p>
            <a:r>
              <a:rPr lang="ca-ES" dirty="0"/>
              <a:t>Flux: el cas d’ús demana informació cap enfora.</a:t>
            </a:r>
          </a:p>
          <a:p>
            <a:r>
              <a:rPr lang="ca-ES" dirty="0"/>
              <a:t>Dependència: cas d’ús -&gt; port; adaptador -&gt; port.</a:t>
            </a:r>
          </a:p>
          <a:p>
            <a:r>
              <a:rPr lang="ca-ES" dirty="0"/>
              <a:t>Conceptualment, el port és un contracte; en Java, aquí s’expressa com una interfície.</a:t>
            </a:r>
          </a:p>
          <a:p>
            <a:r>
              <a:rPr lang="ca-ES" dirty="0"/>
              <a:t>L’adaptador implementa aquesta interfície.</a:t>
            </a:r>
          </a:p>
          <a:p>
            <a:r>
              <a:rPr lang="ca-ES" dirty="0"/>
              <a:t>Frase clau: la infraestructura depèn del port de l’aplicació.</a:t>
            </a:r>
          </a:p>
          <a:p>
            <a:r>
              <a:rPr lang="ca-ES" dirty="0"/>
              <a:t>Transició: aplicar-ho a la necessitat d’informació econòmica.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ca-ES"/>
              <a:t>Servei d’aplicació depèn de contractes propis.</a:t>
            </a:r>
          </a:p>
          <a:p>
            <a:r>
              <a:rPr lang="ca-ES"/>
              <a:t>Ports dins del llenguatge de l’aplicació.</a:t>
            </a:r>
          </a:p>
          <a:p>
            <a:r>
              <a:rPr lang="ca-ES"/>
              <a:t>Adaptadors fora del nucli: PICA, JDBC, REST, SOAP/XML.</a:t>
            </a:r>
          </a:p>
          <a:p>
            <a:r>
              <a:rPr lang="ca-ES"/>
              <a:t>Fletxa important: l’adaptador implementa el port.</a:t>
            </a:r>
          </a:p>
          <a:p>
            <a:r>
              <a:rPr lang="ca-ES"/>
              <a:t>Transició: mateix patró, canvi de domini.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ca-ES"/>
              <a:t>Canvi explícit: beca -&gt; cartera d’inversió personal.</a:t>
            </a:r>
          </a:p>
          <a:p>
            <a:r>
              <a:rPr lang="ca-ES"/>
              <a:t>Cas d’ús: vendre accions.</a:t>
            </a:r>
          </a:p>
          <a:p>
            <a:r>
              <a:rPr lang="ca-ES"/>
              <a:t>Necessitat: preu actual de l’acció.</a:t>
            </a:r>
          </a:p>
          <a:p>
            <a:r>
              <a:rPr lang="ca-ES"/>
              <a:t>Separar proveïdor de dades, API concreta, contracte tècnic i adaptador.</a:t>
            </a:r>
          </a:p>
          <a:p>
            <a:r>
              <a:rPr lang="ca-ES"/>
              <a:t>Patró: necessitat -&gt; port -&gt; adaptador.</a:t>
            </a:r>
          </a:p>
          <a:p>
            <a:r>
              <a:rPr lang="ca-ES"/>
              <a:t>Transició: projecte concret HexaStock.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ca-ES"/>
              <a:t>Diagrama de seqüència = flux temporal.</a:t>
            </a:r>
          </a:p>
          <a:p>
            <a:r>
              <a:rPr lang="ca-ES"/>
              <a:t>Controller -&gt; port d’entrada -&gt; servei d’aplicació.</a:t>
            </a:r>
          </a:p>
          <a:p>
            <a:r>
              <a:rPr lang="ca-ES"/>
              <a:t>El servei coordina: portfolio, preu, domini.</a:t>
            </a:r>
          </a:p>
          <a:p>
            <a:r>
              <a:rPr lang="ca-ES"/>
              <a:t>El domini decideix la venda; l’adaptador integra.</a:t>
            </a:r>
          </a:p>
          <a:p>
            <a:r>
              <a:rPr lang="ca-ES"/>
              <a:t>Frase clau: en aquesta implementació, servei coordina, domini decideix i adaptador integra.</a:t>
            </a:r>
          </a:p>
          <a:p>
            <a:r>
              <a:rPr lang="ca-ES"/>
              <a:t>Transició: tancament conceptual.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ca-ES"/>
              <a:t>Tancament: l’arquitectura no elimina la dependència externa; la situa en una frontera explícita i controlable.</a:t>
            </a:r>
          </a:p>
          <a:p>
            <a:r>
              <a:rPr lang="ca-ES"/>
              <a:t>Quan canvia proveïdor o API, volem localitzar l’impacte a l’adaptador.</a:t>
            </a:r>
          </a:p>
          <a:p>
            <a:r>
              <a:rPr lang="ca-ES"/>
              <a:t>No reescriure cas d’ús ni deformar domini.</a:t>
            </a:r>
          </a:p>
          <a:p>
            <a:r>
              <a:rPr lang="ca-ES"/>
              <a:t>Agraïment breu al TecnoCampus i al Dr. Josep Roure.</a:t>
            </a:r>
          </a:p>
          <a:p>
            <a:r>
              <a:rPr lang="ca-ES"/>
              <a:t>Tancar mirant el tribunal: Moltes gràcies.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ca-ES"/>
              <a:t>Annex opcional: només si el tribunal ho demana o queda temps clar.</a:t>
            </a:r>
          </a:p>
          <a:p>
            <a:r>
              <a:rPr lang="ca-ES"/>
              <a:t>No forma part del cos principal de 20 minuts.</a:t>
            </a:r>
          </a:p>
          <a:p>
            <a:r>
              <a:rPr lang="ca-ES"/>
              <a:t>Missatge demo: mateix cas d’ús, servei i domini.</a:t>
            </a:r>
          </a:p>
          <a:p>
            <a:r>
              <a:rPr lang="ca-ES"/>
              <a:t>Canvia l’adaptador: Finnhub, Alpha Vantage o mock.</a:t>
            </a:r>
          </a:p>
          <a:p>
            <a:r>
              <a:rPr lang="ca-ES"/>
              <a:t>Objectiu docent: contracte estable, infraestructura substituïble.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1234440"/>
            <a:ext cx="9875520" cy="82296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l"/>
            <a:r>
              <a:rPr sz="3200" b="1">
                <a:solidFill>
                  <a:srgbClr val="192D3E"/>
                </a:solidFill>
                <a:latin typeface="Arial"/>
              </a:rPr>
              <a:t>Disseny de ports de sortida en arquitectura hexagonal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41517"/>
            <a:ext cx="932688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es-ES" sz="2100" dirty="0">
                <a:solidFill>
                  <a:srgbClr val="236092"/>
                </a:solidFill>
                <a:latin typeface="Arial"/>
              </a:rPr>
              <a:t>Desacoblament entre casos d'ús, domini i serveis externs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788920"/>
            <a:ext cx="960120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800" b="0" dirty="0">
                <a:solidFill>
                  <a:srgbClr val="262626"/>
                </a:solidFill>
                <a:latin typeface="Arial"/>
              </a:rPr>
              <a:t>Una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classe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de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Disseny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de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Sistemes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d'Informació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a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partir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d'un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cas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real de </a:t>
            </a:r>
            <a:r>
              <a:rPr lang="es-ES" dirty="0">
                <a:solidFill>
                  <a:srgbClr val="262626"/>
                </a:solidFill>
                <a:latin typeface="Arial"/>
              </a:rPr>
              <a:t>la Generalitat de Catalunya</a:t>
            </a:r>
          </a:p>
          <a:p>
            <a:pPr algn="l"/>
            <a:endParaRPr sz="1800" b="0" dirty="0">
              <a:solidFill>
                <a:srgbClr val="262626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4663440"/>
            <a:ext cx="6858000" cy="777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0">
                <a:solidFill>
                  <a:srgbClr val="66707A"/>
                </a:solidFill>
                <a:latin typeface="Arial"/>
              </a:rPr>
              <a:t>Alfredo Rueda Unsain
Defensa de plaça de professorat permanent
TecnoCampus · classe magistral reduïda, 20 minuts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On som dins l'assignatura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66707A"/>
                </a:solidFill>
                <a:latin typeface="Arial"/>
              </a:rPr>
              <a:t>Disseny de Sistemes d'Informació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508760"/>
            <a:ext cx="3749039" cy="91440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2800" b="1">
                <a:solidFill>
                  <a:srgbClr val="192D3E"/>
                </a:solidFill>
                <a:latin typeface="Arial"/>
              </a:rPr>
              <a:t>Disseny de Sistemes d'Informació
3r curs · 6 ECTS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00600" y="1508760"/>
            <a:ext cx="45720" cy="3200400"/>
          </a:xfrm>
          <a:prstGeom prst="roundRect">
            <a:avLst/>
          </a:prstGeom>
          <a:solidFill>
            <a:srgbClr val="236092"/>
          </a:solidFill>
          <a:ln w="9525">
            <a:solidFill>
              <a:srgbClr val="2360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166360" y="1508760"/>
            <a:ext cx="5394960" cy="10515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3000" b="1" dirty="0">
                <a:solidFill>
                  <a:srgbClr val="192D3E"/>
                </a:solidFill>
                <a:latin typeface="Arial"/>
              </a:rPr>
              <a:t>Ports de </a:t>
            </a:r>
            <a:r>
              <a:rPr sz="3000" b="1" dirty="0" err="1">
                <a:solidFill>
                  <a:srgbClr val="192D3E"/>
                </a:solidFill>
                <a:latin typeface="Arial"/>
              </a:rPr>
              <a:t>sortida</a:t>
            </a:r>
            <a:r>
              <a:rPr sz="3000" b="1" dirty="0">
                <a:solidFill>
                  <a:srgbClr val="192D3E"/>
                </a:solidFill>
                <a:latin typeface="Arial"/>
              </a:rPr>
              <a:t>
</a:t>
            </a:r>
            <a:r>
              <a:rPr sz="3000" b="1" dirty="0" err="1">
                <a:solidFill>
                  <a:srgbClr val="192D3E"/>
                </a:solidFill>
                <a:latin typeface="Arial"/>
              </a:rPr>
              <a:t>en</a:t>
            </a:r>
            <a:r>
              <a:rPr sz="30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3000" b="1" dirty="0">
                <a:solidFill>
                  <a:srgbClr val="192D3E"/>
                </a:solidFill>
                <a:latin typeface="Arial"/>
              </a:rPr>
              <a:t>A</a:t>
            </a:r>
            <a:r>
              <a:rPr sz="3000" b="1" dirty="0" err="1">
                <a:solidFill>
                  <a:srgbClr val="192D3E"/>
                </a:solidFill>
                <a:latin typeface="Arial"/>
              </a:rPr>
              <a:t>rquitectura</a:t>
            </a:r>
            <a:r>
              <a:rPr sz="30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3000" b="1" dirty="0">
                <a:solidFill>
                  <a:srgbClr val="192D3E"/>
                </a:solidFill>
                <a:latin typeface="Arial"/>
              </a:rPr>
              <a:t>H</a:t>
            </a:r>
            <a:r>
              <a:rPr sz="3000" b="1" dirty="0" err="1">
                <a:solidFill>
                  <a:srgbClr val="192D3E"/>
                </a:solidFill>
                <a:latin typeface="Arial"/>
              </a:rPr>
              <a:t>exagonal</a:t>
            </a:r>
            <a:endParaRPr sz="30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394960" y="2971800"/>
            <a:ext cx="4983480" cy="1143000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2200" b="0" dirty="0">
                <a:solidFill>
                  <a:srgbClr val="262626"/>
                </a:solidFill>
                <a:latin typeface="Arial"/>
              </a:rPr>
              <a:t>
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La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sessió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se centra en el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disseny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de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ports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de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sortida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com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a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mecanisme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per separar les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necessitats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del cas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d’ús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dels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detalls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tècnics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de les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integracions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externes.</a:t>
            </a:r>
            <a:endParaRPr sz="2200" b="0" dirty="0">
              <a:solidFill>
                <a:srgbClr val="262626"/>
              </a:solidFill>
              <a:latin typeface="Arial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60120" y="5669280"/>
            <a:ext cx="98755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300" b="0">
                <a:solidFill>
                  <a:srgbClr val="66707A"/>
                </a:solidFill>
                <a:latin typeface="Arial"/>
              </a:rPr>
              <a:t>Pla docent 103322: Clean Architecture i arquitectura hexagonal, ports i adaptadors, mapping, modularització i Domain-Driven Design.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787A17-E989-2125-8BF4-9FD64C66B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113BE6D-4BF0-DC81-2CE8-23039C4C9D58}"/>
              </a:ext>
            </a:extLst>
          </p:cNvPr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 dirty="0" err="1">
                <a:solidFill>
                  <a:srgbClr val="192D3E"/>
                </a:solidFill>
                <a:latin typeface="Arial"/>
              </a:rPr>
              <a:t>Objectiu de la sessió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pic>
        <p:nvPicPr>
          <p:cNvPr id="3" name="Picture 2" descr="logotip-oficial-tecnocampus-upf-horitzontal-color.png">
            <a:extLst>
              <a:ext uri="{FF2B5EF4-FFF2-40B4-BE49-F238E27FC236}">
                <a16:creationId xmlns:a16="http://schemas.microsoft.com/office/drawing/2014/main" id="{6E5AEF9E-E38C-2981-74C2-DA381C8551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565CC16B-626E-E880-45E7-0DBECBCD6306}"/>
              </a:ext>
            </a:extLst>
          </p:cNvPr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442AE4-020C-7BAB-E612-2262DEB4097A}"/>
              </a:ext>
            </a:extLst>
          </p:cNvPr>
          <p:cNvSpPr txBox="1"/>
          <p:nvPr/>
        </p:nvSpPr>
        <p:spPr>
          <a:xfrm>
            <a:off x="960121" y="1417318"/>
            <a:ext cx="10062106" cy="201168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400" b="1" dirty="0">
                <a:solidFill>
                  <a:srgbClr val="192D3E"/>
                </a:solidFill>
                <a:latin typeface="Arial"/>
              </a:rPr>
              <a:t>Principi de treball: el cas d’ús necessita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una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capacitat</a:t>
            </a:r>
            <a:r>
              <a:rPr lang="es-ES" sz="2400" b="1" dirty="0">
                <a:solidFill>
                  <a:srgbClr val="192D3E"/>
                </a:solidFill>
                <a:latin typeface="Arial"/>
              </a:rPr>
              <a:t> funcional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, no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una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tecnologia</a:t>
            </a:r>
            <a:r>
              <a:rPr lang="es-ES" sz="2400" b="1" dirty="0">
                <a:solidFill>
                  <a:srgbClr val="192D3E"/>
                </a:solidFill>
                <a:latin typeface="Arial"/>
              </a:rPr>
              <a:t> específica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.</a:t>
            </a:r>
            <a:br>
              <a:rPr lang="es-ES" sz="2400" b="1" dirty="0">
                <a:solidFill>
                  <a:srgbClr val="192D3E"/>
                </a:solidFill>
                <a:latin typeface="Arial"/>
              </a:rPr>
            </a:br>
            <a:r>
              <a:rPr sz="2400" b="1" dirty="0">
                <a:solidFill>
                  <a:srgbClr val="192D3E"/>
                </a:solidFill>
                <a:latin typeface="Arial"/>
              </a:rPr>
              <a:t>
Ho explorarem a partir d’un cas real d’administració pública.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64EE3A6-5D0D-EFE6-3907-91BB6540F213}"/>
              </a:ext>
            </a:extLst>
          </p:cNvPr>
          <p:cNvSpPr/>
          <p:nvPr/>
        </p:nvSpPr>
        <p:spPr>
          <a:xfrm>
            <a:off x="813816" y="3786975"/>
            <a:ext cx="3246120" cy="1600200"/>
          </a:xfrm>
          <a:prstGeom prst="roundRect">
            <a:avLst/>
          </a:prstGeom>
          <a:solidFill>
            <a:srgbClr val="F8EAE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F1223D-ADAB-E817-C2A8-78FB596BC6F8}"/>
              </a:ext>
            </a:extLst>
          </p:cNvPr>
          <p:cNvSpPr txBox="1"/>
          <p:nvPr/>
        </p:nvSpPr>
        <p:spPr>
          <a:xfrm>
            <a:off x="1014983" y="4107015"/>
            <a:ext cx="2846123" cy="9771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400" b="1" dirty="0" err="1">
                <a:solidFill>
                  <a:srgbClr val="192D3E"/>
                </a:solidFill>
                <a:latin typeface="Arial"/>
              </a:rPr>
              <a:t>Identificar
necessitat</a:t>
            </a:r>
            <a:endParaRPr lang="es-ES" sz="2400" b="1" dirty="0">
              <a:solidFill>
                <a:srgbClr val="192D3E"/>
              </a:solidFill>
              <a:latin typeface="Arial"/>
            </a:endParaRPr>
          </a:p>
          <a:p>
            <a:pPr algn="ctr"/>
            <a:endParaRPr sz="24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460CDC97-EADA-2158-DAC3-FD27FD257839}"/>
              </a:ext>
            </a:extLst>
          </p:cNvPr>
          <p:cNvSpPr/>
          <p:nvPr/>
        </p:nvSpPr>
        <p:spPr>
          <a:xfrm>
            <a:off x="4544568" y="3786975"/>
            <a:ext cx="3246120" cy="1600200"/>
          </a:xfrm>
          <a:prstGeom prst="roundRect">
            <a:avLst/>
          </a:prstGeom>
          <a:solidFill>
            <a:srgbClr val="FFF3D6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7DA438C-C49C-5E46-6F61-14F3896E8657}"/>
              </a:ext>
            </a:extLst>
          </p:cNvPr>
          <p:cNvSpPr txBox="1"/>
          <p:nvPr/>
        </p:nvSpPr>
        <p:spPr>
          <a:xfrm>
            <a:off x="4745736" y="4107015"/>
            <a:ext cx="2834640" cy="77724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sz="2400" b="1" dirty="0" err="1">
                <a:solidFill>
                  <a:srgbClr val="192D3E"/>
                </a:solidFill>
                <a:latin typeface="Arial"/>
              </a:rPr>
              <a:t>Definir
port de sortida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54F82A2A-9916-E9F8-2F4C-A47E7CF470BE}"/>
              </a:ext>
            </a:extLst>
          </p:cNvPr>
          <p:cNvSpPr/>
          <p:nvPr/>
        </p:nvSpPr>
        <p:spPr>
          <a:xfrm>
            <a:off x="8275320" y="3786975"/>
            <a:ext cx="3246120" cy="1600200"/>
          </a:xfrm>
          <a:prstGeom prst="roundRect">
            <a:avLst/>
          </a:prstGeom>
          <a:solidFill>
            <a:srgbClr val="EBF6F0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6C32489-28BB-E0B4-6D88-054802179775}"/>
              </a:ext>
            </a:extLst>
          </p:cNvPr>
          <p:cNvSpPr txBox="1"/>
          <p:nvPr/>
        </p:nvSpPr>
        <p:spPr>
          <a:xfrm>
            <a:off x="8476488" y="4107015"/>
            <a:ext cx="2834640" cy="77724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lang="es-ES" sz="2400" b="1" dirty="0">
                <a:solidFill>
                  <a:srgbClr val="192D3E"/>
                </a:solidFill>
                <a:latin typeface="Arial"/>
              </a:rPr>
              <a:t>Implementar
adaptador(s)</a:t>
            </a:r>
            <a:endParaRPr sz="24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298AC41-2EA2-3BF1-14F5-5DF9647D4D84}"/>
              </a:ext>
            </a:extLst>
          </p:cNvPr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8D08D29-A0AD-1C10-91EF-4939D83B6478}"/>
              </a:ext>
            </a:extLst>
          </p:cNvPr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0265071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Avaluació econòmica d'una beca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 dirty="0" err="1">
                <a:solidFill>
                  <a:srgbClr val="66707A"/>
                </a:solidFill>
                <a:latin typeface="Arial"/>
              </a:rPr>
              <a:t>Abans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de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parlar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d'arquitectura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de software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,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cal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entendre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el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procediment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administratiu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. </a:t>
            </a:r>
            <a:endParaRPr sz="1300" b="0" dirty="0">
              <a:solidFill>
                <a:srgbClr val="66707A"/>
              </a:solidFill>
              <a:latin typeface="Arial"/>
            </a:endParaRP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agaur-functional-scholarshi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5147" y="1234440"/>
            <a:ext cx="3950745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01000" y="1691640"/>
            <a:ext cx="3063240" cy="123444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ctr"/>
            <a:r>
              <a:rPr sz="1800" b="1" dirty="0" err="1">
                <a:solidFill>
                  <a:srgbClr val="192D3E"/>
                </a:solidFill>
                <a:latin typeface="Arial"/>
              </a:rPr>
              <a:t>Sol·licitud</a:t>
            </a:r>
            <a:r>
              <a:rPr sz="1800" b="1" dirty="0">
                <a:solidFill>
                  <a:srgbClr val="192D3E"/>
                </a:solidFill>
                <a:latin typeface="Arial"/>
              </a:rPr>
              <a:t> → Expedient → 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Requisits</a:t>
            </a:r>
            <a:r>
              <a:rPr sz="1800" b="1" dirty="0">
                <a:solidFill>
                  <a:srgbClr val="192D3E"/>
                </a:solidFill>
                <a:latin typeface="Arial"/>
              </a:rPr>
              <a:t> generals
→ 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Requisits</a:t>
            </a:r>
            <a:r>
              <a:rPr sz="1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econòmics</a:t>
            </a:r>
            <a:r>
              <a:rPr sz="1800" b="1" dirty="0">
                <a:solidFill>
                  <a:srgbClr val="192D3E"/>
                </a:solidFill>
                <a:latin typeface="Arial"/>
              </a:rPr>
              <a:t> → 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Revisió</a:t>
            </a:r>
            <a:r>
              <a:rPr sz="1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acadèmica</a:t>
            </a:r>
            <a:r>
              <a:rPr sz="1800" b="1">
                <a:solidFill>
                  <a:srgbClr val="192D3E"/>
                </a:solidFill>
                <a:latin typeface="Arial"/>
              </a:rPr>
              <a:t>
→ 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Resolució</a:t>
            </a:r>
            <a:endParaRPr sz="1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7867561" y="3304599"/>
            <a:ext cx="3375837" cy="1579148"/>
          </a:xfrm>
          <a:prstGeom prst="roundRect">
            <a:avLst/>
          </a:prstGeom>
          <a:solidFill>
            <a:srgbClr val="F8EAE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599" y="3566160"/>
            <a:ext cx="2871981" cy="959186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Quan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no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s’acredita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el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compliment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dels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requisits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econòmics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,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l’expedient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no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obté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una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valoració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favorable en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aquesta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fase.</a:t>
            </a:r>
            <a:endParaRPr sz="20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001000" y="5166360"/>
            <a:ext cx="3063240" cy="292608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1000" b="0">
                <a:solidFill>
                  <a:srgbClr val="66707A"/>
                </a:solidFill>
                <a:latin typeface="Arial"/>
              </a:rPr>
              <a:t>Fonts públiques: AGAUR requisits econòmics i BOE 2025-2026.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fontScale="92500"/>
          </a:bodyPr>
          <a:lstStyle/>
          <a:p>
            <a:pPr algn="l"/>
            <a:r>
              <a:rPr lang="ca-ES" sz="2800" b="1" noProof="1">
                <a:solidFill>
                  <a:srgbClr val="192D3E"/>
                </a:solidFill>
                <a:latin typeface="Arial"/>
              </a:rPr>
              <a:t>Quina informació externa necessita el procediment?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ca-ES" sz="1300" b="0" noProof="1">
                <a:solidFill>
                  <a:srgbClr val="66707A"/>
                </a:solidFill>
                <a:latin typeface="Arial"/>
              </a:rPr>
              <a:t>Renda, patrimoni i informació cadastral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86248" y="293026"/>
            <a:ext cx="2435192" cy="46092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 noProof="1"/>
          </a:p>
        </p:txBody>
      </p:sp>
      <p:pic>
        <p:nvPicPr>
          <p:cNvPr id="6" name="Picture 5" descr="agaur-data-interoperabil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0482" y="1234440"/>
            <a:ext cx="3400073" cy="47091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850000" y="5180000"/>
            <a:ext cx="3370000" cy="52000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ctr"/>
            <a:r>
              <a:rPr lang="ca-ES" sz="1370" b="1" noProof="1">
                <a:solidFill>
                  <a:srgbClr val="192D3E"/>
                </a:solidFill>
                <a:latin typeface="Arial"/>
              </a:rPr>
              <a:t>El procediment necessita informació administrativa,
no una API concreta.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" y="6020000"/>
            <a:ext cx="10492740" cy="42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ca-ES" sz="1000" b="0" noProof="1">
                <a:solidFill>
                  <a:srgbClr val="66707A"/>
                </a:solidFill>
                <a:latin typeface="Arial"/>
              </a:rPr>
              <a:t>PICA = Plataforma d’Integració i Col·laboració Administrativa. En aquesta sessió es tracta com a canal corporatiu d’interoperabilitat, no com a font administrativa original del mateix tipus que AEAT o Cadastre.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lang="ca-ES" sz="800" b="0" noProof="1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lang="ca-ES" sz="800" b="0" noProof="1">
                <a:solidFill>
                  <a:srgbClr val="66707A"/>
                </a:solidFill>
                <a:latin typeface="Arial"/>
              </a:rPr>
              <a:t>5</a:t>
            </a:r>
          </a:p>
        </p:txBody>
      </p:sp>
      <p:sp>
        <p:nvSpPr>
          <p:cNvPr id="15" name="Grup necessitat"/>
          <p:cNvSpPr/>
          <p:nvPr/>
        </p:nvSpPr>
        <p:spPr>
          <a:xfrm>
            <a:off x="7850000" y="1375000"/>
            <a:ext cx="3370000" cy="1330000"/>
          </a:xfrm>
          <a:prstGeom prst="roundRect">
            <a:avLst/>
          </a:prstGeom>
          <a:solidFill>
            <a:srgbClr val="F4F9FD"/>
          </a:solidFill>
          <a:ln w="9525">
            <a:solidFill>
              <a:srgbClr val="D6DBE0"/>
            </a:solidFill>
          </a:ln>
        </p:spPr>
        <p:txBody>
          <a:bodyPr wrap="square" lIns="190000" tIns="120000" rIns="190000" bIns="100000"/>
          <a:lstStyle/>
          <a:p>
            <a:pPr algn="ctr">
              <a:spcAft>
                <a:spcPts val="650"/>
              </a:spcAft>
            </a:pPr>
            <a:r>
              <a:rPr lang="ca-ES" sz="1250" b="1" noProof="1">
                <a:solidFill>
                  <a:srgbClr val="236092"/>
                </a:solidFill>
                <a:latin typeface="Arial"/>
              </a:rPr>
              <a:t>NECESSITAT</a:t>
            </a:r>
          </a:p>
          <a:p>
            <a:pPr algn="l">
              <a:spcAft>
                <a:spcPts val="220"/>
              </a:spcAft>
            </a:pPr>
            <a:r>
              <a:rPr lang="ca-ES" sz="1420" noProof="1">
                <a:solidFill>
                  <a:srgbClr val="262626"/>
                </a:solidFill>
                <a:latin typeface="Arial"/>
              </a:rPr>
              <a:t>Renda familiar</a:t>
            </a:r>
          </a:p>
          <a:p>
            <a:pPr algn="l">
              <a:spcAft>
                <a:spcPts val="220"/>
              </a:spcAft>
            </a:pPr>
            <a:r>
              <a:rPr lang="ca-ES" sz="1420" noProof="1">
                <a:solidFill>
                  <a:srgbClr val="262626"/>
                </a:solidFill>
                <a:latin typeface="Arial"/>
              </a:rPr>
              <a:t>Patrimoni</a:t>
            </a:r>
          </a:p>
          <a:p>
            <a:pPr algn="l">
              <a:spcAft>
                <a:spcPts val="220"/>
              </a:spcAft>
            </a:pPr>
            <a:r>
              <a:rPr lang="ca-ES" sz="1420" noProof="1">
                <a:solidFill>
                  <a:srgbClr val="262626"/>
                </a:solidFill>
                <a:latin typeface="Arial"/>
              </a:rPr>
              <a:t>Béns immobles</a:t>
            </a:r>
          </a:p>
        </p:txBody>
      </p:sp>
      <p:sp>
        <p:nvSpPr>
          <p:cNvPr id="16" name="Grup fonts administratives"/>
          <p:cNvSpPr/>
          <p:nvPr/>
        </p:nvSpPr>
        <p:spPr>
          <a:xfrm>
            <a:off x="7850000" y="2860000"/>
            <a:ext cx="3370000" cy="1120000"/>
          </a:xfrm>
          <a:prstGeom prst="roundRect">
            <a:avLst/>
          </a:prstGeom>
          <a:solidFill>
            <a:srgbClr val="F8FBF6"/>
          </a:solidFill>
          <a:ln w="9525">
            <a:solidFill>
              <a:srgbClr val="D6DBE0"/>
            </a:solidFill>
          </a:ln>
        </p:spPr>
        <p:txBody>
          <a:bodyPr wrap="square" lIns="190000" tIns="120000" rIns="190000" bIns="100000"/>
          <a:lstStyle/>
          <a:p>
            <a:pPr algn="ctr">
              <a:spcAft>
                <a:spcPts val="650"/>
              </a:spcAft>
            </a:pPr>
            <a:r>
              <a:rPr lang="ca-ES" sz="1250" b="1" noProof="1">
                <a:solidFill>
                  <a:srgbClr val="236092"/>
                </a:solidFill>
                <a:latin typeface="Arial"/>
              </a:rPr>
              <a:t>FONTS ADMINISTRATIVES</a:t>
            </a:r>
          </a:p>
          <a:p>
            <a:pPr algn="l">
              <a:spcAft>
                <a:spcPts val="220"/>
              </a:spcAft>
            </a:pPr>
            <a:r>
              <a:rPr lang="ca-ES" sz="1420" noProof="1">
                <a:solidFill>
                  <a:srgbClr val="262626"/>
                </a:solidFill>
                <a:latin typeface="Arial"/>
              </a:rPr>
              <a:t>AEAT</a:t>
            </a:r>
          </a:p>
          <a:p>
            <a:pPr algn="l">
              <a:spcAft>
                <a:spcPts val="220"/>
              </a:spcAft>
            </a:pPr>
            <a:r>
              <a:rPr lang="ca-ES" sz="1420" noProof="1">
                <a:solidFill>
                  <a:srgbClr val="262626"/>
                </a:solidFill>
                <a:latin typeface="Arial"/>
              </a:rPr>
              <a:t>Cadastre</a:t>
            </a:r>
          </a:p>
        </p:txBody>
      </p:sp>
      <p:sp>
        <p:nvSpPr>
          <p:cNvPr id="17" name="Grup canal interoperabilitat"/>
          <p:cNvSpPr/>
          <p:nvPr/>
        </p:nvSpPr>
        <p:spPr>
          <a:xfrm>
            <a:off x="7850000" y="4130000"/>
            <a:ext cx="3370000" cy="780000"/>
          </a:xfrm>
          <a:prstGeom prst="roundRect">
            <a:avLst/>
          </a:prstGeom>
          <a:solidFill>
            <a:srgbClr val="FFF7E3"/>
          </a:solidFill>
          <a:ln w="9525">
            <a:solidFill>
              <a:srgbClr val="D6DBE0"/>
            </a:solidFill>
          </a:ln>
        </p:spPr>
        <p:txBody>
          <a:bodyPr wrap="square" lIns="190000" tIns="120000" rIns="190000" bIns="100000"/>
          <a:lstStyle/>
          <a:p>
            <a:pPr algn="ctr">
              <a:spcAft>
                <a:spcPts val="650"/>
              </a:spcAft>
            </a:pPr>
            <a:r>
              <a:rPr lang="ca-ES" sz="1250" b="1" noProof="1">
                <a:solidFill>
                  <a:srgbClr val="236092"/>
                </a:solidFill>
                <a:latin typeface="Arial"/>
              </a:rPr>
              <a:t>CANAL D’INTEROPERABILITAT</a:t>
            </a:r>
          </a:p>
          <a:p>
            <a:pPr algn="l">
              <a:spcAft>
                <a:spcPts val="220"/>
              </a:spcAft>
            </a:pPr>
            <a:r>
              <a:rPr lang="ca-ES" sz="1420" noProof="1">
                <a:solidFill>
                  <a:srgbClr val="262626"/>
                </a:solidFill>
                <a:latin typeface="Arial"/>
              </a:rPr>
              <a:t>PICA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fontScale="85000" lnSpcReduction="10000"/>
          </a:bodyPr>
          <a:lstStyle/>
          <a:p>
            <a:pPr algn="l"/>
            <a:r>
              <a:rPr sz="3100" b="1">
                <a:solidFill>
                  <a:srgbClr val="192D3E"/>
                </a:solidFill>
                <a:latin typeface="Arial"/>
              </a:rPr>
              <a:t>Dependència directa entre procediment i integració</a:t>
            </a:r>
            <a:endParaRPr lang="es-ES" sz="2800" b="1" dirty="0">
              <a:solidFill>
                <a:srgbClr val="192D3E"/>
              </a:solidFill>
              <a:latin typeface="Arial"/>
            </a:endParaRPr>
          </a:p>
        </p:txBody>
      </p:sp>
      <p:pic>
        <p:nvPicPr>
          <p:cNvPr id="3" name="Picture 2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08114" y="293025"/>
            <a:ext cx="2413325" cy="456783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1338855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20" y="2523966"/>
            <a:ext cx="10241280" cy="5669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900" b="1" dirty="0">
                <a:solidFill>
                  <a:srgbClr val="192D3E"/>
                </a:solidFill>
                <a:latin typeface="Arial"/>
              </a:rPr>
              <a:t>Escenari d'acoblament indesitjable:</a:t>
            </a:r>
          </a:p>
          <a:p>
            <a:pPr algn="ctr"/>
            <a:r>
              <a:rPr sz="2900" b="1" dirty="0">
                <a:solidFill>
                  <a:srgbClr val="192D3E"/>
                </a:solidFill>
                <a:latin typeface="Arial"/>
              </a:rPr>
              <a:t>Cas d'ús  →  SOAP/XML  →  PICA  →  AEAT / Cadastre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3519381"/>
            <a:ext cx="3063240" cy="1188720"/>
          </a:xfrm>
          <a:prstGeom prst="rect">
            <a:avLst/>
          </a:prstGeom>
          <a:solidFill>
            <a:srgbClr val="F8EAE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43000" y="3793701"/>
            <a:ext cx="2606040" cy="548640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700" b="1" dirty="0" err="1">
                <a:solidFill>
                  <a:srgbClr val="192D3E"/>
                </a:solidFill>
                <a:latin typeface="Arial"/>
              </a:rPr>
              <a:t>Acoblament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tecnològic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
El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procediment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1700" b="1" dirty="0" err="1">
                <a:solidFill>
                  <a:srgbClr val="192D3E"/>
                </a:solidFill>
                <a:latin typeface="Arial"/>
              </a:rPr>
              <a:t>administratiu</a:t>
            </a:r>
            <a:r>
              <a:rPr lang="es-ES"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depèn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de SOAP/PICA</a:t>
            </a:r>
            <a:endParaRPr sz="1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4526280" y="3519381"/>
            <a:ext cx="3063240" cy="1188720"/>
          </a:xfrm>
          <a:prstGeom prst="rect">
            <a:avLst/>
          </a:prstGeom>
          <a:solidFill>
            <a:srgbClr val="FFF3D6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754880" y="3793701"/>
            <a:ext cx="2656574" cy="653796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 algn="ctr"/>
            <a:r>
              <a:rPr sz="1700" b="1">
                <a:solidFill>
                  <a:srgbClr val="192D3E"/>
                </a:solidFill>
                <a:latin typeface="Arial"/>
              </a:rPr>
              <a:t>Impacte en el cas d’ús
L’evolució de la integració travessa la frontera</a:t>
            </a:r>
            <a:endParaRPr sz="1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8138160" y="3519381"/>
            <a:ext cx="3063240" cy="1188720"/>
          </a:xfrm>
          <a:prstGeom prst="rect">
            <a:avLst/>
          </a:prstGeom>
          <a:solidFill>
            <a:srgbClr val="E8F1F8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60080" y="3736551"/>
            <a:ext cx="2788920" cy="809244"/>
          </a:xfrm>
          <a:prstGeom prst="rect">
            <a:avLst/>
          </a:prstGeom>
          <a:noFill/>
        </p:spPr>
        <p:txBody>
          <a:bodyPr wrap="square">
            <a:normAutofit fontScale="85000" lnSpcReduction="10000"/>
          </a:bodyPr>
          <a:lstStyle/>
          <a:p>
            <a:pPr algn="ctr"/>
            <a:r>
              <a:rPr sz="1700" b="1" dirty="0" err="1">
                <a:solidFill>
                  <a:srgbClr val="192D3E"/>
                </a:solidFill>
                <a:latin typeface="Arial"/>
              </a:rPr>
              <a:t>Més superfície d'impacte
Manteniment més fràgil del servei</a:t>
            </a:r>
            <a:endParaRPr sz="1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14400" y="5267685"/>
            <a:ext cx="10241280" cy="50292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2500" b="1" dirty="0">
                <a:solidFill>
                  <a:srgbClr val="236092"/>
                </a:solidFill>
                <a:latin typeface="Arial"/>
              </a:rPr>
              <a:t>El problema no és consumir PICA; és que el procediment depengui directament dels detalls tècnics de la integració.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6</a:t>
            </a:r>
          </a:p>
        </p:txBody>
      </p:sp>
      <p:sp>
        <p:nvSpPr>
          <p:cNvPr id="15" name="CTTI diagnostic subtitle"/>
          <p:cNvSpPr txBox="1"/>
          <p:nvPr/>
        </p:nvSpPr>
        <p:spPr>
          <a:xfrm>
            <a:off x="829694" y="1736097"/>
            <a:ext cx="10532612" cy="7878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Els principis del CTTI orienten cap a sistemes desacoblats i serveis substituïbles; per això, si la lògica del procediment queda vinculada a crides SOAP/XML contra la integració, qualsevol evolució del mecanisme pot impactar directament la tramitació.</a:t>
            </a:r>
            <a:endParaRPr sz="1400" b="0" dirty="0">
              <a:solidFill>
                <a:srgbClr val="66707A"/>
              </a:solidFill>
              <a:latin typeface="Arial"/>
            </a:endParaRPr>
          </a:p>
        </p:txBody>
      </p:sp>
      <p:sp>
        <p:nvSpPr>
          <p:cNvPr id="16" name="PICA definition slide 7"/>
          <p:cNvSpPr txBox="1"/>
          <p:nvPr/>
        </p:nvSpPr>
        <p:spPr>
          <a:xfrm>
            <a:off x="1097280" y="5938174"/>
            <a:ext cx="10532612" cy="53577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es-ES" sz="1000" b="0" dirty="0">
                <a:solidFill>
                  <a:srgbClr val="66707A"/>
                </a:solidFill>
                <a:latin typeface="Arial"/>
              </a:rPr>
              <a:t>CTTI: Centre de Telecomunicacions i Tecnologies de la Informació de la Generalitat de Catalunya. És l’organisme de la Generalitat de Catalunya que presta serveis TIC corporatius i impulsa l’arquitectura i les solucions tecnològiques transversals de la Generalitat.</a:t>
            </a:r>
            <a:br>
              <a:rPr lang="es-ES" sz="1000" b="0" dirty="0">
                <a:solidFill>
                  <a:srgbClr val="66707A"/>
                </a:solidFill>
                <a:latin typeface="Arial"/>
              </a:rPr>
            </a:br>
            <a:endParaRPr sz="1000" b="0" dirty="0">
              <a:solidFill>
                <a:srgbClr val="66707A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Port de sortida i adaptador</a:t>
            </a:r>
          </a:p>
        </p:txBody>
      </p:sp>
      <p:pic>
        <p:nvPicPr>
          <p:cNvPr id="3" name="Picture 2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2514600" y="1417320"/>
            <a:ext cx="4480560" cy="566928"/>
          </a:xfrm>
          <a:prstGeom prst="roundRect">
            <a:avLst/>
          </a:prstGeom>
          <a:solidFill>
            <a:srgbClr val="E8F1F8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514600" y="1517904"/>
            <a:ext cx="4480560" cy="256032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pPr algn="ctr"/>
            <a:r>
              <a:rPr sz="2100" b="1">
                <a:solidFill>
                  <a:srgbClr val="192D3E"/>
                </a:solidFill>
                <a:latin typeface="Arial"/>
              </a:rPr>
              <a:t>Flux d'execució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97880" y="1984248"/>
            <a:ext cx="274320" cy="292608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2514600" y="2377440"/>
            <a:ext cx="4480560" cy="566928"/>
          </a:xfrm>
          <a:prstGeom prst="roundRect">
            <a:avLst/>
          </a:prstGeom>
          <a:solidFill>
            <a:srgbClr val="FFF3D6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514600" y="2478024"/>
            <a:ext cx="4480560" cy="256032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pPr algn="ctr"/>
            <a:r>
              <a:rPr sz="2100" b="1">
                <a:solidFill>
                  <a:srgbClr val="192D3E"/>
                </a:solidFill>
                <a:latin typeface="Arial"/>
              </a:rPr>
              <a:t>Cas d'ús → Port → Adaptador → Sistema extern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80" y="2944368"/>
            <a:ext cx="274320" cy="292608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514600" y="3337560"/>
            <a:ext cx="4480560" cy="566928"/>
          </a:xfrm>
          <a:prstGeom prst="roundRect">
            <a:avLst/>
          </a:prstGeom>
          <a:solidFill>
            <a:srgbClr val="EBF6F0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514600" y="3438144"/>
            <a:ext cx="4480560" cy="256032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pPr algn="ctr"/>
            <a:r>
              <a:rPr sz="2100" b="1">
                <a:solidFill>
                  <a:srgbClr val="192D3E"/>
                </a:solidFill>
                <a:latin typeface="Arial"/>
              </a:rPr>
              <a:t>Dependència de codi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7880" y="3904488"/>
            <a:ext cx="274320" cy="292608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2514600" y="4297680"/>
            <a:ext cx="4480560" cy="566928"/>
          </a:xfrm>
          <a:prstGeom prst="roundRect">
            <a:avLst/>
          </a:prstGeom>
          <a:solidFill>
            <a:srgbClr val="F7F8F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514600" y="4398264"/>
            <a:ext cx="4480560" cy="256032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pPr algn="ctr"/>
            <a:r>
              <a:rPr sz="2100" b="1">
                <a:solidFill>
                  <a:srgbClr val="192D3E"/>
                </a:solidFill>
                <a:latin typeface="Arial"/>
              </a:rPr>
              <a:t>Cas d'ús → Port de sortida ← Adaptador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543800" y="1600200"/>
            <a:ext cx="3200400" cy="3200400"/>
          </a:xfrm>
          <a:prstGeom prst="roundRect">
            <a:avLst>
              <a:gd name="adj" fmla="val 5000"/>
            </a:avLst>
          </a:prstGeom>
          <a:solidFill>
            <a:srgbClr val="F4F8FB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bIns="182880" rtlCol="0" anchor="ctr"/>
          <a:lstStyle/>
          <a:p>
            <a:pPr algn="ctr"/>
            <a:r>
              <a:rPr sz="1650" b="1">
                <a:solidFill>
                  <a:srgbClr val="192D3E"/>
                </a:solidFill>
                <a:latin typeface="Arial"/>
              </a:rPr>
              <a:t>Concreció en Java</a:t>
            </a:r>
          </a:p>
          <a:p>
            <a:pPr algn="ctr"/>
            <a:r>
              <a:rPr sz="1650" b="1">
                <a:solidFill>
                  <a:srgbClr val="192D3E"/>
                </a:solidFill>
                <a:latin typeface="Arial"/>
              </a:rPr>
              <a:t>Port de sortida</a:t>
            </a:r>
          </a:p>
          <a:p>
            <a:pPr algn="ctr"/>
            <a:r>
              <a:rPr sz="1650" b="1">
                <a:solidFill>
                  <a:srgbClr val="192D3E"/>
                </a:solidFill>
                <a:latin typeface="Arial"/>
              </a:rPr>
              <a:t>contracte de l’aplicació</a:t>
            </a:r>
          </a:p>
          <a:p>
            <a:pPr algn="ctr"/>
            <a:r>
              <a:rPr sz="1650" b="1">
                <a:solidFill>
                  <a:srgbClr val="192D3E"/>
                </a:solidFill>
                <a:latin typeface="Arial"/>
              </a:rPr>
              <a:t>Adaptador</a:t>
            </a:r>
          </a:p>
          <a:p>
            <a:pPr algn="ctr"/>
            <a:r>
              <a:rPr sz="1650" b="1">
                <a:solidFill>
                  <a:srgbClr val="192D3E"/>
                </a:solidFill>
                <a:latin typeface="Arial"/>
              </a:rPr>
              <a:t>classe que implementa aquesta interfície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349240"/>
            <a:ext cx="4754880" cy="347472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2300" b="1" dirty="0">
                <a:solidFill>
                  <a:srgbClr val="192D3E"/>
                </a:solidFill>
                <a:latin typeface="Arial"/>
              </a:rPr>
              <a:t>El port defineix què necessita el cas d’ús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5349240"/>
            <a:ext cx="5166360" cy="566928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2300" b="1" dirty="0" err="1">
                <a:solidFill>
                  <a:srgbClr val="192D3E"/>
                </a:solidFill>
                <a:latin typeface="Arial"/>
              </a:rPr>
              <a:t>Conceptualment és un contracte; en Java el representem amb una interfície</a:t>
            </a:r>
            <a:endParaRPr sz="23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lang="es-ES" sz="2800" b="1" dirty="0">
                <a:solidFill>
                  <a:srgbClr val="192D3E"/>
                </a:solidFill>
                <a:latin typeface="Arial"/>
              </a:rPr>
              <a:t>Port de </a:t>
            </a:r>
            <a:r>
              <a:rPr lang="es-ES" sz="2800" b="1" dirty="0" err="1">
                <a:solidFill>
                  <a:srgbClr val="192D3E"/>
                </a:solidFill>
                <a:latin typeface="Arial"/>
              </a:rPr>
              <a:t>sortida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 per a </a:t>
            </a:r>
            <a:r>
              <a:rPr lang="es-ES" sz="2800" b="1" dirty="0" err="1">
                <a:solidFill>
                  <a:srgbClr val="192D3E"/>
                </a:solidFill>
                <a:latin typeface="Arial"/>
              </a:rPr>
              <a:t>informació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 patrimonial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es-ES" sz="1300" b="0" dirty="0">
                <a:solidFill>
                  <a:srgbClr val="66707A"/>
                </a:solidFill>
                <a:latin typeface="Arial"/>
              </a:rPr>
              <a:t>El cas d’ús depèn d’un contracte de l’aplicació, no dels detalls de PICA, SOAP/XML o API REST.</a:t>
            </a:r>
            <a:endParaRPr sz="1300" b="0" dirty="0">
              <a:solidFill>
                <a:srgbClr val="66707A"/>
              </a:solidFill>
              <a:latin typeface="Arial"/>
            </a:endParaRP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04993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8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74450190-3EBE-2ED3-C573-816824D867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197888"/>
            <a:ext cx="11229045" cy="523489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 dirty="0" err="1">
                <a:solidFill>
                  <a:srgbClr val="192D3E"/>
                </a:solidFill>
                <a:latin typeface="Arial"/>
              </a:rPr>
              <a:t>Transferència al domini financer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es-ES" sz="1400" dirty="0">
                <a:solidFill>
                  <a:srgbClr val="192D3E"/>
                </a:solidFill>
                <a:latin typeface="Arial"/>
              </a:rPr>
              <a:t>El cas d'ús 'Venda d'accions borsàries' necessita el preu actual, independentment del proveïdor de dades i de l’API concreta.</a:t>
            </a:r>
            <a:endParaRPr sz="1300" dirty="0">
              <a:solidFill>
                <a:srgbClr val="66707A"/>
              </a:solidFill>
              <a:latin typeface="Arial"/>
            </a:endParaRP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9</a:t>
            </a:r>
          </a:p>
        </p:txBody>
      </p:sp>
      <p:sp>
        <p:nvSpPr>
          <p:cNvPr id="14" name="Slide 10 port note"/>
          <p:cNvSpPr txBox="1"/>
          <p:nvPr/>
        </p:nvSpPr>
        <p:spPr>
          <a:xfrm>
            <a:off x="4274820" y="6523074"/>
            <a:ext cx="10561320" cy="201168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ctr"/>
            <a:r>
              <a:rPr sz="900" b="0" dirty="0">
                <a:solidFill>
                  <a:srgbClr val="66707A"/>
                </a:solidFill>
                <a:latin typeface="Arial"/>
              </a:rPr>
              <a:t>Port: </a:t>
            </a:r>
            <a:r>
              <a:rPr sz="900" b="0" dirty="0" err="1">
                <a:solidFill>
                  <a:srgbClr val="66707A"/>
                </a:solidFill>
                <a:latin typeface="Arial"/>
              </a:rPr>
              <a:t>StockPriceProviderPort</a:t>
            </a:r>
            <a:r>
              <a:rPr sz="900" b="0" dirty="0">
                <a:solidFill>
                  <a:srgbClr val="66707A"/>
                </a:solidFill>
                <a:latin typeface="Arial"/>
              </a:rPr>
              <a:t> · </a:t>
            </a:r>
            <a:r>
              <a:rPr sz="900" b="0" dirty="0" err="1">
                <a:solidFill>
                  <a:srgbClr val="66707A"/>
                </a:solidFill>
                <a:latin typeface="Arial"/>
              </a:rPr>
              <a:t>Adaptadors</a:t>
            </a:r>
            <a:r>
              <a:rPr sz="900" b="0" dirty="0">
                <a:solidFill>
                  <a:srgbClr val="66707A"/>
                </a:solidFill>
                <a:latin typeface="Arial"/>
              </a:rPr>
              <a:t>: </a:t>
            </a:r>
            <a:r>
              <a:rPr sz="900" b="0" dirty="0" err="1">
                <a:solidFill>
                  <a:srgbClr val="66707A"/>
                </a:solidFill>
                <a:latin typeface="Arial"/>
              </a:rPr>
              <a:t>Finnhub</a:t>
            </a:r>
            <a:r>
              <a:rPr sz="900" b="0" dirty="0">
                <a:solidFill>
                  <a:srgbClr val="66707A"/>
                </a:solidFill>
                <a:latin typeface="Arial"/>
              </a:rPr>
              <a:t>, Alpha Vantage, mock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A6EDC6F8-5757-04F1-70A5-BEE4AFAFA3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128" y="1101320"/>
            <a:ext cx="10757264" cy="534807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 dirty="0">
                <a:solidFill>
                  <a:srgbClr val="192D3E"/>
                </a:solidFill>
                <a:latin typeface="Arial"/>
              </a:rPr>
              <a:t>Flux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i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codi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essencial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 dirty="0">
                <a:solidFill>
                  <a:srgbClr val="66707A"/>
                </a:solidFill>
                <a:latin typeface="Arial"/>
              </a:rPr>
              <a:t>En aquesta implementació: el servei coordina, el domini decideix i l'adaptador integra amb infraestructura tecnològica.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10</a:t>
            </a:r>
          </a:p>
        </p:txBody>
      </p:sp>
      <p:pic>
        <p:nvPicPr>
          <p:cNvPr id="12" name="Sell stock sequence simplified" descr="sell-stock-seque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328" y="1371599"/>
            <a:ext cx="11191832" cy="469662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Agraïment</a:t>
            </a:r>
          </a:p>
        </p:txBody>
      </p:sp>
      <p:pic>
        <p:nvPicPr>
          <p:cNvPr id="3" name="Picture 2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78973" y="1874094"/>
            <a:ext cx="9834053" cy="178052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Vull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expressar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el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meu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agraïment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al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TecnoCampus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per un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entorn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que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m'encoratja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a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créixer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,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tant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en la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docència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com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en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l'àmbit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acadèmic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, al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costat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d'un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equip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del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qual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aprenc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i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amb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qui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comparteixo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coneixement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,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responsabilitat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i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compromís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amb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la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formació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universitària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. </a:t>
            </a:r>
            <a:br>
              <a:rPr lang="es-ES" sz="2400" b="0" dirty="0">
                <a:solidFill>
                  <a:srgbClr val="192D3E"/>
                </a:solidFill>
                <a:latin typeface="Arial"/>
              </a:rPr>
            </a:br>
            <a:endParaRPr lang="es-ES" sz="2400" b="0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885683" y="4295446"/>
            <a:ext cx="8595360" cy="1217428"/>
          </a:xfrm>
          <a:prstGeom prst="roundRect">
            <a:avLst/>
          </a:prstGeom>
          <a:solidFill>
            <a:srgbClr val="F7F8F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046235" y="4399432"/>
            <a:ext cx="8099528" cy="86868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600" b="0" dirty="0" err="1">
                <a:solidFill>
                  <a:srgbClr val="192D3E"/>
                </a:solidFill>
                <a:latin typeface="Arial"/>
              </a:rPr>
              <a:t>Agraïment al TecnoCampus i al Dr. Josep Roure pel treball compartit en arquitectura de software, docència i metodologies actives.</a:t>
            </a:r>
            <a:endParaRPr sz="1600" b="0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lang="es-ES" sz="800" b="0" dirty="0">
                <a:solidFill>
                  <a:srgbClr val="66707A"/>
                </a:solidFill>
                <a:latin typeface="Arial"/>
              </a:rPr>
              <a:t>11</a:t>
            </a:r>
          </a:p>
          <a:p>
            <a:pPr algn="r"/>
            <a:endParaRPr sz="800" b="0" dirty="0">
              <a:solidFill>
                <a:srgbClr val="66707A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lang="es-ES" sz="2800" b="1" dirty="0" err="1">
                <a:solidFill>
                  <a:srgbClr val="192D3E"/>
                </a:solidFill>
                <a:latin typeface="Arial"/>
              </a:rPr>
              <a:t>Annex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. Demo opcional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66707A"/>
                </a:solidFill>
                <a:latin typeface="Arial"/>
              </a:rPr>
              <a:t>Mateix cas d'ús, adaptador substituïble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325880"/>
            <a:ext cx="10287000" cy="502920"/>
          </a:xfrm>
          <a:prstGeom prst="rect">
            <a:avLst/>
          </a:prstGeom>
          <a:noFill/>
        </p:spPr>
        <p:txBody>
          <a:bodyPr wrap="square">
            <a:normAutofit fontScale="85000" lnSpcReduction="10000"/>
          </a:bodyPr>
          <a:lstStyle/>
          <a:p>
            <a:pPr algn="ctr"/>
            <a:r>
              <a:rPr sz="1800" b="0" dirty="0" err="1">
                <a:solidFill>
                  <a:srgbClr val="192D3E"/>
                </a:solidFill>
                <a:latin typeface="Arial"/>
              </a:rPr>
              <a:t>HexaStock és un projecte open source propi utilitzat en docència universitària i formació o consultoria professional.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240280"/>
            <a:ext cx="3246120" cy="960120"/>
          </a:xfrm>
          <a:prstGeom prst="roundRect">
            <a:avLst/>
          </a:prstGeom>
          <a:solidFill>
            <a:srgbClr val="E8F1F8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51560" y="2542032"/>
            <a:ext cx="2880360" cy="256032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900" b="1" dirty="0" err="1">
                <a:solidFill>
                  <a:srgbClr val="192D3E"/>
                </a:solidFill>
                <a:latin typeface="Arial"/>
              </a:rPr>
              <a:t>Mateix</a:t>
            </a:r>
            <a:r>
              <a:rPr sz="19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900" b="1" dirty="0" err="1">
                <a:solidFill>
                  <a:srgbClr val="192D3E"/>
                </a:solidFill>
                <a:latin typeface="Arial"/>
              </a:rPr>
              <a:t>cas</a:t>
            </a:r>
            <a:r>
              <a:rPr sz="19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900" b="1" dirty="0" err="1">
                <a:solidFill>
                  <a:srgbClr val="192D3E"/>
                </a:solidFill>
                <a:latin typeface="Arial"/>
              </a:rPr>
              <a:t>d'ús</a:t>
            </a:r>
            <a:endParaRPr sz="19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572000" y="2240280"/>
            <a:ext cx="3246120" cy="960120"/>
          </a:xfrm>
          <a:prstGeom prst="roundRect">
            <a:avLst/>
          </a:prstGeom>
          <a:solidFill>
            <a:srgbClr val="FFF3D6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754880" y="2542032"/>
            <a:ext cx="2880360" cy="256032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900" b="1" dirty="0" err="1">
                <a:solidFill>
                  <a:srgbClr val="192D3E"/>
                </a:solidFill>
                <a:latin typeface="Arial"/>
              </a:rPr>
              <a:t>Mateix</a:t>
            </a:r>
            <a:r>
              <a:rPr sz="19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1900" b="1" dirty="0">
                <a:solidFill>
                  <a:srgbClr val="192D3E"/>
                </a:solidFill>
                <a:latin typeface="Arial"/>
              </a:rPr>
              <a:t>S</a:t>
            </a:r>
            <a:r>
              <a:rPr sz="1900" b="1" dirty="0" err="1">
                <a:solidFill>
                  <a:srgbClr val="192D3E"/>
                </a:solidFill>
                <a:latin typeface="Arial"/>
              </a:rPr>
              <a:t>ervei</a:t>
            </a:r>
            <a:r>
              <a:rPr lang="es-ES" sz="19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1900" b="1" dirty="0" err="1">
                <a:solidFill>
                  <a:srgbClr val="192D3E"/>
                </a:solidFill>
                <a:latin typeface="Arial"/>
              </a:rPr>
              <a:t>d’Aplicació</a:t>
            </a:r>
            <a:endParaRPr lang="es-ES" sz="1900" b="1" dirty="0">
              <a:solidFill>
                <a:srgbClr val="192D3E"/>
              </a:solidFill>
              <a:latin typeface="Arial"/>
            </a:endParaRPr>
          </a:p>
          <a:p>
            <a:pPr algn="ctr"/>
            <a:endParaRPr sz="19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275319" y="2240280"/>
            <a:ext cx="3246120" cy="960120"/>
          </a:xfrm>
          <a:prstGeom prst="roundRect">
            <a:avLst/>
          </a:prstGeom>
          <a:solidFill>
            <a:srgbClr val="EBF6F0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58199" y="2542032"/>
            <a:ext cx="2880360" cy="256032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900" b="1" dirty="0" err="1">
                <a:solidFill>
                  <a:srgbClr val="192D3E"/>
                </a:solidFill>
                <a:latin typeface="Arial"/>
              </a:rPr>
              <a:t>Mateix</a:t>
            </a:r>
            <a:r>
              <a:rPr sz="1900" b="1" dirty="0">
                <a:solidFill>
                  <a:srgbClr val="192D3E"/>
                </a:solidFill>
                <a:latin typeface="Arial"/>
              </a:rPr>
              <a:t> domini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886200"/>
            <a:ext cx="10058400" cy="502920"/>
          </a:xfrm>
          <a:prstGeom prst="rect">
            <a:avLst/>
          </a:prstGeom>
          <a:noFill/>
        </p:spPr>
        <p:txBody>
          <a:bodyPr wrap="square">
            <a:normAutofit fontScale="92500"/>
          </a:bodyPr>
          <a:lstStyle/>
          <a:p>
            <a:pPr algn="ctr"/>
            <a:r>
              <a:rPr lang="es-ES" sz="2600" b="1" dirty="0" err="1">
                <a:solidFill>
                  <a:srgbClr val="236092"/>
                </a:solidFill>
                <a:latin typeface="Arial"/>
              </a:rPr>
              <a:t>Canvi</a:t>
            </a:r>
            <a:r>
              <a:rPr lang="es-ES" sz="2600" b="1" dirty="0">
                <a:solidFill>
                  <a:srgbClr val="236092"/>
                </a:solidFill>
                <a:latin typeface="Arial"/>
              </a:rPr>
              <a:t> </a:t>
            </a:r>
            <a:r>
              <a:rPr lang="es-ES" sz="2600" b="1" dirty="0" err="1">
                <a:solidFill>
                  <a:srgbClr val="236092"/>
                </a:solidFill>
                <a:latin typeface="Arial"/>
              </a:rPr>
              <a:t>tecnològic</a:t>
            </a:r>
            <a:r>
              <a:rPr lang="es-ES" sz="2600" b="1" dirty="0">
                <a:solidFill>
                  <a:srgbClr val="236092"/>
                </a:solidFill>
                <a:latin typeface="Arial"/>
              </a:rPr>
              <a:t>: adaptador </a:t>
            </a:r>
            <a:r>
              <a:rPr lang="es-ES" sz="2600" b="1" dirty="0" err="1">
                <a:solidFill>
                  <a:srgbClr val="236092"/>
                </a:solidFill>
                <a:latin typeface="Arial"/>
              </a:rPr>
              <a:t>Finnhub</a:t>
            </a:r>
            <a:r>
              <a:rPr lang="es-ES" sz="2600" b="1" dirty="0">
                <a:solidFill>
                  <a:srgbClr val="236092"/>
                </a:solidFill>
                <a:latin typeface="Arial"/>
              </a:rPr>
              <a:t> ↔ adaptador Alpha </a:t>
            </a:r>
            <a:r>
              <a:rPr lang="es-ES" sz="2600" b="1" dirty="0" err="1">
                <a:solidFill>
                  <a:srgbClr val="236092"/>
                </a:solidFill>
                <a:latin typeface="Arial"/>
              </a:rPr>
              <a:t>Vantage</a:t>
            </a:r>
            <a:endParaRPr sz="2600" b="1" dirty="0">
              <a:solidFill>
                <a:srgbClr val="236092"/>
              </a:solidFill>
              <a:latin typeface="Arial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51560" y="5074920"/>
            <a:ext cx="100584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400" b="1" dirty="0" err="1">
                <a:solidFill>
                  <a:srgbClr val="192D3E"/>
                </a:solidFill>
                <a:latin typeface="Arial"/>
              </a:rPr>
              <a:t>Canvia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la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infraestructura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;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el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cas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d'ús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1" dirty="0">
                <a:solidFill>
                  <a:srgbClr val="192D3E"/>
                </a:solidFill>
                <a:latin typeface="Arial"/>
              </a:rPr>
              <a:t>i el </a:t>
            </a:r>
            <a:r>
              <a:rPr lang="es-ES" sz="2400" b="1" dirty="0" err="1">
                <a:solidFill>
                  <a:srgbClr val="192D3E"/>
                </a:solidFill>
                <a:latin typeface="Arial"/>
              </a:rPr>
              <a:t>domini</a:t>
            </a:r>
            <a:r>
              <a:rPr lang="es-ES"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roman</a:t>
            </a:r>
            <a:r>
              <a:rPr lang="es-ES" sz="2400" b="1" dirty="0">
                <a:solidFill>
                  <a:srgbClr val="192D3E"/>
                </a:solidFill>
                <a:latin typeface="Arial"/>
              </a:rPr>
              <a:t>en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estable</a:t>
            </a:r>
            <a:r>
              <a:rPr lang="es-ES" sz="2400" b="1" dirty="0">
                <a:solidFill>
                  <a:srgbClr val="192D3E"/>
                </a:solidFill>
                <a:latin typeface="Arial"/>
              </a:rPr>
              <a:t>s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lang="es-ES" sz="800" b="0" dirty="0">
                <a:solidFill>
                  <a:srgbClr val="66707A"/>
                </a:solidFill>
                <a:latin typeface="Arial"/>
              </a:rPr>
              <a:t>12</a:t>
            </a:r>
          </a:p>
          <a:p>
            <a:pPr algn="r"/>
            <a:endParaRPr sz="800" b="0" dirty="0">
              <a:solidFill>
                <a:srgbClr val="66707A"/>
              </a:solidFill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1742</TotalTime>
  <Words>1544</Words>
  <Application>Microsoft Macintosh PowerPoint</Application>
  <PresentationFormat>Panorámica</PresentationFormat>
  <Paragraphs>161</Paragraphs>
  <Slides>12</Slides>
  <Notes>12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6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Alfredo Rueda Unsain</cp:lastModifiedBy>
  <cp:revision>42</cp:revision>
  <cp:lastPrinted>2026-07-01T20:23:23Z</cp:lastPrinted>
  <dcterms:created xsi:type="dcterms:W3CDTF">2013-01-27T09:14:16Z</dcterms:created>
  <dcterms:modified xsi:type="dcterms:W3CDTF">2026-07-12T10:12:20Z</dcterms:modified>
  <cp:category/>
</cp:coreProperties>
</file>