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tip-oficial-tecnocampus-upf-horit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95996"/>
            <a:ext cx="2971800" cy="562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1234440"/>
            <a:ext cx="987552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192D3E"/>
                </a:solidFill>
                <a:latin typeface="Arial"/>
              </a:rPr>
              <a:t>Disseny de ports de sortida en arquitectura hexagonal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16685"/>
            <a:ext cx="93268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s-ES" sz="2100" dirty="0">
                <a:solidFill>
                  <a:srgbClr val="236092"/>
                </a:solidFill>
                <a:latin typeface="Arial"/>
              </a:rPr>
              <a:t>D</a:t>
            </a:r>
            <a:r>
              <a:rPr sz="2100" b="0" dirty="0" err="1">
                <a:solidFill>
                  <a:srgbClr val="236092"/>
                </a:solidFill>
                <a:latin typeface="Arial"/>
              </a:rPr>
              <a:t>esacoblament</a:t>
            </a:r>
            <a:r>
              <a:rPr sz="2100" b="0" dirty="0">
                <a:solidFill>
                  <a:srgbClr val="236092"/>
                </a:solidFill>
                <a:latin typeface="Arial"/>
              </a:rPr>
              <a:t> entre </a:t>
            </a:r>
            <a:r>
              <a:rPr sz="2100" b="0" dirty="0" err="1">
                <a:solidFill>
                  <a:srgbClr val="236092"/>
                </a:solidFill>
                <a:latin typeface="Arial"/>
              </a:rPr>
              <a:t>casos</a:t>
            </a:r>
            <a:r>
              <a:rPr sz="2100" b="0" dirty="0">
                <a:solidFill>
                  <a:srgbClr val="236092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236092"/>
                </a:solidFill>
                <a:latin typeface="Arial"/>
              </a:rPr>
              <a:t>d'ús</a:t>
            </a:r>
            <a:r>
              <a:rPr sz="2100" b="0" dirty="0">
                <a:solidFill>
                  <a:srgbClr val="236092"/>
                </a:solidFill>
                <a:latin typeface="Arial"/>
              </a:rPr>
              <a:t>, domini </a:t>
            </a:r>
            <a:r>
              <a:rPr sz="2100" b="0" dirty="0" err="1">
                <a:solidFill>
                  <a:srgbClr val="236092"/>
                </a:solidFill>
                <a:latin typeface="Arial"/>
              </a:rPr>
              <a:t>i</a:t>
            </a:r>
            <a:r>
              <a:rPr sz="2100" b="0" dirty="0">
                <a:solidFill>
                  <a:srgbClr val="236092"/>
                </a:solidFill>
                <a:latin typeface="Arial"/>
              </a:rPr>
              <a:t> APIs externes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88920"/>
            <a:ext cx="96012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62626"/>
                </a:solidFill>
                <a:latin typeface="Arial"/>
              </a:rPr>
              <a:t>Una microlliçó de Disseny de Sistemes d'Informació a partir d'un cas real de consultoria i del projecte HexaStock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663440"/>
            <a:ext cx="685800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66707A"/>
                </a:solidFill>
                <a:latin typeface="Arial"/>
              </a:rPr>
              <a:t>Alfredo Rueda Unsain
Defensa de plaça de professorat permanent
TecnoCampus · classe magistral reduïda, 20 minuts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85953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707A"/>
                </a:solidFill>
                <a:latin typeface="Arial"/>
              </a:rPr>
              <a:t>Disseny de Sistemes d'Informació · Ports de sortida en arquitectura hexagonal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707A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192D3E"/>
                </a:solidFill>
                <a:latin typeface="Arial"/>
              </a:rPr>
              <a:t>On som dins l'assignatura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88696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6707A"/>
                </a:solidFill>
                <a:latin typeface="Arial"/>
              </a:rPr>
              <a:t>Disseny de Sistemes d'Informació</a:t>
            </a:r>
          </a:p>
        </p:txBody>
      </p:sp>
      <p:pic>
        <p:nvPicPr>
          <p:cNvPr id="4" name="Picture 3" descr="logotip-oficial-tecnocampus-upf-horit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293025"/>
            <a:ext cx="1783079" cy="33749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1115568"/>
            <a:ext cx="10972800" cy="13716"/>
          </a:xfrm>
          <a:prstGeom prst="rect">
            <a:avLst/>
          </a:prstGeom>
          <a:solidFill>
            <a:srgbClr val="D6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1060704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92D3E"/>
                </a:solidFill>
                <a:latin typeface="Arial"/>
              </a:rPr>
              <a:t>Guia docent oficial 2025/26: assignatura 103322, tercer curs, segon trimestre, 6 ECTS. Professorat: Josep Roure Alcobé i Alfredo Rueda Unsain.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10607040" cy="6217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262626"/>
                </a:solidFill>
                <a:latin typeface="Arial"/>
              </a:rPr>
              <a:t>No explicarem tota l'arquitectura hexagonal. Ens centrarem en una decisió concreta: consumir APIs externes sense acoblar casos d'ús i domini a la infraestructura.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697480"/>
            <a:ext cx="9875520" cy="347472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0432" y="2747772"/>
            <a:ext cx="92354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Arial"/>
              </a:rPr>
              <a:t>1. Arquitectura per capes i limitacions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3154680"/>
            <a:ext cx="9875520" cy="347472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3204972"/>
            <a:ext cx="92354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Arial"/>
              </a:rPr>
              <a:t>2. Introducció a Clean / Hexagonal Architecture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611880"/>
            <a:ext cx="9875520" cy="347472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0432" y="3662172"/>
            <a:ext cx="92354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Arial"/>
              </a:rPr>
              <a:t>3. Ports i adaptadors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4069080"/>
            <a:ext cx="9875520" cy="347472"/>
          </a:xfrm>
          <a:prstGeom prst="roundRect">
            <a:avLst/>
          </a:prstGeom>
          <a:solidFill>
            <a:srgbClr val="E8F1F8"/>
          </a:solidFill>
          <a:ln w="9525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0432" y="4119372"/>
            <a:ext cx="92354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92D3E"/>
                </a:solidFill>
                <a:latin typeface="Arial"/>
              </a:rPr>
              <a:t>4. Ports de sortida per a integracions externes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526280"/>
            <a:ext cx="9875520" cy="347472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0432" y="4576572"/>
            <a:ext cx="92354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Arial"/>
              </a:rPr>
              <a:t>5. Testing, mocks i substitució d'infraestructura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4983480"/>
            <a:ext cx="9875520" cy="347472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70432" y="5033772"/>
            <a:ext cx="92354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Arial"/>
              </a:rPr>
              <a:t>6. Microserveis i DDD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715000"/>
            <a:ext cx="98755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66707A"/>
                </a:solidFill>
                <a:latin typeface="Arial"/>
              </a:rPr>
              <a:t>Blocs oficials del temari: clean/hexagonal, ports i adaptadors, mapping, mòduls, microserveis i DDD.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85953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707A"/>
                </a:solidFill>
                <a:latin typeface="Arial"/>
              </a:rPr>
              <a:t>Disseny de Sistemes d'Informació · Ports de sortida en arquitectura hexagonal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707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192D3E"/>
                </a:solidFill>
                <a:latin typeface="Arial"/>
              </a:rPr>
              <a:t>Objectiu d'aprenentatge</a:t>
            </a:r>
          </a:p>
        </p:txBody>
      </p:sp>
      <p:pic>
        <p:nvPicPr>
          <p:cNvPr id="3" name="Picture 2" descr="logotip-oficial-tecnocampus-upf-horit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293025"/>
            <a:ext cx="1783079" cy="33749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1115568"/>
            <a:ext cx="10972800" cy="13716"/>
          </a:xfrm>
          <a:prstGeom prst="rect">
            <a:avLst/>
          </a:prstGeom>
          <a:solidFill>
            <a:srgbClr val="D6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3327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0">
                <a:solidFill>
                  <a:srgbClr val="192D3E"/>
                </a:solidFill>
                <a:latin typeface="Arial"/>
              </a:rPr>
              <a:t>Dissenyar un port de sortida orientat al llenguatge de l'aplicació, implementar adaptadors intercanviables i justificar la reducció d'acoblament.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3246120" cy="1554480"/>
          </a:xfrm>
          <a:prstGeom prst="roundRect">
            <a:avLst/>
          </a:prstGeom>
          <a:solidFill>
            <a:srgbClr val="F8EAEA"/>
          </a:solidFill>
          <a:ln w="9525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999232"/>
            <a:ext cx="283464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192D3E"/>
                </a:solidFill>
                <a:latin typeface="Arial"/>
              </a:rPr>
              <a:t>Identificar el risc d'acoblament amb APIs externes.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53712" y="2743200"/>
            <a:ext cx="3246120" cy="1554480"/>
          </a:xfrm>
          <a:prstGeom prst="roundRect">
            <a:avLst/>
          </a:prstGeom>
          <a:solidFill>
            <a:srgbClr val="FFF3D6"/>
          </a:solidFill>
          <a:ln w="9525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2999232"/>
            <a:ext cx="283464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192D3E"/>
                </a:solidFill>
                <a:latin typeface="Arial"/>
              </a:rPr>
              <a:t>Definir el port en termes de capacitat requerida.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84464" y="2743200"/>
            <a:ext cx="3246120" cy="1554480"/>
          </a:xfrm>
          <a:prstGeom prst="roundRect">
            <a:avLst/>
          </a:prstGeom>
          <a:solidFill>
            <a:srgbClr val="EBF6F0"/>
          </a:solidFill>
          <a:ln w="9525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85632" y="2999232"/>
            <a:ext cx="283464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192D3E"/>
                </a:solidFill>
                <a:latin typeface="Arial"/>
              </a:rPr>
              <a:t>Substituir l'adaptador sense modificar domini ni cas d'ús.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85953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707A"/>
                </a:solidFill>
                <a:latin typeface="Arial"/>
              </a:rPr>
              <a:t>Disseny de Sistemes d'Informació · Ports de sortida en arquitectura hexagonal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707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192D3E"/>
                </a:solidFill>
                <a:latin typeface="Arial"/>
              </a:rPr>
              <a:t>Cas funcional: avaluació econòmica d'una beca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88696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6707A"/>
                </a:solidFill>
                <a:latin typeface="Arial"/>
              </a:rPr>
              <a:t>Abans de parlar d'arquitectura, cal entendre el procediment</a:t>
            </a:r>
          </a:p>
        </p:txBody>
      </p:sp>
      <p:pic>
        <p:nvPicPr>
          <p:cNvPr id="4" name="Picture 3" descr="logotip-oficial-tecnocampus-upf-horit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293025"/>
            <a:ext cx="1783079" cy="33749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1115568"/>
            <a:ext cx="10972800" cy="13716"/>
          </a:xfrm>
          <a:prstGeom prst="rect">
            <a:avLst/>
          </a:prstGeom>
          <a:solidFill>
            <a:srgbClr val="D6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gaur-functional-scholars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1537" y="1234440"/>
            <a:ext cx="3760806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09560" y="1508760"/>
            <a:ext cx="3246120" cy="1417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92D3E"/>
                </a:solidFill>
                <a:latin typeface="Arial"/>
              </a:rPr>
              <a:t>Una sol·licitud de beca genera un expedient. Després dels requisits generals, AGAUR revisa requisits econòmics de renda i patrimoni. Si no es compleixen, l'expedient no avança a la revisió acadèmica.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3154680"/>
            <a:ext cx="3246120" cy="1417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rial"/>
              </a:defRPr>
            </a:pPr>
            <a:r>
              <a:t>Renda familiar.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rial"/>
              </a:defRPr>
            </a:pPr>
            <a:r>
              <a:t>Patrimoni de la unitat familiar.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rial"/>
              </a:defRPr>
            </a:pPr>
            <a:r>
              <a:t>Finques urbanes i rústiques amb valors cadastrals.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  <a:latin typeface="Arial"/>
              </a:defRPr>
            </a:pPr>
            <a:r>
              <a:t>Proposta de concessió o denegació.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4983480"/>
            <a:ext cx="3246120" cy="822960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92440" y="5138928"/>
            <a:ext cx="28803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66707A"/>
                </a:solidFill>
                <a:latin typeface="Arial"/>
              </a:rPr>
              <a:t>Fonts públiques: AGAUR requisits econòmics i BOE 2025-2026 sobre llindars de renda i patrimoni.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85953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707A"/>
                </a:solidFill>
                <a:latin typeface="Arial"/>
              </a:rPr>
              <a:t>Disseny de Sistemes d'Informació · Ports de sortida en arquitectura hexagonal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707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192D3E"/>
                </a:solidFill>
                <a:latin typeface="Arial"/>
              </a:rPr>
              <a:t>Quina informació externa necessita el procediment?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88696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6707A"/>
                </a:solidFill>
                <a:latin typeface="Arial"/>
              </a:rPr>
              <a:t>Renda, patrimoni i informació cadastral</a:t>
            </a:r>
          </a:p>
        </p:txBody>
      </p:sp>
      <p:pic>
        <p:nvPicPr>
          <p:cNvPr id="4" name="Picture 3" descr="logotip-oficial-tecnocampus-upf-horit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293025"/>
            <a:ext cx="1783079" cy="33749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1115568"/>
            <a:ext cx="10972800" cy="13716"/>
          </a:xfrm>
          <a:prstGeom prst="rect">
            <a:avLst/>
          </a:prstGeom>
          <a:solidFill>
            <a:srgbClr val="D6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gaur-data-interoper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3404" y="1234440"/>
            <a:ext cx="2442831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508760"/>
            <a:ext cx="292608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 dirty="0">
                <a:solidFill>
                  <a:srgbClr val="192D3E"/>
                </a:solidFill>
                <a:latin typeface="Arial"/>
              </a:rPr>
              <a:t>La </a:t>
            </a:r>
            <a:r>
              <a:rPr sz="1800" b="1" dirty="0" err="1">
                <a:solidFill>
                  <a:srgbClr val="192D3E"/>
                </a:solidFill>
                <a:latin typeface="Arial"/>
              </a:rPr>
              <a:t>necessitat</a:t>
            </a:r>
            <a:r>
              <a:rPr sz="1800" b="1" dirty="0">
                <a:solidFill>
                  <a:srgbClr val="192D3E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192D3E"/>
                </a:solidFill>
                <a:latin typeface="Arial"/>
              </a:rPr>
              <a:t>funcional</a:t>
            </a:r>
            <a:r>
              <a:rPr sz="1800" b="1" dirty="0">
                <a:solidFill>
                  <a:srgbClr val="192D3E"/>
                </a:solidFill>
                <a:latin typeface="Arial"/>
              </a:rPr>
              <a:t> no </a:t>
            </a:r>
            <a:r>
              <a:rPr sz="1800" b="1" dirty="0" err="1">
                <a:solidFill>
                  <a:srgbClr val="192D3E"/>
                </a:solidFill>
                <a:latin typeface="Arial"/>
              </a:rPr>
              <a:t>és</a:t>
            </a:r>
            <a:r>
              <a:rPr sz="1800" b="1" dirty="0">
                <a:solidFill>
                  <a:srgbClr val="192D3E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192D3E"/>
                </a:solidFill>
                <a:latin typeface="Arial"/>
              </a:rPr>
              <a:t>consumir</a:t>
            </a:r>
            <a:r>
              <a:rPr sz="1800" b="1" dirty="0">
                <a:solidFill>
                  <a:srgbClr val="192D3E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192D3E"/>
                </a:solidFill>
                <a:latin typeface="Arial"/>
              </a:rPr>
              <a:t>una</a:t>
            </a:r>
            <a:r>
              <a:rPr sz="1800" b="1" dirty="0">
                <a:solidFill>
                  <a:srgbClr val="192D3E"/>
                </a:solidFill>
                <a:latin typeface="Arial"/>
              </a:rPr>
              <a:t> API </a:t>
            </a:r>
            <a:r>
              <a:rPr sz="1800" b="1" dirty="0" err="1">
                <a:solidFill>
                  <a:srgbClr val="192D3E"/>
                </a:solidFill>
                <a:latin typeface="Arial"/>
              </a:rPr>
              <a:t>concreta</a:t>
            </a:r>
            <a:r>
              <a:rPr sz="1800" b="1" dirty="0">
                <a:solidFill>
                  <a:srgbClr val="192D3E"/>
                </a:solidFill>
                <a:latin typeface="Arial"/>
              </a:rPr>
              <a:t>. </a:t>
            </a:r>
            <a:r>
              <a:rPr sz="1800" b="1" dirty="0" err="1">
                <a:solidFill>
                  <a:srgbClr val="192D3E"/>
                </a:solidFill>
                <a:latin typeface="Arial"/>
              </a:rPr>
              <a:t>És</a:t>
            </a:r>
            <a:r>
              <a:rPr sz="1800" b="1" dirty="0">
                <a:solidFill>
                  <a:srgbClr val="192D3E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192D3E"/>
                </a:solidFill>
                <a:latin typeface="Arial"/>
              </a:rPr>
              <a:t>obtenir</a:t>
            </a:r>
            <a:r>
              <a:rPr sz="1800" b="1" dirty="0">
                <a:solidFill>
                  <a:srgbClr val="192D3E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192D3E"/>
                </a:solidFill>
                <a:latin typeface="Arial"/>
              </a:rPr>
              <a:t>informació</a:t>
            </a:r>
            <a:r>
              <a:rPr sz="1800" b="1" dirty="0">
                <a:solidFill>
                  <a:srgbClr val="192D3E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192D3E"/>
                </a:solidFill>
                <a:latin typeface="Arial"/>
              </a:rPr>
              <a:t>administrativa</a:t>
            </a:r>
            <a:r>
              <a:rPr sz="1800" b="1" dirty="0">
                <a:solidFill>
                  <a:srgbClr val="192D3E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192D3E"/>
                </a:solidFill>
                <a:latin typeface="Arial"/>
              </a:rPr>
              <a:t>fiable</a:t>
            </a:r>
            <a:r>
              <a:rPr sz="1800" b="1" dirty="0">
                <a:solidFill>
                  <a:srgbClr val="192D3E"/>
                </a:solidFill>
                <a:latin typeface="Arial"/>
              </a:rPr>
              <a:t> per </a:t>
            </a:r>
            <a:r>
              <a:rPr sz="1800" b="1" dirty="0" err="1">
                <a:solidFill>
                  <a:srgbClr val="192D3E"/>
                </a:solidFill>
                <a:latin typeface="Arial"/>
              </a:rPr>
              <a:t>avaluar</a:t>
            </a:r>
            <a:r>
              <a:rPr sz="1800" b="1" dirty="0">
                <a:solidFill>
                  <a:srgbClr val="192D3E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192D3E"/>
                </a:solidFill>
                <a:latin typeface="Arial"/>
              </a:rPr>
              <a:t>si</a:t>
            </a:r>
            <a:r>
              <a:rPr sz="1800" b="1" dirty="0">
                <a:solidFill>
                  <a:srgbClr val="192D3E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192D3E"/>
                </a:solidFill>
                <a:latin typeface="Arial"/>
              </a:rPr>
              <a:t>una</a:t>
            </a:r>
            <a:r>
              <a:rPr sz="1800" b="1" dirty="0">
                <a:solidFill>
                  <a:srgbClr val="192D3E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192D3E"/>
                </a:solidFill>
                <a:latin typeface="Arial"/>
              </a:rPr>
              <a:t>sol·licitud</a:t>
            </a:r>
            <a:r>
              <a:rPr sz="1800" b="1" dirty="0">
                <a:solidFill>
                  <a:srgbClr val="192D3E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192D3E"/>
                </a:solidFill>
                <a:latin typeface="Arial"/>
              </a:rPr>
              <a:t>compleix</a:t>
            </a:r>
            <a:r>
              <a:rPr sz="1800" b="1" dirty="0">
                <a:solidFill>
                  <a:srgbClr val="192D3E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192D3E"/>
                </a:solidFill>
                <a:latin typeface="Arial"/>
              </a:rPr>
              <a:t>els</a:t>
            </a:r>
            <a:r>
              <a:rPr sz="1800" b="1" dirty="0">
                <a:solidFill>
                  <a:srgbClr val="192D3E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192D3E"/>
                </a:solidFill>
                <a:latin typeface="Arial"/>
              </a:rPr>
              <a:t>requisits</a:t>
            </a:r>
            <a:r>
              <a:rPr sz="1800" b="1" dirty="0">
                <a:solidFill>
                  <a:srgbClr val="192D3E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192D3E"/>
                </a:solidFill>
                <a:latin typeface="Arial"/>
              </a:rPr>
              <a:t>econòmics</a:t>
            </a:r>
            <a:r>
              <a:rPr sz="1800" b="1" dirty="0">
                <a:solidFill>
                  <a:srgbClr val="192D3E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063240"/>
            <a:ext cx="2926080" cy="1691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62626"/>
                </a:solidFill>
                <a:latin typeface="Arial"/>
              </a:defRPr>
            </a:pPr>
            <a:r>
              <a:rPr dirty="0"/>
              <a:t>La </a:t>
            </a:r>
            <a:r>
              <a:rPr dirty="0" err="1"/>
              <a:t>sol·licitud</a:t>
            </a:r>
            <a:r>
              <a:rPr dirty="0"/>
              <a:t> </a:t>
            </a:r>
            <a:r>
              <a:rPr dirty="0" err="1"/>
              <a:t>autoritza</a:t>
            </a:r>
            <a:r>
              <a:rPr dirty="0"/>
              <a:t> la consulta de </a:t>
            </a:r>
            <a:r>
              <a:rPr dirty="0" err="1"/>
              <a:t>renda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patrimoni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200">
                <a:solidFill>
                  <a:srgbClr val="262626"/>
                </a:solidFill>
                <a:latin typeface="Arial"/>
              </a:defRPr>
            </a:pPr>
            <a:r>
              <a:rPr dirty="0"/>
              <a:t>El </a:t>
            </a:r>
            <a:r>
              <a:rPr dirty="0" err="1"/>
              <a:t>patrimoni</a:t>
            </a:r>
            <a:r>
              <a:rPr dirty="0"/>
              <a:t> pot </a:t>
            </a:r>
            <a:r>
              <a:rPr dirty="0" err="1"/>
              <a:t>incloure</a:t>
            </a:r>
            <a:r>
              <a:rPr dirty="0"/>
              <a:t> </a:t>
            </a:r>
            <a:r>
              <a:rPr dirty="0" err="1"/>
              <a:t>béns</a:t>
            </a:r>
            <a:r>
              <a:rPr dirty="0"/>
              <a:t> </a:t>
            </a:r>
            <a:r>
              <a:rPr dirty="0" err="1"/>
              <a:t>immobles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200">
                <a:solidFill>
                  <a:srgbClr val="262626"/>
                </a:solidFill>
                <a:latin typeface="Arial"/>
              </a:defRPr>
            </a:pPr>
            <a:r>
              <a:rPr dirty="0"/>
              <a:t>El valor cadastral pot </a:t>
            </a:r>
            <a:r>
              <a:rPr dirty="0" err="1"/>
              <a:t>influir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resultat</a:t>
            </a:r>
            <a:r>
              <a:rPr dirty="0"/>
              <a:t> </a:t>
            </a:r>
            <a:r>
              <a:rPr dirty="0" err="1"/>
              <a:t>econòmic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200">
                <a:solidFill>
                  <a:srgbClr val="262626"/>
                </a:solidFill>
                <a:latin typeface="Arial"/>
              </a:defRPr>
            </a:pPr>
            <a:r>
              <a:rPr dirty="0"/>
              <a:t>La </a:t>
            </a:r>
            <a:r>
              <a:rPr dirty="0" err="1"/>
              <a:t>documentació</a:t>
            </a:r>
            <a:r>
              <a:rPr dirty="0"/>
              <a:t> </a:t>
            </a:r>
            <a:r>
              <a:rPr dirty="0" err="1"/>
              <a:t>pública</a:t>
            </a:r>
            <a:r>
              <a:rPr dirty="0"/>
              <a:t> vincula PICA </a:t>
            </a:r>
            <a:r>
              <a:rPr dirty="0" err="1"/>
              <a:t>amb</a:t>
            </a:r>
            <a:r>
              <a:rPr dirty="0"/>
              <a:t> </a:t>
            </a:r>
            <a:r>
              <a:rPr dirty="0" err="1"/>
              <a:t>dades</a:t>
            </a:r>
            <a:r>
              <a:rPr dirty="0"/>
              <a:t> de </a:t>
            </a:r>
            <a:r>
              <a:rPr dirty="0" err="1"/>
              <a:t>cadastre</a:t>
            </a:r>
            <a:r>
              <a:rPr dirty="0"/>
              <a:t> </a:t>
            </a:r>
            <a:r>
              <a:rPr dirty="0" err="1"/>
              <a:t>disponibles</a:t>
            </a:r>
            <a:r>
              <a:rPr dirty="0"/>
              <a:t> per AEAT.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892040"/>
            <a:ext cx="2926080" cy="1005840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94192" y="5029200"/>
            <a:ext cx="260604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>
                <a:solidFill>
                  <a:srgbClr val="66707A"/>
                </a:solidFill>
                <a:latin typeface="Arial"/>
              </a:rPr>
              <a:t>Glossari mínim: PICA és interoperabilitat administrativa; Cadastre és registre de béns immobles; SOAP/XML és missatgeria i format d'integració.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85953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707A"/>
                </a:solidFill>
                <a:latin typeface="Arial"/>
              </a:rPr>
              <a:t>Disseny de Sistemes d'Informació · Ports de sortida en arquitectura hexagonal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707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192D3E"/>
                </a:solidFill>
                <a:latin typeface="Arial"/>
              </a:rPr>
              <a:t>Quan l'acoblament es fa risc d'evolució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88696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6707A"/>
                </a:solidFill>
                <a:latin typeface="Arial"/>
              </a:rPr>
              <a:t>Lectura institucional prudent: PICA, web services i orientació CTTI cap a APIs</a:t>
            </a:r>
          </a:p>
        </p:txBody>
      </p:sp>
      <p:pic>
        <p:nvPicPr>
          <p:cNvPr id="4" name="Picture 3" descr="logotip-oficial-tecnocampus-upf-horit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293025"/>
            <a:ext cx="1783079" cy="33749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1115568"/>
            <a:ext cx="10972800" cy="13716"/>
          </a:xfrm>
          <a:prstGeom prst="rect">
            <a:avLst/>
          </a:prstGeom>
          <a:solidFill>
            <a:srgbClr val="D6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4241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192D3E"/>
                </a:solidFill>
                <a:latin typeface="Arial"/>
              </a:rPr>
              <a:t>La qüestió no és predir l'evolució concreta de SOAP: és que cap tecnologia d'integració ha d'arrossegar el procediment.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246120" cy="2971800"/>
          </a:xfrm>
          <a:prstGeom prst="rect">
            <a:avLst/>
          </a:prstGeom>
          <a:solidFill>
            <a:srgbClr val="F8EAEA"/>
          </a:solidFill>
          <a:ln w="9525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27889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192D3E"/>
                </a:solidFill>
                <a:latin typeface="Arial"/>
              </a:rPr>
              <a:t>Situació verificable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487168"/>
            <a:ext cx="27889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192D3E"/>
                </a:solidFill>
                <a:latin typeface="Arial"/>
              </a:rPr>
              <a:t>PICA continua essent una plataforma corporativa d'interoperabilitat.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364992"/>
            <a:ext cx="27889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0">
                <a:solidFill>
                  <a:srgbClr val="262626"/>
                </a:solidFill>
                <a:latin typeface="Arial"/>
              </a:rPr>
              <a:t>La documentació pública mostra integració amb web services i antecedents SOAP.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114800"/>
            <a:ext cx="2788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236092"/>
                </a:solidFill>
                <a:latin typeface="Arial"/>
              </a:rPr>
              <a:t>PICA / web services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783080"/>
            <a:ext cx="3246120" cy="2971800"/>
          </a:xfrm>
          <a:prstGeom prst="rect">
            <a:avLst/>
          </a:prstGeom>
          <a:solidFill>
            <a:srgbClr val="FFF3D6"/>
          </a:solidFill>
          <a:ln w="9525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27889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192D3E"/>
                </a:solidFill>
                <a:latin typeface="Arial"/>
              </a:rPr>
              <a:t>Risc arquitectònic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514600"/>
            <a:ext cx="2788920" cy="1737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62626"/>
                </a:solidFill>
                <a:latin typeface="Arial"/>
              </a:defRPr>
            </a:pPr>
            <a:r>
              <a:t>El flux de l'expedient coneix PICA, SOAP/XML, DTOs, mapping i errors tècnics.</a:t>
            </a:r>
          </a:p>
          <a:p>
            <a:pPr>
              <a:spcAft>
                <a:spcPts val="800"/>
              </a:spcAft>
              <a:defRPr sz="1200">
                <a:solidFill>
                  <a:srgbClr val="262626"/>
                </a:solidFill>
                <a:latin typeface="Arial"/>
              </a:defRPr>
            </a:pPr>
            <a:r>
              <a:t>La lògica administrativa depèn d'una tecnologia d'integració concreta.</a:t>
            </a:r>
          </a:p>
          <a:p>
            <a:pPr>
              <a:spcAft>
                <a:spcPts val="800"/>
              </a:spcAft>
              <a:defRPr sz="1200">
                <a:solidFill>
                  <a:srgbClr val="262626"/>
                </a:solidFill>
                <a:latin typeface="Arial"/>
              </a:defRPr>
            </a:pPr>
            <a:r>
              <a:t>Qualsevol evolució cap a REST, API Manager o EventHub impacta massa capes.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783080"/>
            <a:ext cx="3246120" cy="2971800"/>
          </a:xfrm>
          <a:prstGeom prst="rect">
            <a:avLst/>
          </a:prstGeom>
          <a:solidFill>
            <a:srgbClr val="E8F1F8"/>
          </a:solidFill>
          <a:ln w="9525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011680"/>
            <a:ext cx="27889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192D3E"/>
                </a:solidFill>
                <a:latin typeface="Arial"/>
              </a:rPr>
              <a:t>Criteri docent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542032"/>
            <a:ext cx="278892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192D3E"/>
                </a:solidFill>
                <a:latin typeface="Arial"/>
              </a:rPr>
              <a:t>Separar criteris del procediment, casos d'ús i infraestructura.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3474720"/>
            <a:ext cx="27889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236092"/>
                </a:solidFill>
                <a:latin typeface="Arial"/>
              </a:rPr>
              <a:t>Port de sortida
+
adaptadors substituïbles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074920"/>
            <a:ext cx="69494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192D3E"/>
                </a:solidFill>
                <a:latin typeface="Arial"/>
              </a:rPr>
              <a:t>El motiu arquitectònic no és només "fer REST": és evitar que l'evolució tecnològica arrossegui els casos d'ús.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102352"/>
            <a:ext cx="2971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66707A"/>
                </a:solidFill>
                <a:latin typeface="Arial"/>
              </a:rPr>
              <a:t>Evidència: l'informe AGAUR acredita refactorització SOAP cap a REST i reducció d'acoblament.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85953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707A"/>
                </a:solidFill>
                <a:latin typeface="Arial"/>
              </a:rPr>
              <a:t>Disseny de Sistemes d'Informació · Ports de sortida en arquitectura hexagonal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707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192D3E"/>
                </a:solidFill>
                <a:latin typeface="Arial"/>
              </a:rPr>
              <a:t>Solució AGAUR: port de sortida i adaptador</a:t>
            </a:r>
          </a:p>
        </p:txBody>
      </p:sp>
      <p:pic>
        <p:nvPicPr>
          <p:cNvPr id="3" name="Picture 2" descr="logotip-oficial-tecnocampus-upf-horit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293025"/>
            <a:ext cx="1783079" cy="33749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1115568"/>
            <a:ext cx="10972800" cy="13716"/>
          </a:xfrm>
          <a:prstGeom prst="rect">
            <a:avLst/>
          </a:prstGeom>
          <a:solidFill>
            <a:srgbClr val="D6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gaur-after-hexago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11212"/>
            <a:ext cx="7315200" cy="24756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828800"/>
            <a:ext cx="2971800" cy="1920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192D3E"/>
                </a:solidFill>
                <a:latin typeface="Arial"/>
              </a:rPr>
              <a:t>El port defineix què necessita l'aplicació.
L'adaptador resol com obtenir-ho amb una tecnologia concreta.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160520"/>
            <a:ext cx="297180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36092"/>
                </a:solidFill>
                <a:latin typeface="Arial"/>
              </a:rPr>
              <a:t>El cas d'ús necessita una capacitat externa, no una tecnologia externa concreta.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85953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707A"/>
                </a:solidFill>
                <a:latin typeface="Arial"/>
              </a:rPr>
              <a:t>Disseny de Sistemes d'Informació · Ports de sortida en arquitectura hexagonal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707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192D3E"/>
                </a:solidFill>
                <a:latin typeface="Arial"/>
              </a:rPr>
              <a:t>De la interface al 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88696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6707A"/>
                </a:solidFill>
                <a:latin typeface="Arial"/>
              </a:rPr>
              <a:t>Una frontera arquitectònica, no només un contracte Java</a:t>
            </a:r>
          </a:p>
        </p:txBody>
      </p:sp>
      <p:pic>
        <p:nvPicPr>
          <p:cNvPr id="4" name="Picture 3" descr="logotip-oficial-tecnocampus-upf-horit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293025"/>
            <a:ext cx="1783079" cy="33749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1115568"/>
            <a:ext cx="10972800" cy="13716"/>
          </a:xfrm>
          <a:prstGeom prst="rect">
            <a:avLst/>
          </a:prstGeom>
          <a:solidFill>
            <a:srgbClr val="D6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output-port-patte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81557"/>
            <a:ext cx="6766560" cy="288924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26679" y="1600200"/>
            <a:ext cx="3337560" cy="3474720"/>
          </a:xfrm>
          <a:prstGeom prst="roundRect">
            <a:avLst/>
          </a:prstGeom>
          <a:solidFill>
            <a:srgbClr val="F7F8FA"/>
          </a:solidFill>
          <a:ln w="9525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1000" y="2011680"/>
            <a:ext cx="278892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200" b="1">
                <a:solidFill>
                  <a:srgbClr val="192D3E"/>
                </a:solidFill>
                <a:latin typeface="Arial"/>
              </a:rPr>
              <a:t>Una interface pot desacoblar dues classes.
Un port de sortida defineix una frontera arquitectònica.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85953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707A"/>
                </a:solidFill>
                <a:latin typeface="Arial"/>
              </a:rPr>
              <a:t>Disseny de Sistemes d'Informació · Ports de sortida en arquitectura hexagonal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707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192D3E"/>
                </a:solidFill>
                <a:latin typeface="Arial"/>
              </a:rPr>
              <a:t>Transferència a HexaStock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88696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6707A"/>
                </a:solidFill>
                <a:latin typeface="Arial"/>
              </a:rPr>
              <a:t>Venda d'accions amb proveïdor de preus substituïble</a:t>
            </a:r>
          </a:p>
        </p:txBody>
      </p:sp>
      <p:pic>
        <p:nvPicPr>
          <p:cNvPr id="4" name="Picture 3" descr="logotip-oficial-tecnocampus-upf-horit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293025"/>
            <a:ext cx="1783079" cy="33749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1115568"/>
            <a:ext cx="10972800" cy="13716"/>
          </a:xfrm>
          <a:prstGeom prst="rect">
            <a:avLst/>
          </a:prstGeom>
          <a:solidFill>
            <a:srgbClr val="D6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hexastock-sellstocks-arquitectura-vp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0138"/>
            <a:ext cx="7818120" cy="43892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1600200"/>
            <a:ext cx="274320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192D3E"/>
                </a:solidFill>
                <a:latin typeface="Arial"/>
              </a:rPr>
              <a:t>El cas d'ús necessita el preu actual d'un ticker, però no ha de dependre de Finnhub, Alpha Vantage, REST, JSON, tokens, endpoints ni clients HTTP.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3931920"/>
            <a:ext cx="2743200" cy="1417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62626"/>
                </a:solidFill>
                <a:latin typeface="Arial"/>
              </a:defRPr>
            </a:pPr>
            <a:r>
              <a:t>Port: StockPriceProviderPort</a:t>
            </a:r>
          </a:p>
          <a:p>
            <a:pPr>
              <a:spcAft>
                <a:spcPts val="800"/>
              </a:spcAft>
              <a:defRPr sz="1300">
                <a:solidFill>
                  <a:srgbClr val="262626"/>
                </a:solidFill>
                <a:latin typeface="Arial"/>
              </a:defRPr>
            </a:pPr>
            <a:r>
              <a:t>Adaptadors: Finnhub, Alpha Vantage, mock</a:t>
            </a:r>
          </a:p>
          <a:p>
            <a:pPr>
              <a:spcAft>
                <a:spcPts val="800"/>
              </a:spcAft>
              <a:defRPr sz="1300">
                <a:solidFill>
                  <a:srgbClr val="262626"/>
                </a:solidFill>
                <a:latin typeface="Arial"/>
              </a:defRPr>
            </a:pPr>
            <a:r>
              <a:t>Domini: Portfolio, Holding, Price, Ticker, ShareQuantity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5669280"/>
            <a:ext cx="2743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66707A"/>
                </a:solidFill>
                <a:latin typeface="Arial"/>
              </a:rPr>
              <a:t>Diagrama del tutorial HexaStock Sell Stocks.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85953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707A"/>
                </a:solidFill>
                <a:latin typeface="Arial"/>
              </a:rPr>
              <a:t>Disseny de Sistemes d'Informació · Ports de sortida en arquitectura hexagonal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707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192D3E"/>
                </a:solidFill>
                <a:latin typeface="Arial"/>
              </a:rPr>
              <a:t>Flux i codi essencial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88696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6707A"/>
                </a:solidFill>
                <a:latin typeface="Arial"/>
              </a:rPr>
              <a:t>El servei coordina. El domini decideix. La infraestructura adapta.</a:t>
            </a:r>
          </a:p>
        </p:txBody>
      </p:sp>
      <p:pic>
        <p:nvPicPr>
          <p:cNvPr id="4" name="Picture 3" descr="logotip-oficial-tecnocampus-upf-horit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293025"/>
            <a:ext cx="1783079" cy="33749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1115568"/>
            <a:ext cx="10972800" cy="13716"/>
          </a:xfrm>
          <a:prstGeom prst="rect">
            <a:avLst/>
          </a:prstGeom>
          <a:solidFill>
            <a:srgbClr val="D6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ell-stock-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62677"/>
            <a:ext cx="7315200" cy="306980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92440" y="1645920"/>
            <a:ext cx="3520440" cy="2423160"/>
          </a:xfrm>
          <a:prstGeom prst="roundRect">
            <a:avLst/>
          </a:prstGeom>
          <a:solidFill>
            <a:srgbClr val="1F2429"/>
          </a:solidFill>
          <a:ln>
            <a:solidFill>
              <a:srgbClr val="1F2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93608" y="1810512"/>
            <a:ext cx="3118104" cy="2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5F6F7"/>
                </a:solidFill>
                <a:latin typeface="Consolas"/>
              </a:rPr>
              <a:t>StockPrice stockPrice =
    stockPriceProviderPort.fetchStockPrice(ticker);
Price price = stockPrice.price();
SellResult sellResult =
    portfolio.sell(ticker, quantity, price);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4434840"/>
            <a:ext cx="342900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192D3E"/>
                </a:solidFill>
                <a:latin typeface="Arial"/>
              </a:rPr>
              <a:t>El servei obté informació externa a través d'un port i delega la decisió al domini ric.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85953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707A"/>
                </a:solidFill>
                <a:latin typeface="Arial"/>
              </a:rPr>
              <a:t>Disseny de Sistemes d'Informació · Ports de sortida en arquitectura hexagonal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707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9611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192D3E"/>
                </a:solidFill>
                <a:latin typeface="Arial"/>
              </a:rPr>
              <a:t>Conclusió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88696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6707A"/>
                </a:solidFill>
                <a:latin typeface="Arial"/>
              </a:rPr>
              <a:t>L'arquitectura no elimina el canvi. El localitza.</a:t>
            </a:r>
          </a:p>
        </p:txBody>
      </p:sp>
      <p:pic>
        <p:nvPicPr>
          <p:cNvPr id="4" name="Picture 3" descr="logotip-oficial-tecnocampus-upf-horit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293025"/>
            <a:ext cx="1783079" cy="33749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1115568"/>
            <a:ext cx="10972800" cy="13716"/>
          </a:xfrm>
          <a:prstGeom prst="rect">
            <a:avLst/>
          </a:prstGeom>
          <a:solidFill>
            <a:srgbClr val="D6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before-after-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91858"/>
            <a:ext cx="7086600" cy="44857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83879" y="1874519"/>
            <a:ext cx="2971800" cy="1737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400" b="1">
                <a:solidFill>
                  <a:srgbClr val="192D3E"/>
                </a:solidFill>
                <a:latin typeface="Arial"/>
              </a:rPr>
              <a:t>Quan el proveïdor canvia, volem canviar l'adaptador, no el cas d'ús ni el model de domini.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4160520"/>
            <a:ext cx="297180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0">
                <a:solidFill>
                  <a:srgbClr val="236092"/>
                </a:solidFill>
                <a:latin typeface="Arial"/>
              </a:rPr>
              <a:t>L'arquitectura fa explícita, substituïble i localitzada la dependència del món exterior.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85953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707A"/>
                </a:solidFill>
                <a:latin typeface="Arial"/>
              </a:rPr>
              <a:t>Disseny de Sistemes d'Informació · Ports de sortida en arquitectura hexagonal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707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975</Words>
  <Application>Microsoft Macintosh PowerPoint</Application>
  <PresentationFormat>Panorámica</PresentationFormat>
  <Paragraphs>95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Alfredo Rueda Unsain</cp:lastModifiedBy>
  <cp:revision>2</cp:revision>
  <dcterms:created xsi:type="dcterms:W3CDTF">2013-01-27T09:14:16Z</dcterms:created>
  <dcterms:modified xsi:type="dcterms:W3CDTF">2026-06-29T15:37:58Z</dcterms:modified>
  <cp:category/>
</cp:coreProperties>
</file>