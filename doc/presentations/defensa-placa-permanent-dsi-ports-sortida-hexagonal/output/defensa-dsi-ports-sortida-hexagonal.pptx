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95996"/>
            <a:ext cx="2971800" cy="562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dirty="0" err="1">
                <a:solidFill>
                  <a:srgbClr val="192D3E"/>
                </a:solidFill>
                <a:latin typeface="Arial"/>
              </a:rPr>
              <a:t>Disseny</a:t>
            </a:r>
            <a:r>
              <a:rPr sz="3200" b="1" dirty="0">
                <a:solidFill>
                  <a:srgbClr val="192D3E"/>
                </a:solidFill>
                <a:latin typeface="Arial"/>
              </a:rPr>
              <a:t> de ports de </a:t>
            </a:r>
            <a:r>
              <a:rPr sz="32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2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2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3200" b="1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3200" b="1" dirty="0">
                <a:solidFill>
                  <a:srgbClr val="192D3E"/>
                </a:solidFill>
                <a:latin typeface="Arial"/>
              </a:rPr>
              <a:t>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29500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b="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Arial"/>
              </a:rPr>
              <a:t>Una microlliçó de Disseny de Sistemes d'Informació a partir d'un cas real de consultoria i del projecte HexaStock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1060704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1">
                <a:solidFill>
                  <a:srgbClr val="192D3E"/>
                </a:solidFill>
                <a:latin typeface="Arial"/>
              </a:rPr>
              <a:t>Guia docent oficial 2025/26: assignatura 103322, tercer curs, segon trimestre, 6 ECTS. Professorat: Josep Roure Alcobé i Alfredo Rueda Unsain.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1060704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Arial"/>
              </a:rPr>
              <a:t>No explicarem tota l'arquitectura hexagonal. Ens centrarem en una decisió concreta: consumir APIs externes sense acoblar casos d'ús i domini a la infraestructura.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697480"/>
            <a:ext cx="9875520" cy="347472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27477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Arial"/>
              </a:rPr>
              <a:t>1. Arquitectura per capes i limitacions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154680"/>
            <a:ext cx="9875520" cy="347472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32049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Arial"/>
              </a:rPr>
              <a:t>2. Introducció a Clean / Hexagonal Architecture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611880"/>
            <a:ext cx="9875520" cy="347472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36621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Arial"/>
              </a:rPr>
              <a:t>3. Ports i adaptadors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9875520" cy="347472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70432" y="41193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>
                <a:solidFill>
                  <a:srgbClr val="192D3E"/>
                </a:solidFill>
                <a:latin typeface="Arial"/>
              </a:rPr>
              <a:t>4. Ports de sortida per a integracions externes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526280"/>
            <a:ext cx="9875520" cy="347472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45765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Arial"/>
              </a:rPr>
              <a:t>5. Testing, mocks i substitució d'infraestructura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4983480"/>
            <a:ext cx="9875520" cy="347472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70432" y="5033772"/>
            <a:ext cx="923544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262626"/>
                </a:solidFill>
                <a:latin typeface="Arial"/>
              </a:rPr>
              <a:t>6. Microserveis i DDD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715000"/>
            <a:ext cx="98755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66707A"/>
                </a:solidFill>
                <a:latin typeface="Arial"/>
              </a:rPr>
              <a:t>Blocs oficials del temari: clean/hexagonal, ports i adaptadors, mapping, mòduls, microserveis i DDD.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3327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300" b="0">
                <a:solidFill>
                  <a:srgbClr val="192D3E"/>
                </a:solidFill>
                <a:latin typeface="Arial"/>
              </a:rPr>
              <a:t>Dissenyar un port de sortida orientat al llenguatge de l'aplicació, implementar adaptadors intercanviables i justificar la reducció d'acoblament.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3246120" cy="155448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999232"/>
            <a:ext cx="28346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Identificar el risc d'acoblament amb APIs externes.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53712" y="2743200"/>
            <a:ext cx="3246120" cy="155448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2999232"/>
            <a:ext cx="28346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Definir el port en termes de capacitat requerida.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4464" y="2743200"/>
            <a:ext cx="3246120" cy="155448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999232"/>
            <a:ext cx="283464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Substituir l'adaptador sense modificar domini ni cas d'ús.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El problema en sistemes reals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AGAUR, processos corporatius i informació externa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before-coup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50769"/>
            <a:ext cx="11201400" cy="32249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074920"/>
            <a:ext cx="699516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192D3E"/>
                </a:solidFill>
                <a:latin typeface="Arial"/>
              </a:rPr>
              <a:t>Lectura funcional: una sol·licitud de beca genera un expedient, s'avaluen requisits i es prepara una proposta de resolució. El risc arquitectònic apareix quan aquesta avaluació incorpora directament SOAP/XML, DTOs, mapping i detalls de PICA.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5074920"/>
            <a:ext cx="3291840" cy="822960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5193792"/>
            <a:ext cx="2926080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Evidència documental
Informe AGAUR: formació i consultoria especialitzada, 60 h, maig-juliol 2025, serveis REST i arquitectura hexagonal.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Quan l'acoblament es fa risc d'evolució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Lectura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institucional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: PICA, web services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orientació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CTTI cap a APIs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424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La qüestió no és si SOAP desapareix: és que cap tecnologia d'integració ha d'arrossegar el procediment.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246120" cy="297180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27889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Situació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verificable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4128" y="2487168"/>
            <a:ext cx="27889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 dirty="0">
                <a:solidFill>
                  <a:srgbClr val="192D3E"/>
                </a:solidFill>
                <a:latin typeface="Arial"/>
              </a:rPr>
              <a:t>PICA continua </a:t>
            </a:r>
            <a:r>
              <a:rPr sz="1600" b="1" dirty="0" err="1">
                <a:solidFill>
                  <a:srgbClr val="192D3E"/>
                </a:solidFill>
                <a:latin typeface="Arial"/>
              </a:rPr>
              <a:t>essent</a:t>
            </a:r>
            <a:r>
              <a:rPr sz="16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16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92D3E"/>
                </a:solidFill>
                <a:latin typeface="Arial"/>
              </a:rPr>
              <a:t>plataforma</a:t>
            </a:r>
            <a:r>
              <a:rPr sz="16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92D3E"/>
                </a:solidFill>
                <a:latin typeface="Arial"/>
              </a:rPr>
              <a:t>corporativa</a:t>
            </a:r>
            <a:r>
              <a:rPr sz="16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92D3E"/>
                </a:solidFill>
                <a:latin typeface="Arial"/>
              </a:rPr>
              <a:t>d'interoperabilitat</a:t>
            </a:r>
            <a:r>
              <a:rPr sz="16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64992"/>
            <a:ext cx="27889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0">
                <a:solidFill>
                  <a:srgbClr val="262626"/>
                </a:solidFill>
                <a:latin typeface="Arial"/>
              </a:rPr>
              <a:t>La documentació pública mostra integració amb web services i antecedents SOAP.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114800"/>
            <a:ext cx="2788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236092"/>
                </a:solidFill>
                <a:latin typeface="Arial"/>
              </a:rPr>
              <a:t>PICA / web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3246120" cy="297180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7889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Risc arquitectònic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514600"/>
            <a:ext cx="278892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62626"/>
                </a:solidFill>
                <a:latin typeface="Arial"/>
              </a:defRPr>
            </a:pPr>
            <a:r>
              <a:rPr dirty="0"/>
              <a:t>El flux de </a:t>
            </a:r>
            <a:r>
              <a:rPr dirty="0" err="1"/>
              <a:t>l'expedient</a:t>
            </a:r>
            <a:r>
              <a:rPr dirty="0"/>
              <a:t> </a:t>
            </a:r>
            <a:r>
              <a:rPr dirty="0" err="1"/>
              <a:t>coneix</a:t>
            </a:r>
            <a:r>
              <a:rPr dirty="0"/>
              <a:t> PICA, SOAP/XML, DTOs, mapping </a:t>
            </a:r>
            <a:r>
              <a:rPr dirty="0" err="1"/>
              <a:t>i</a:t>
            </a:r>
            <a:r>
              <a:rPr dirty="0"/>
              <a:t> errors </a:t>
            </a:r>
            <a:r>
              <a:rPr dirty="0" err="1"/>
              <a:t>tècnics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00">
                <a:solidFill>
                  <a:srgbClr val="262626"/>
                </a:solidFill>
                <a:latin typeface="Arial"/>
              </a:defRPr>
            </a:pPr>
            <a:r>
              <a:rPr dirty="0"/>
              <a:t>La </a:t>
            </a:r>
            <a:r>
              <a:rPr dirty="0" err="1"/>
              <a:t>lògica</a:t>
            </a:r>
            <a:r>
              <a:rPr dirty="0"/>
              <a:t> </a:t>
            </a:r>
            <a:r>
              <a:rPr dirty="0" err="1"/>
              <a:t>administrativa</a:t>
            </a:r>
            <a:r>
              <a:rPr dirty="0"/>
              <a:t> </a:t>
            </a:r>
            <a:r>
              <a:rPr dirty="0" err="1"/>
              <a:t>depèn</a:t>
            </a:r>
            <a:r>
              <a:rPr dirty="0"/>
              <a:t> </a:t>
            </a:r>
            <a:r>
              <a:rPr dirty="0" err="1"/>
              <a:t>d'una</a:t>
            </a:r>
            <a:r>
              <a:rPr dirty="0"/>
              <a:t> </a:t>
            </a:r>
            <a:r>
              <a:rPr dirty="0" err="1"/>
              <a:t>tecnologia</a:t>
            </a:r>
            <a:r>
              <a:rPr dirty="0"/>
              <a:t> </a:t>
            </a:r>
            <a:r>
              <a:rPr dirty="0" err="1"/>
              <a:t>d'integració</a:t>
            </a:r>
            <a:r>
              <a:rPr dirty="0"/>
              <a:t> </a:t>
            </a:r>
            <a:r>
              <a:rPr dirty="0" err="1"/>
              <a:t>concreta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00">
                <a:solidFill>
                  <a:srgbClr val="262626"/>
                </a:solidFill>
                <a:latin typeface="Arial"/>
              </a:defRPr>
            </a:pPr>
            <a:r>
              <a:rPr dirty="0" err="1"/>
              <a:t>Qualsevol</a:t>
            </a:r>
            <a:r>
              <a:rPr dirty="0"/>
              <a:t> </a:t>
            </a:r>
            <a:r>
              <a:rPr dirty="0" err="1"/>
              <a:t>evolució</a:t>
            </a:r>
            <a:r>
              <a:rPr dirty="0"/>
              <a:t> cap a REST, API Manager o EventHub </a:t>
            </a:r>
            <a:r>
              <a:rPr dirty="0" err="1"/>
              <a:t>impacta</a:t>
            </a:r>
            <a:r>
              <a:rPr dirty="0"/>
              <a:t> </a:t>
            </a:r>
            <a:r>
              <a:rPr dirty="0" err="1"/>
              <a:t>massa</a:t>
            </a:r>
            <a:r>
              <a:rPr dirty="0"/>
              <a:t> capes.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783080"/>
            <a:ext cx="3246120" cy="297180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278892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Criteri docent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2788920" cy="685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Separar criteris del procediment, casos d'ús i infraestructura.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7" y="3474720"/>
            <a:ext cx="278892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236092"/>
                </a:solidFill>
                <a:latin typeface="Arial"/>
              </a:rPr>
              <a:t>Port de sortida
+
adaptadors substituïbles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074920"/>
            <a:ext cx="694944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motiu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arquitectònic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només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"fer REST":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evitar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que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l'evolució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arrossegui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els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casos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102352"/>
            <a:ext cx="2971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Evidència: l'informe AGAUR acredita refactorització SOAP cap a REST i reducció d'acoblament.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Solució AGAUR: 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gaur-after-hexag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11212"/>
            <a:ext cx="7315200" cy="24756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828800"/>
            <a:ext cx="2971800" cy="1920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1">
                <a:solidFill>
                  <a:srgbClr val="192D3E"/>
                </a:solidFill>
                <a:latin typeface="Arial"/>
              </a:rPr>
              <a:t>El port defineix què necessita l'aplicació.
L'adaptador resol com obtenir-ho amb una tecnologia concreta.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160520"/>
            <a:ext cx="29718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236092"/>
                </a:solidFill>
                <a:latin typeface="Arial"/>
              </a:rPr>
              <a:t>El cas d'ús necessita una capacitat externa, no una tecnologia externa concreta.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De la interface al 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Una frontera arquitectònica, no només un contracte Java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utput-port-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81557"/>
            <a:ext cx="6766560" cy="28892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26679" y="1600200"/>
            <a:ext cx="3337560" cy="3474720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01000" y="2011680"/>
            <a:ext cx="278892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192D3E"/>
                </a:solidFill>
                <a:latin typeface="Arial"/>
              </a:rPr>
              <a:t>Una interface pot desacoblar dues classes.
Un port de sortida defineix una frontera arquitectònica.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Transferència a HexaStock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Venda d'accions amb proveïdor de preus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exastock-sellstocks-arquitectura-v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00138"/>
            <a:ext cx="7818120" cy="43892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600200"/>
            <a:ext cx="274320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>
                <a:solidFill>
                  <a:srgbClr val="192D3E"/>
                </a:solidFill>
                <a:latin typeface="Arial"/>
              </a:rPr>
              <a:t>El cas d'ús necessita el preu actual d'un ticker, però no ha de dependre de Finnhub, Alpha Vantage, REST, JSON, tokens, endpoints ni clients HTTP.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931920"/>
            <a:ext cx="274320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62626"/>
                </a:solidFill>
                <a:latin typeface="Arial"/>
              </a:defRPr>
            </a:pPr>
            <a:r>
              <a:t>Port: StockPriceProviderPort</a:t>
            </a:r>
          </a:p>
          <a:p>
            <a:pPr>
              <a:spcAft>
                <a:spcPts val="800"/>
              </a:spcAft>
              <a:defRPr sz="1300">
                <a:solidFill>
                  <a:srgbClr val="262626"/>
                </a:solidFill>
                <a:latin typeface="Arial"/>
              </a:defRPr>
            </a:pPr>
            <a:r>
              <a:t>Adaptadors: Finnhub, Alpha Vantage, mock</a:t>
            </a:r>
          </a:p>
          <a:p>
            <a:pPr>
              <a:spcAft>
                <a:spcPts val="800"/>
              </a:spcAft>
              <a:defRPr sz="1300">
                <a:solidFill>
                  <a:srgbClr val="262626"/>
                </a:solidFill>
                <a:latin typeface="Arial"/>
              </a:defRPr>
            </a:pPr>
            <a:r>
              <a:t>Domini: Portfolio, Holding, Price, Ticker, ShareQuantity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5669280"/>
            <a:ext cx="2743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Diagrama del tutorial HexaStock Sell Stocks.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Flux i codi essencial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El servei coordina. El domini decideix. La infraestructura adapta.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2677"/>
            <a:ext cx="7315200" cy="30698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45920"/>
            <a:ext cx="3520440" cy="2423160"/>
          </a:xfrm>
          <a:prstGeom prst="roundRect">
            <a:avLst/>
          </a:prstGeom>
          <a:solidFill>
            <a:srgbClr val="1F2429"/>
          </a:solidFill>
          <a:ln>
            <a:solidFill>
              <a:srgbClr val="1F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93608" y="1810512"/>
            <a:ext cx="3118104" cy="2093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5F6F7"/>
                </a:solidFill>
                <a:latin typeface="Consolas"/>
              </a:rPr>
              <a:t>StockPrice stockPrice =
    stockPriceProviderPort.fetchStockPrice(ticker);
Price price = stockPrice.price();
SellResult sellResult =
    portfolio.sell(ticker, quantity, price);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434840"/>
            <a:ext cx="34290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0">
                <a:solidFill>
                  <a:srgbClr val="192D3E"/>
                </a:solidFill>
                <a:latin typeface="Arial"/>
              </a:rPr>
              <a:t>El servei obté informació externa a través d'un port i delega la decisió al domini 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Conclusió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L'arquitectura no elimina el canvi. El localitza.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fore-after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91858"/>
            <a:ext cx="7086600" cy="4485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874519"/>
            <a:ext cx="297180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Quan el proveïdor canvia, volem canviar l'adaptador, no el cas d'ús ni el model de domini.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4160520"/>
            <a:ext cx="297180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0">
                <a:solidFill>
                  <a:srgbClr val="236092"/>
                </a:solidFill>
                <a:latin typeface="Arial"/>
              </a:rPr>
              <a:t>L'arquitectura fa explícita, substituïble i localitzada la dependència del món exterior.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841</Words>
  <Application>Microsoft Macintosh PowerPoint</Application>
  <PresentationFormat>Panorámica</PresentationFormat>
  <Paragraphs>81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</cp:revision>
  <dcterms:created xsi:type="dcterms:W3CDTF">2013-01-27T09:14:16Z</dcterms:created>
  <dcterms:modified xsi:type="dcterms:W3CDTF">2026-06-28T20:22:28Z</dcterms:modified>
  <cp:category/>
</cp:coreProperties>
</file>