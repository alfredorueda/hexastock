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38"/>
  </p:normalViewPr>
  <p:slideViewPr>
    <p:cSldViewPr snapToGrid="0" snapToObjects="1">
      <p:cViewPr varScale="1">
        <p:scale>
          <a:sx n="133" d="100"/>
          <a:sy n="133" d="100"/>
        </p:scale>
        <p:origin x="32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495996"/>
            <a:ext cx="2971800" cy="56248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993392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100" b="0">
                <a:solidFill>
                  <a:srgbClr val="236092"/>
                </a:solidFill>
                <a:latin typeface="Arial"/>
              </a:rPr>
              <a:t>desacoblament entre casos d'ús, domini i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>
                <a:solidFill>
                  <a:srgbClr val="262626"/>
                </a:solidFill>
                <a:latin typeface="Arial"/>
              </a:rPr>
              <a:t>Una microlliçó de Disseny de Sistemes d'Informació a partir d'un cas real de consultoria i del projecte HexaStock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hexagonal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Ens </a:t>
            </a:r>
            <a:r>
              <a:rPr sz="2200" b="0" dirty="0" err="1">
                <a:solidFill>
                  <a:srgbClr val="262626"/>
                </a:solidFill>
                <a:latin typeface="Arial"/>
              </a:rPr>
              <a:t>centr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are</a:t>
            </a:r>
            <a:r>
              <a:rPr sz="2200" b="0" dirty="0">
                <a:solidFill>
                  <a:srgbClr val="262626"/>
                </a:solidFill>
                <a:latin typeface="Arial"/>
              </a:rPr>
              <a:t>m </a:t>
            </a:r>
            <a:r>
              <a:rPr sz="2200" b="0" dirty="0" err="1">
                <a:solidFill>
                  <a:srgbClr val="262626"/>
                </a:solidFill>
                <a:latin typeface="Arial"/>
              </a:rPr>
              <a:t>en</a:t>
            </a:r>
            <a:r>
              <a:rPr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interactuar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amb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APIs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 de manera desacoplada. 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Microlliçó dins el bloc de clean / hexagonal architecture, ports, adaptadors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Objectiu d'aprenentatge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10241280" cy="640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servei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d'aplicació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capacitat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, no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324096-D33B-3CBF-C022-BFBBD6A63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9017" y="2139756"/>
            <a:ext cx="8085221" cy="40278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II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a16:creationId xmlns:a16="http://schemas.microsoft.com/office/drawing/2014/main"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442AE4-020C-7BAB-E612-2262DEB4097A}"/>
              </a:ext>
            </a:extLst>
          </p:cNvPr>
          <p:cNvSpPr txBox="1"/>
          <p:nvPr/>
        </p:nvSpPr>
        <p:spPr>
          <a:xfrm>
            <a:off x="960120" y="1417320"/>
            <a:ext cx="10241280" cy="640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700" b="1">
                <a:solidFill>
                  <a:srgbClr val="192D3E"/>
                </a:solidFill>
                <a:latin typeface="Arial"/>
              </a:rPr>
              <a:t>El servei d'aplicació necessita una capacitat, no una tecnologia.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4EE3A6-5D0D-EFE6-3907-91BB6540F213}"/>
              </a:ext>
            </a:extLst>
          </p:cNvPr>
          <p:cNvSpPr/>
          <p:nvPr/>
        </p:nvSpPr>
        <p:spPr>
          <a:xfrm>
            <a:off x="822960" y="2743200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F1223D-ADAB-E817-C2A8-78FB596BC6F8}"/>
              </a:ext>
            </a:extLst>
          </p:cNvPr>
          <p:cNvSpPr txBox="1"/>
          <p:nvPr/>
        </p:nvSpPr>
        <p:spPr>
          <a:xfrm>
            <a:off x="1024128" y="3063240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Identificar
acoblament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60CDC97-EADA-2158-DAC3-FD27FD257839}"/>
              </a:ext>
            </a:extLst>
          </p:cNvPr>
          <p:cNvSpPr/>
          <p:nvPr/>
        </p:nvSpPr>
        <p:spPr>
          <a:xfrm>
            <a:off x="4553712" y="2743200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DA438C-C49C-5E46-6F61-14F3896E8657}"/>
              </a:ext>
            </a:extLst>
          </p:cNvPr>
          <p:cNvSpPr txBox="1"/>
          <p:nvPr/>
        </p:nvSpPr>
        <p:spPr>
          <a:xfrm>
            <a:off x="4754880" y="3063240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Definir
un port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4F82A2A-9916-E9F8-2F4C-A47E7CF470BE}"/>
              </a:ext>
            </a:extLst>
          </p:cNvPr>
          <p:cNvSpPr/>
          <p:nvPr/>
        </p:nvSpPr>
        <p:spPr>
          <a:xfrm>
            <a:off x="8284464" y="2743200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C32489-28BB-E0B4-6D88-054802179775}"/>
              </a:ext>
            </a:extLst>
          </p:cNvPr>
          <p:cNvSpPr txBox="1"/>
          <p:nvPr/>
        </p:nvSpPr>
        <p:spPr>
          <a:xfrm>
            <a:off x="8485632" y="3063240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Substituir
adaptadors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026507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Abans de parlar d'arquitectura, cal entendre el procediment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Sol·licitud → Expedient → Requisits generals
→ Requisits econòmics → Revisió acadèmica
→ Resolució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337560"/>
            <a:ext cx="3063240" cy="123444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3566160"/>
            <a:ext cx="2606040" cy="749808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2000" b="1">
                <a:solidFill>
                  <a:srgbClr val="192D3E"/>
                </a:solidFill>
                <a:latin typeface="Arial"/>
              </a:rPr>
              <a:t>Si no es compleixen
requisits econòmics,
l'expedient no avança.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Quina informació externa necessita el procediment?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Patrimoni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Béns immobles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97880"/>
            <a:ext cx="103327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66707A"/>
                </a:solidFill>
                <a:latin typeface="Arial"/>
              </a:rPr>
              <a:t>PICA: interoperabilitat administrativa · Cadastre: registre de béns immobles · SOAP/XML: missatgeria i format d'integració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Quan canvia la integració, canvia massa codi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600200"/>
            <a:ext cx="102412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100" b="1">
                <a:solidFill>
                  <a:srgbClr val="192D3E"/>
                </a:solidFill>
                <a:latin typeface="Arial"/>
              </a:rPr>
              <a:t>Cas d'ús  →  SOAP/XML  →  PICA  →  AEAT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743200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017520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El cas d'ús coneix
la infraestructura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743200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017520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8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canvi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b="1" dirty="0">
                <a:solidFill>
                  <a:srgbClr val="192D3E"/>
                </a:solidFill>
                <a:latin typeface="Arial"/>
              </a:rPr>
              <a:t>de tecnología de la API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impacta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en el cas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d’ús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2743200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2960370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L'acoplement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del cas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d’ús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infraestructura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tecnològica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concreta dificulta el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de software. 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0120" y="5074920"/>
            <a:ext cx="102412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500" b="1" dirty="0" err="1">
                <a:solidFill>
                  <a:srgbClr val="236092"/>
                </a:solidFill>
                <a:latin typeface="Arial"/>
              </a:rPr>
              <a:t>Separar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, </a:t>
            </a:r>
            <a:r>
              <a:rPr lang="es-ES" sz="2500" b="1" dirty="0" err="1">
                <a:solidFill>
                  <a:srgbClr val="236092"/>
                </a:solidFill>
                <a:latin typeface="Arial"/>
              </a:rPr>
              <a:t>domini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infraestructura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77639" y="151790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39" y="247802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343814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439826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Sistema extern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2300" b="1">
                <a:solidFill>
                  <a:srgbClr val="192D3E"/>
                </a:solidFill>
                <a:latin typeface="Arial"/>
              </a:rPr>
              <a:t>El port defineix què.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2300" b="1">
                <a:solidFill>
                  <a:srgbClr val="192D3E"/>
                </a:solidFill>
                <a:latin typeface="Arial"/>
              </a:rPr>
              <a:t>L'adaptador resol com.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AEAT 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Cadastre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B6A73A3E-C968-EC80-D679-F89DCA1E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54" y="1308010"/>
            <a:ext cx="11102753" cy="51659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Venda d'accions amb proveïdor de preus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exastock-sellstocks-arquitectura-v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64444"/>
            <a:ext cx="7863840" cy="4414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1481328"/>
            <a:ext cx="2743200" cy="7315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2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22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200" b="1" dirty="0" err="1">
                <a:solidFill>
                  <a:srgbClr val="192D3E"/>
                </a:solidFill>
                <a:latin typeface="Arial"/>
              </a:rPr>
              <a:t>problema</a:t>
            </a:r>
            <a:r>
              <a:rPr sz="2200" b="1" dirty="0">
                <a:solidFill>
                  <a:srgbClr val="192D3E"/>
                </a:solidFill>
                <a:latin typeface="Arial"/>
              </a:rPr>
              <a:t>,
</a:t>
            </a:r>
            <a:r>
              <a:rPr sz="2200" b="1" dirty="0" err="1">
                <a:solidFill>
                  <a:srgbClr val="192D3E"/>
                </a:solidFill>
                <a:latin typeface="Arial"/>
              </a:rPr>
              <a:t>diferent</a:t>
            </a:r>
            <a:r>
              <a:rPr sz="22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788920"/>
            <a:ext cx="2743200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62626"/>
                </a:solidFill>
                <a:latin typeface="Arial"/>
              </a:defRPr>
            </a:pPr>
            <a:r>
              <a:rPr dirty="0"/>
              <a:t>Cas </a:t>
            </a:r>
            <a:r>
              <a:rPr dirty="0" err="1"/>
              <a:t>d'ús</a:t>
            </a:r>
            <a:r>
              <a:rPr dirty="0"/>
              <a:t>: </a:t>
            </a:r>
            <a:r>
              <a:rPr dirty="0" err="1"/>
              <a:t>venda</a:t>
            </a:r>
            <a:r>
              <a:rPr dirty="0"/>
              <a:t> </a:t>
            </a:r>
            <a:r>
              <a:rPr dirty="0" err="1"/>
              <a:t>d'accions</a:t>
            </a:r>
            <a:endParaRPr dirty="0"/>
          </a:p>
          <a:p>
            <a:pPr>
              <a:spcAft>
                <a:spcPts val="800"/>
              </a:spcAft>
              <a:defRPr sz="1500">
                <a:solidFill>
                  <a:srgbClr val="262626"/>
                </a:solidFill>
                <a:latin typeface="Arial"/>
              </a:defRPr>
            </a:pPr>
            <a:r>
              <a:rPr dirty="0" err="1"/>
              <a:t>Necessitat</a:t>
            </a:r>
            <a:r>
              <a:rPr dirty="0"/>
              <a:t>: </a:t>
            </a:r>
            <a:r>
              <a:rPr dirty="0" err="1"/>
              <a:t>preu</a:t>
            </a:r>
            <a:r>
              <a:rPr dirty="0"/>
              <a:t> actual</a:t>
            </a:r>
          </a:p>
          <a:p>
            <a:pPr>
              <a:spcAft>
                <a:spcPts val="800"/>
              </a:spcAft>
              <a:defRPr sz="1500">
                <a:solidFill>
                  <a:srgbClr val="262626"/>
                </a:solidFill>
                <a:latin typeface="Arial"/>
              </a:defRPr>
            </a:pPr>
            <a:r>
              <a:rPr dirty="0"/>
              <a:t>No </a:t>
            </a:r>
            <a:r>
              <a:rPr dirty="0" err="1"/>
              <a:t>depèn</a:t>
            </a:r>
            <a:r>
              <a:rPr dirty="0"/>
              <a:t> de </a:t>
            </a:r>
            <a:r>
              <a:rPr dirty="0" err="1"/>
              <a:t>proveïdors</a:t>
            </a:r>
            <a:r>
              <a:rPr dirty="0"/>
              <a:t> </a:t>
            </a:r>
            <a:r>
              <a:rPr dirty="0" err="1"/>
              <a:t>concrets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549640" y="5669280"/>
            <a:ext cx="2743200" cy="2286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Port: StockPriceProviderPort
Adaptadors: Finnhub, Alpha Vantage, mock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Flux i codi essencial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El servei coordina. El domini decideix. La infraestructura adapta.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2677"/>
            <a:ext cx="7315200" cy="30698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645920"/>
            <a:ext cx="3520440" cy="1417320"/>
          </a:xfrm>
          <a:prstGeom prst="roundRect">
            <a:avLst/>
          </a:prstGeom>
          <a:solidFill>
            <a:srgbClr val="1F2429"/>
          </a:solidFill>
          <a:ln>
            <a:solidFill>
              <a:srgbClr val="1F2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93608" y="1810512"/>
            <a:ext cx="3118104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5F6F7"/>
                </a:solidFill>
                <a:latin typeface="Consolas"/>
              </a:rPr>
              <a:t>stockPrice = port.fetch(ticker);
result = portfolio.sell(...);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657600"/>
            <a:ext cx="306324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62626"/>
                </a:solidFill>
                <a:latin typeface="Arial"/>
              </a:defRPr>
            </a:pPr>
            <a:r>
              <a:t>El servei coordina</a:t>
            </a:r>
          </a:p>
          <a:p>
            <a:pPr>
              <a:spcAft>
                <a:spcPts val="800"/>
              </a:spcAft>
              <a:defRPr sz="1600">
                <a:solidFill>
                  <a:srgbClr val="262626"/>
                </a:solidFill>
                <a:latin typeface="Arial"/>
              </a:defRPr>
            </a:pPr>
            <a:r>
              <a:t>El port obté informació</a:t>
            </a:r>
          </a:p>
          <a:p>
            <a:pPr>
              <a:spcAft>
                <a:spcPts val="800"/>
              </a:spcAft>
              <a:defRPr sz="1600">
                <a:solidFill>
                  <a:srgbClr val="262626"/>
                </a:solidFill>
                <a:latin typeface="Arial"/>
              </a:defRPr>
            </a:pPr>
            <a:r>
              <a:t>El domini decideix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Demo controlada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>
                <a:solidFill>
                  <a:srgbClr val="192D3E"/>
                </a:solidFill>
                <a:latin typeface="Arial"/>
              </a:rPr>
              <a:t>HexaStock és un projecte open source propi utilitzat en docència universitària i formació o consultoria amb institucions financeres.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>
                <a:solidFill>
                  <a:srgbClr val="192D3E"/>
                </a:solidFill>
                <a:latin typeface="Arial"/>
              </a:rPr>
              <a:t>Mateix cas d'ús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>
                <a:solidFill>
                  <a:srgbClr val="192D3E"/>
                </a:solidFill>
                <a:latin typeface="Arial"/>
              </a:rPr>
              <a:t>Mateix servei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>
                <a:solidFill>
                  <a:srgbClr val="192D3E"/>
                </a:solidFill>
                <a:latin typeface="Arial"/>
              </a:rPr>
              <a:t>Mateix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600" b="1">
                <a:solidFill>
                  <a:srgbClr val="236092"/>
                </a:solidFill>
                <a:latin typeface="Arial"/>
              </a:rPr>
              <a:t>Canvi: adaptador real  ↔  adaptador 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Canvia la infraestructura; el cas d'ús roman estable.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Conclusió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L'arquitectura no elimina el canvi. El localitza.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efore-after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91858"/>
            <a:ext cx="7086600" cy="44857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874519"/>
            <a:ext cx="2971800" cy="173736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Quan el proveïdor canvia, volem canviar l'adaptador, no el cas d'ús ni el model de domini.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38360" y="293025"/>
            <a:ext cx="1783079" cy="337493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34440" y="1600200"/>
            <a:ext cx="9601200" cy="100584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2400" b="0">
                <a:solidFill>
                  <a:srgbClr val="192D3E"/>
                </a:solidFill>
                <a:latin typeface="Arial"/>
              </a:rPr>
              <a:t>Vull expressar el meu agraïment al TecnoCampus per l'oportunitat d'aprendre, créixer com a docent i transferir coneixement entre l'empresa i la universitat.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971800"/>
            <a:ext cx="9052560" cy="6858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100" b="0">
                <a:solidFill>
                  <a:srgbClr val="262626"/>
                </a:solidFill>
                <a:latin typeface="Arial"/>
              </a:rPr>
              <a:t>Aquesta experiència m'ha permès portar casos reals, criteri professional i arquitectura aplicada a l'aula.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65960" y="4343400"/>
            <a:ext cx="8275320" cy="914400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40280" y="4553712"/>
            <a:ext cx="7726679" cy="43891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600" b="0">
                <a:solidFill>
                  <a:srgbClr val="192D3E"/>
                </a:solidFill>
                <a:latin typeface="Arial"/>
              </a:rPr>
              <a:t>Agraïment especial al Dr. Josep Roure, company professor del TecnoCampus, amb qui he tingut l'oportunitat d'aprendre molt sobre arquitectura i software.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773</Words>
  <Application>Microsoft Macintosh PowerPoint</Application>
  <PresentationFormat>Panorámica</PresentationFormat>
  <Paragraphs>108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2</cp:revision>
  <dcterms:created xsi:type="dcterms:W3CDTF">2013-01-27T09:14:16Z</dcterms:created>
  <dcterms:modified xsi:type="dcterms:W3CDTF">2026-06-29T17:43:23Z</dcterms:modified>
  <cp:category/>
</cp:coreProperties>
</file>