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-24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La Salle: etapa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universitària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exigent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valuosa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Evitar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comparacions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jeràrquiques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entre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institucions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Motiu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principal: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alineació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acadèmica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amb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enginyeria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del software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Conciliació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factor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complementari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sostenibilitat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Encaix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curricular: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grau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porta la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gestió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els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propi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No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esmentar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persones concretes.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Frase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desig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consolidar-se ve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lluny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fora dels deu minuts. Mostrar només si el tribunal pregunta pel pas de La Salle al TecnoCampus, per l’encaix acadèmic o per la diferència d’orientació entre titulacions.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Resposta de reserva (30-45 s): El canvi no va respondre a una valoració jeràrquica entre institucions. La Salle em va permetre entrar en la docència universitària dins d’un entorn d’enginyeria molt sòlid, i hi vaig impartir assignatures directament vinculades a la informàtica i al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contrast entre els plans mostra orientacions curriculars diferents. La Salle manté un pes més marcat en telecomunicacions, electrònica, hardware i xarxes, coherent amb la seva tradició històrica. El grau del TecnoCampus concentra de manera més explícita l’Enginyeria del Software i els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 això vaig considerar que la meva experiència professional en arquitectura de software, backend, Java i sistemes d’informació podia tenir-hi un encaix més directe. No es tracta que una institució sigui millor que l’altra, sinó d’una major alineació entre especialització professional i projecte acadèmic.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 es mostri l’annex: no llegir tota la taula; assenyalar una diferència d’Enginyeria del Software o Sistemes d’Informació, una de hardware o xarxes, i concloure amb l’encaix acadèmic.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(consulta: 13 de juliol de 2026): https://www.salleurl.edu/ca/estudis/grau-en-enginyeria-informatica/pla-estudis · https://www.tecnocampus.cat/grau/grau-en-enginyeria-informatica-de-gestio-i-sistemes-dinformacio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Criteri de classificació: només assignatures amb nom verificat als plans vigents; obligatòries i optatives diferenciades. No es projecten sumes agregades d’ECTS perquè la classificació obligatòria/optativa de La Salle no va resultar estable entre consultes; per això s’usen formulacions qualitatives.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esmentar persones concretes ni relacions personals.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07308" y="3473415"/>
            <a:ext cx="1792224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 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3GSM/Mobile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i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 La Salle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programació orientada a objectes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Android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541600" cy="12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grau orientat a la gestió i als sistemes d’informació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El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desig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de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consolidar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plaça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no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neix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ara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: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ve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d’una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trajectòria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que hi ha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trobat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alineació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acadèmica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institucional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Laboratori d’Aplicacions Internet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Quatre registres dels dos darrers cursos: mitjana 9,03/10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/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/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/>
            </a:r>
            <a:r>
              <a:rPr lang="en-US" sz="1180">
                <a:solidFill>
                  <a:srgbClr val="2D343C"/>
                </a:solidFill>
                <a:latin typeface="Arial"/>
              </a:rPr>
              <a:t/>
            </a:r>
            <a:r>
              <a:rPr lang="en-US" sz="11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Domain-Driven Design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 en Educació en Enginyeria del Software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 de recerca: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Annex A. Contrast d’orientació curricular</a:t>
            </a: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La Salle URL i TecnoCampus: diferències d’èmfasi, no de qualitat</a:t>
            </a:r>
          </a:p>
        </p:txBody>
      </p:sp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" name="Taula Annex A"/>
          <p:cNvGraphicFramePr/>
          <p:nvPr/>
        </p:nvGraphicFramePr>
        <p:xfrm>
          <a:off x="640080" y="1350000"/>
          <a:ext cx="10911840" cy="32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80000"/>
                <a:gridCol w="4465920"/>
                <a:gridCol w="4465920"/>
              </a:tblGrid>
              <a:tr h="400000">
                <a:tc>
                  <a:txBody>
                    <a:bodyPr/>
                    <a:lstStyle/>
                    <a:p>
                      <a:pPr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Dimensió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La Salle URL · Grau en Enginyeria Informàtica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TecnoCampus (UPF) · Grau en Enginyeria Informàtica de Gestió i Sistemes d’Informació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Enginyeria del Software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Metodologia del Software I i II · Disseny i Programació Orientats a Objectes · Projectes de Programació I i II · Projectes Web I i II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Enginyeria del Software I, II i III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· Laboratori de Software I i II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Sistemes d’Informació i arquitectura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presència més puntual, principalment dins l’oferta optativa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Disseny de Sistemes d’Informació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· Sistemes d’Informació per a les Organitzacions · Gestió de Sistemes d’Informació · Laboratori d’Aplicacions Internet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Electrònica i hardware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pes obligatori destacat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: Electrònica bàsica · Sistemes digitals i microprocessadors · Arquitectura de computadors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presència introductòria: Introducció als Computadors · Programació de Microprocessadors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Xarxes i telecomunicacions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obligatòries de xarxes i </a:t>
                      </a:r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àmplia oferta optativa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de telecomunicacions: xarxes sense fils, comunicacions òptiques i digitals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Xarxes i Protocols · Xarxes i Serveis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Identitat del grau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tradició històrica d’enginyeria vinculada a les telecomunicacions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orientació explícita a Gestió i Sistemes d’Informació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, present al nom del grau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Conclusio"/>
          <p:cNvSpPr txBox="1"/>
          <p:nvPr/>
        </p:nvSpPr>
        <p:spPr>
          <a:xfrm>
            <a:off x="640080" y="5000000"/>
            <a:ext cx="10911840" cy="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450" b="1" dirty="0">
                <a:solidFill>
                  <a:srgbClr val="1C2B3B"/>
                </a:solidFill>
                <a:latin typeface="Arial"/>
              </a:rPr>
              <a:t>Aquest contrast ajuda a explicar un encaix més directe entre la meva especialització i el projecte acadèmic del TecnoCampus.</a:t>
            </a:r>
          </a:p>
        </p:txBody>
      </p:sp>
      <p:sp>
        <p:nvSpPr>
          <p:cNvPr id="32" name="TextBox NotaQualitat"/>
          <p:cNvSpPr txBox="1"/>
          <p:nvPr/>
        </p:nvSpPr>
        <p:spPr>
          <a:xfrm>
            <a:off x="640080" y="5480000"/>
            <a:ext cx="10911840" cy="3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150" i="1" dirty="0">
                <a:solidFill>
                  <a:srgbClr val="67717C"/>
                </a:solidFill>
                <a:latin typeface="Arial"/>
              </a:rPr>
              <a:t>No és una comparació de qualitat, sinó d’orientació curricular.</a:t>
            </a:r>
          </a:p>
        </p:txBody>
      </p:sp>
      <p:sp>
        <p:nvSpPr>
          <p:cNvPr id="33" name="TextBox Fonts"/>
          <p:cNvSpPr txBox="1"/>
          <p:nvPr/>
        </p:nvSpPr>
        <p:spPr>
          <a:xfrm>
            <a:off x="640080" y="6050000"/>
            <a:ext cx="10911840" cy="2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ca-ES" sz="860" dirty="0">
                <a:solidFill>
                  <a:srgbClr val="67717C"/>
                </a:solidFill>
                <a:latin typeface="Arial"/>
              </a:rPr>
              <a:t>Fonts: plans d’estudis oficials publicats del Grau en Enginyeria Informàtica (La Salle URL) i del Grau en Enginyeria Informàtica de Gestió i Sistemes d’Informació (TecnoCampus). Assignatures verificades el 13 de juliol de 2026.</a:t>
            </a: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0240000" y="6446520"/>
            <a:ext cx="10982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Annex 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"/>
          <p:cNvSpPr/>
          <p:nvPr/>
        </p:nvSpPr>
        <p:spPr>
          <a:xfrm>
            <a:off x="640080" y="356616"/>
            <a:ext cx="10652760" cy="4389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2500" b="1">
                <a:solidFill>
                  <a:srgbClr val="1C2B3B"/>
                </a:solidFill>
                <a:latin typeface="Arial"/>
              </a:rPr>
              <a:t>Annex B. Aportació científica de la tesi doctoral</a:t>
            </a:r>
          </a:p>
        </p:txBody>
      </p:sp>
      <p:sp>
        <p:nvSpPr>
          <p:cNvPr id="3" name="Subtítol"/>
          <p:cNvSpPr/>
          <p:nvPr/>
        </p:nvSpPr>
        <p:spPr>
          <a:xfrm>
            <a:off x="649224" y="804672"/>
            <a:ext cx="1014984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1150" b="0">
                <a:solidFill>
                  <a:srgbClr val="67717C"/>
                </a:solidFill>
                <a:latin typeface="Arial"/>
              </a:rPr>
              <a:t>De línies existents a una integració curricular, mesurable i longitudinal</a:t>
            </a:r>
          </a:p>
        </p:txBody>
      </p:sp>
      <p:sp>
        <p:nvSpPr>
          <p:cNvPr id="4" name="Separador"/>
          <p:cNvSpPr/>
          <p:nvPr/>
        </p:nvSpPr>
        <p:spPr>
          <a:xfrm>
            <a:off x="640080" y="1097280"/>
            <a:ext cx="10789920" cy="1371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5" name="Peu esquerre"/>
          <p:cNvSpPr/>
          <p:nvPr/>
        </p:nvSpPr>
        <p:spPr>
          <a:xfrm>
            <a:off x="731520" y="6519672"/>
            <a:ext cx="868680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74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6" name="Peu dret"/>
          <p:cNvSpPr/>
          <p:nvPr/>
        </p:nvSpPr>
        <p:spPr>
          <a:xfrm>
            <a:off x="10744200" y="6519672"/>
            <a:ext cx="68580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r">
              <a:spcAft>
                <a:spcPts val="0"/>
              </a:spcAft>
            </a:pPr>
            <a:r>
              <a:rPr lang="ca-ES" sz="740" b="0">
                <a:solidFill>
                  <a:srgbClr val="67717C"/>
                </a:solidFill>
                <a:latin typeface="Arial"/>
              </a:rPr>
              <a:t>Annex B</a:t>
            </a:r>
          </a:p>
        </p:txBody>
      </p:sp>
      <p:sp>
        <p:nvSpPr>
          <p:cNvPr id="7" name="QUÈ JA EXISTEIX"/>
          <p:cNvSpPr/>
          <p:nvPr/>
        </p:nvSpPr>
        <p:spPr>
          <a:xfrm>
            <a:off x="658368" y="1261872"/>
            <a:ext cx="1051560" cy="21945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820" b="1">
                <a:solidFill>
                  <a:srgbClr val="2A5C84"/>
                </a:solidFill>
                <a:latin typeface="Arial"/>
              </a:rPr>
              <a:t>QUÈ JA EXISTEIX</a:t>
            </a:r>
          </a:p>
        </p:txBody>
      </p:sp>
      <p:sp>
        <p:nvSpPr>
          <p:cNvPr id="8" name="Antecedent 1"/>
          <p:cNvSpPr/>
          <p:nvPr/>
        </p:nvSpPr>
        <p:spPr>
          <a:xfrm>
            <a:off x="1783080" y="1207008"/>
            <a:ext cx="1938528" cy="512064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ABP i treball</a:t>
            </a:r>
          </a:p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en equip</a:t>
            </a:r>
          </a:p>
        </p:txBody>
      </p:sp>
      <p:sp>
        <p:nvSpPr>
          <p:cNvPr id="9" name="Antecedent 2"/>
          <p:cNvSpPr/>
          <p:nvPr/>
        </p:nvSpPr>
        <p:spPr>
          <a:xfrm>
            <a:off x="4041648" y="1207008"/>
            <a:ext cx="1938528" cy="512064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empatia i</a:t>
            </a:r>
          </a:p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comunicació</a:t>
            </a:r>
          </a:p>
        </p:txBody>
      </p:sp>
      <p:sp>
        <p:nvSpPr>
          <p:cNvPr id="10" name="Antecedent 3"/>
          <p:cNvSpPr/>
          <p:nvPr/>
        </p:nvSpPr>
        <p:spPr>
          <a:xfrm>
            <a:off x="6300216" y="1207008"/>
            <a:ext cx="1938528" cy="512064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competències</a:t>
            </a:r>
          </a:p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socioemocionals</a:t>
            </a:r>
          </a:p>
        </p:txBody>
      </p:sp>
      <p:sp>
        <p:nvSpPr>
          <p:cNvPr id="11" name="Antecedent 4"/>
          <p:cNvSpPr/>
          <p:nvPr/>
        </p:nvSpPr>
        <p:spPr>
          <a:xfrm>
            <a:off x="8558784" y="1207008"/>
            <a:ext cx="1938528" cy="512064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educació en</a:t>
            </a:r>
          </a:p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enginyeria</a:t>
            </a:r>
          </a:p>
        </p:txBody>
      </p:sp>
      <p:sp>
        <p:nvSpPr>
          <p:cNvPr id="12" name="ON SE SITUA"/>
          <p:cNvSpPr/>
          <p:nvPr/>
        </p:nvSpPr>
        <p:spPr>
          <a:xfrm>
            <a:off x="658368" y="1938528"/>
            <a:ext cx="1051560" cy="21945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820" b="1">
                <a:solidFill>
                  <a:srgbClr val="2A5C84"/>
                </a:solidFill>
                <a:latin typeface="Arial"/>
              </a:rPr>
              <a:t>ON SE SITUA</a:t>
            </a:r>
          </a:p>
        </p:txBody>
      </p:sp>
      <p:sp>
        <p:nvSpPr>
          <p:cNvPr id="13" name="Connector"/>
          <p:cNvSpPr/>
          <p:nvPr/>
        </p:nvSpPr>
        <p:spPr>
          <a:xfrm>
            <a:off x="2240280" y="2532888"/>
            <a:ext cx="18288" cy="31089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4" name="Connector"/>
          <p:cNvSpPr/>
          <p:nvPr/>
        </p:nvSpPr>
        <p:spPr>
          <a:xfrm>
            <a:off x="4151376" y="2532888"/>
            <a:ext cx="18288" cy="31089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5" name="Connector"/>
          <p:cNvSpPr/>
          <p:nvPr/>
        </p:nvSpPr>
        <p:spPr>
          <a:xfrm>
            <a:off x="6062472" y="2532888"/>
            <a:ext cx="18288" cy="31089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6" name="Connector"/>
          <p:cNvSpPr/>
          <p:nvPr/>
        </p:nvSpPr>
        <p:spPr>
          <a:xfrm>
            <a:off x="7973568" y="2532888"/>
            <a:ext cx="18288" cy="31089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7" name="Connector"/>
          <p:cNvSpPr/>
          <p:nvPr/>
        </p:nvSpPr>
        <p:spPr>
          <a:xfrm>
            <a:off x="9884664" y="2532888"/>
            <a:ext cx="18288" cy="31089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8" name="Dimensió 1"/>
          <p:cNvSpPr/>
          <p:nvPr/>
        </p:nvSpPr>
        <p:spPr>
          <a:xfrm>
            <a:off x="1417320" y="1984248"/>
            <a:ext cx="1664208" cy="557784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Enginyeria del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Software</a:t>
            </a:r>
          </a:p>
        </p:txBody>
      </p:sp>
      <p:sp>
        <p:nvSpPr>
          <p:cNvPr id="19" name="Dimensió 2"/>
          <p:cNvSpPr/>
          <p:nvPr/>
        </p:nvSpPr>
        <p:spPr>
          <a:xfrm>
            <a:off x="3328416" y="1984248"/>
            <a:ext cx="1664208" cy="557784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integració curricular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en ABP</a:t>
            </a:r>
          </a:p>
        </p:txBody>
      </p:sp>
      <p:sp>
        <p:nvSpPr>
          <p:cNvPr id="20" name="Dimensió 3"/>
          <p:cNvSpPr/>
          <p:nvPr/>
        </p:nvSpPr>
        <p:spPr>
          <a:xfrm>
            <a:off x="5239512" y="1984248"/>
            <a:ext cx="1664208" cy="557784"/>
          </a:xfrm>
          <a:prstGeom prst="round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empatia · escolta activa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· comunicació assertiva</a:t>
            </a:r>
          </a:p>
        </p:txBody>
      </p:sp>
      <p:sp>
        <p:nvSpPr>
          <p:cNvPr id="21" name="Dimensió 4"/>
          <p:cNvSpPr/>
          <p:nvPr/>
        </p:nvSpPr>
        <p:spPr>
          <a:xfrm>
            <a:off x="7150608" y="1984248"/>
            <a:ext cx="1664208" cy="557784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disseny mixt i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quasiexperimental</a:t>
            </a:r>
          </a:p>
        </p:txBody>
      </p:sp>
      <p:sp>
        <p:nvSpPr>
          <p:cNvPr id="22" name="Dimensió 5"/>
          <p:cNvSpPr/>
          <p:nvPr/>
        </p:nvSpPr>
        <p:spPr>
          <a:xfrm>
            <a:off x="9061704" y="1984248"/>
            <a:ext cx="1664208" cy="557784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dues assignatures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consecutives</a:t>
            </a:r>
          </a:p>
        </p:txBody>
      </p:sp>
      <p:sp>
        <p:nvSpPr>
          <p:cNvPr id="23" name="Convergència"/>
          <p:cNvSpPr/>
          <p:nvPr/>
        </p:nvSpPr>
        <p:spPr>
          <a:xfrm>
            <a:off x="1965960" y="2816352"/>
            <a:ext cx="8275320" cy="502920"/>
          </a:xfrm>
          <a:prstGeom prst="roundRect">
            <a:avLst/>
          </a:prstGeom>
          <a:solidFill>
            <a:srgbClr val="1C2B3B"/>
          </a:solidFill>
          <a:ln w="9525">
            <a:solidFill>
              <a:srgbClr val="1C2B3B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220" b="1">
                <a:solidFill>
                  <a:srgbClr val="FFFFFF"/>
                </a:solidFill>
                <a:latin typeface="Arial"/>
              </a:rPr>
              <a:t>Intervenció integrada, mesurable i situada en context docent real</a:t>
            </a:r>
          </a:p>
        </p:txBody>
      </p:sp>
      <p:sp>
        <p:nvSpPr>
          <p:cNvPr id="24" name="APORTACIÓ"/>
          <p:cNvSpPr/>
          <p:nvPr/>
        </p:nvSpPr>
        <p:spPr>
          <a:xfrm>
            <a:off x="658368" y="3584448"/>
            <a:ext cx="1051560" cy="21945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820" b="1">
                <a:solidFill>
                  <a:srgbClr val="2A5C84"/>
                </a:solidFill>
                <a:latin typeface="Arial"/>
              </a:rPr>
              <a:t>APORTACIÓ</a:t>
            </a:r>
          </a:p>
        </p:txBody>
      </p:sp>
      <p:sp>
        <p:nvSpPr>
          <p:cNvPr id="25" name="Resultat 1"/>
          <p:cNvSpPr/>
          <p:nvPr/>
        </p:nvSpPr>
        <p:spPr>
          <a:xfrm>
            <a:off x="1828800" y="3529584"/>
            <a:ext cx="2578608" cy="530352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evidència longitudinal</a:t>
            </a:r>
          </a:p>
        </p:txBody>
      </p:sp>
      <p:sp>
        <p:nvSpPr>
          <p:cNvPr id="26" name="Resultat 2"/>
          <p:cNvSpPr/>
          <p:nvPr/>
        </p:nvSpPr>
        <p:spPr>
          <a:xfrm>
            <a:off x="4727448" y="3529584"/>
            <a:ext cx="2578608" cy="530352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model d'intervenció transferible</a:t>
            </a:r>
          </a:p>
        </p:txBody>
      </p:sp>
      <p:sp>
        <p:nvSpPr>
          <p:cNvPr id="27" name="Resultat 3"/>
          <p:cNvSpPr/>
          <p:nvPr/>
        </p:nvSpPr>
        <p:spPr>
          <a:xfrm>
            <a:off x="7626096" y="3529584"/>
            <a:ext cx="2578608" cy="530352"/>
          </a:xfrm>
          <a:prstGeom prst="round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20" b="1">
                <a:solidFill>
                  <a:srgbClr val="2D343C"/>
                </a:solidFill>
                <a:latin typeface="Arial"/>
              </a:rPr>
              <a:t>connexió universitat–professió</a:t>
            </a:r>
          </a:p>
        </p:txBody>
      </p:sp>
      <p:sp>
        <p:nvSpPr>
          <p:cNvPr id="28" name="Missatge final"/>
          <p:cNvSpPr/>
          <p:nvPr/>
        </p:nvSpPr>
        <p:spPr>
          <a:xfrm>
            <a:off x="841248" y="4297680"/>
            <a:ext cx="1051560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200" b="1">
                <a:solidFill>
                  <a:srgbClr val="1C2B3B"/>
                </a:solidFill>
                <a:latin typeface="Arial"/>
              </a:rPr>
              <a:t>La novetat no és estudiar una competència de manera aïllada, sinó integrar-ne el cultiu, l'avaluació i el seguiment dins la formació ordinària en Enginyeria del Software.</a:t>
            </a:r>
          </a:p>
        </p:txBody>
      </p:sp>
      <p:sp>
        <p:nvSpPr>
          <p:cNvPr id="29" name="Formulació prudent"/>
          <p:cNvSpPr/>
          <p:nvPr/>
        </p:nvSpPr>
        <p:spPr>
          <a:xfrm>
            <a:off x="960120" y="5148072"/>
            <a:ext cx="10241280" cy="38404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920" b="0" i="1">
                <a:solidFill>
                  <a:srgbClr val="67717C"/>
                </a:solidFill>
                <a:latin typeface="Arial"/>
              </a:rPr>
              <a:t>La literatura existent aporta antecedents rellevants, però mostra una integració encara fragmentada i una necessitat de més evidència curricular, mesurable i longitudinal.</a:t>
            </a:r>
          </a:p>
        </p:txBody>
      </p:sp>
      <p:sp>
        <p:nvSpPr>
          <p:cNvPr id="30" name="Fonament ABP"/>
          <p:cNvSpPr/>
          <p:nvPr/>
        </p:nvSpPr>
        <p:spPr>
          <a:xfrm>
            <a:off x="960120" y="5650992"/>
            <a:ext cx="10241280" cy="31089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40" b="0">
                <a:solidFill>
                  <a:srgbClr val="67717C"/>
                </a:solidFill>
                <a:latin typeface="Arial"/>
              </a:rPr>
              <a:t>L'ABP aporta un context professionalitzador viable; la mida dels equips i la durada fonamenten el disseny, però no constitueixen el buit central.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"/>
          <p:cNvSpPr/>
          <p:nvPr/>
        </p:nvSpPr>
        <p:spPr>
          <a:xfrm>
            <a:off x="640080" y="356616"/>
            <a:ext cx="10652760" cy="4389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2350" b="1">
                <a:solidFill>
                  <a:srgbClr val="1C2B3B"/>
                </a:solidFill>
                <a:latin typeface="Arial"/>
              </a:rPr>
              <a:t>Annex C. Estratègia de desenvolupament i modalitats de tesi</a:t>
            </a:r>
          </a:p>
        </p:txBody>
      </p:sp>
      <p:sp>
        <p:nvSpPr>
          <p:cNvPr id="3" name="Subtítol"/>
          <p:cNvSpPr/>
          <p:nvPr/>
        </p:nvSpPr>
        <p:spPr>
          <a:xfrm>
            <a:off x="649224" y="804672"/>
            <a:ext cx="1014984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1150" b="0">
                <a:solidFill>
                  <a:srgbClr val="67717C"/>
                </a:solidFill>
                <a:latin typeface="Arial"/>
              </a:rPr>
              <a:t>Objectiu ambiciós, planificació realista i flexibilitat normativa</a:t>
            </a:r>
          </a:p>
        </p:txBody>
      </p:sp>
      <p:sp>
        <p:nvSpPr>
          <p:cNvPr id="4" name="Separador"/>
          <p:cNvSpPr/>
          <p:nvPr/>
        </p:nvSpPr>
        <p:spPr>
          <a:xfrm>
            <a:off x="640080" y="1097280"/>
            <a:ext cx="10789920" cy="1371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5" name="Peu esquerre"/>
          <p:cNvSpPr/>
          <p:nvPr/>
        </p:nvSpPr>
        <p:spPr>
          <a:xfrm>
            <a:off x="731520" y="6519672"/>
            <a:ext cx="868680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74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6" name="Peu dret"/>
          <p:cNvSpPr/>
          <p:nvPr/>
        </p:nvSpPr>
        <p:spPr>
          <a:xfrm>
            <a:off x="10744200" y="6519672"/>
            <a:ext cx="68580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r">
              <a:spcAft>
                <a:spcPts val="0"/>
              </a:spcAft>
            </a:pPr>
            <a:r>
              <a:rPr lang="ca-ES" sz="740" b="0">
                <a:solidFill>
                  <a:srgbClr val="67717C"/>
                </a:solidFill>
                <a:latin typeface="Arial"/>
              </a:rPr>
              <a:t>Annex C</a:t>
            </a:r>
          </a:p>
        </p:txBody>
      </p:sp>
      <p:sp>
        <p:nvSpPr>
          <p:cNvPr id="7" name="Base comuna"/>
          <p:cNvSpPr/>
          <p:nvPr/>
        </p:nvSpPr>
        <p:spPr>
          <a:xfrm>
            <a:off x="786384" y="1243584"/>
            <a:ext cx="10607040" cy="786384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300"/>
              </a:spcAft>
            </a:pPr>
            <a:r>
              <a:rPr lang="ca-ES" sz="1400" b="1">
                <a:solidFill>
                  <a:srgbClr val="1C2B3B"/>
                </a:solidFill>
                <a:latin typeface="Arial"/>
              </a:rPr>
              <a:t>Una mateixa recerca doctoral original</a:t>
            </a:r>
          </a:p>
          <a:p>
            <a:pPr algn="ctr">
              <a:spcAft>
                <a:spcPts val="0"/>
              </a:spcAft>
            </a:pPr>
            <a:r>
              <a:rPr lang="ca-ES" sz="960" b="0">
                <a:solidFill>
                  <a:srgbClr val="2D343C"/>
                </a:solidFill>
                <a:latin typeface="Arial"/>
              </a:rPr>
              <a:t>pla de recerca aprovat i seguiment semestral · treball de camp, anàlisi i contribució científica · controls de qualitat, predefensa i avaluació externa</a:t>
            </a:r>
          </a:p>
        </p:txBody>
      </p:sp>
      <p:sp>
        <p:nvSpPr>
          <p:cNvPr id="8" name="Itinerari 1"/>
          <p:cNvSpPr/>
          <p:nvPr/>
        </p:nvSpPr>
        <p:spPr>
          <a:xfrm>
            <a:off x="786384" y="2240280"/>
            <a:ext cx="5074920" cy="2039112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9" name="Títol itinerari 1"/>
          <p:cNvSpPr/>
          <p:nvPr/>
        </p:nvSpPr>
        <p:spPr>
          <a:xfrm>
            <a:off x="1014984" y="2386584"/>
            <a:ext cx="4617720" cy="34747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550" b="1">
                <a:solidFill>
                  <a:srgbClr val="1C2B3B"/>
                </a:solidFill>
                <a:latin typeface="Arial"/>
              </a:rPr>
              <a:t>Compendi de publicacions</a:t>
            </a:r>
          </a:p>
        </p:txBody>
      </p:sp>
      <p:sp>
        <p:nvSpPr>
          <p:cNvPr id="10" name="Etiqueta itinerari 1"/>
          <p:cNvSpPr/>
          <p:nvPr/>
        </p:nvSpPr>
        <p:spPr>
          <a:xfrm>
            <a:off x="2359152" y="2779776"/>
            <a:ext cx="1920240" cy="274320"/>
          </a:xfrm>
          <a:prstGeom prst="roundRect">
            <a:avLst/>
          </a:prstGeom>
          <a:solidFill>
            <a:srgbClr val="2A5C84"/>
          </a:solidFill>
          <a:ln w="9525">
            <a:solidFill>
              <a:srgbClr val="2A5C84"/>
            </a:solidFill>
          </a:ln>
        </p:spPr>
        <p:txBody>
          <a:bodyPr lIns="25400" tIns="12700" rIns="25400" bIns="127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20" b="1">
                <a:solidFill>
                  <a:srgbClr val="FFFFFF"/>
                </a:solidFill>
                <a:latin typeface="Arial"/>
              </a:rPr>
              <a:t>OBJECTIU PREFERENT</a:t>
            </a:r>
          </a:p>
        </p:txBody>
      </p:sp>
      <p:sp>
        <p:nvSpPr>
          <p:cNvPr id="11" name="Contingut itinerari 1"/>
          <p:cNvSpPr/>
          <p:nvPr/>
        </p:nvSpPr>
        <p:spPr>
          <a:xfrm>
            <a:off x="1170432" y="3136392"/>
            <a:ext cx="4370832" cy="96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rmAutofit fontScale="92000" lnSpcReduction="8000"/>
          </a:bodyPr>
          <a:lstStyle/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mínim de 3 contribucions publicades o admeses</a:t>
            </a:r>
          </a:p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autorització de la direcció i de la Comissió Acadèmica</a:t>
            </a:r>
          </a:p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primer autor en la majoria</a:t>
            </a:r>
          </a:p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objectiu acordat amb la direcció de la tesi</a:t>
            </a:r>
          </a:p>
        </p:txBody>
      </p:sp>
      <p:sp>
        <p:nvSpPr>
          <p:cNvPr id="12" name="Itinerari 2"/>
          <p:cNvSpPr/>
          <p:nvPr/>
        </p:nvSpPr>
        <p:spPr>
          <a:xfrm>
            <a:off x="6199632" y="2240280"/>
            <a:ext cx="5074920" cy="2039112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3" name="Títol itinerari 2"/>
          <p:cNvSpPr/>
          <p:nvPr/>
        </p:nvSpPr>
        <p:spPr>
          <a:xfrm>
            <a:off x="6428232" y="2386584"/>
            <a:ext cx="4617720" cy="34747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550" b="1">
                <a:solidFill>
                  <a:srgbClr val="1C2B3B"/>
                </a:solidFill>
                <a:latin typeface="Arial"/>
              </a:rPr>
              <a:t>Tesi monogràfica</a:t>
            </a:r>
          </a:p>
        </p:txBody>
      </p:sp>
      <p:sp>
        <p:nvSpPr>
          <p:cNvPr id="14" name="Etiqueta itinerari 2"/>
          <p:cNvSpPr/>
          <p:nvPr/>
        </p:nvSpPr>
        <p:spPr>
          <a:xfrm>
            <a:off x="7772400" y="2779776"/>
            <a:ext cx="1920240" cy="274320"/>
          </a:xfrm>
          <a:prstGeom prst="roundRect">
            <a:avLst/>
          </a:prstGeom>
          <a:solidFill>
            <a:srgbClr val="2A5C84"/>
          </a:solidFill>
          <a:ln w="9525">
            <a:solidFill>
              <a:srgbClr val="2A5C84"/>
            </a:solidFill>
          </a:ln>
        </p:spPr>
        <p:txBody>
          <a:bodyPr lIns="25400" tIns="12700" rIns="25400" bIns="127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20" b="1">
                <a:solidFill>
                  <a:srgbClr val="FFFFFF"/>
                </a:solidFill>
                <a:latin typeface="Arial"/>
              </a:rPr>
              <a:t>FLEXIBILITAT NORMATIVA</a:t>
            </a:r>
          </a:p>
        </p:txBody>
      </p:sp>
      <p:sp>
        <p:nvSpPr>
          <p:cNvPr id="15" name="Contingut itinerari 2"/>
          <p:cNvSpPr/>
          <p:nvPr/>
        </p:nvSpPr>
        <p:spPr>
          <a:xfrm>
            <a:off x="6583680" y="3136392"/>
            <a:ext cx="4370832" cy="96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rmAutofit fontScale="92000" lnSpcReduction="8000"/>
          </a:bodyPr>
          <a:lstStyle/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treball doctoral original i unitari</a:t>
            </a:r>
          </a:p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1 contribució científica de qualitat per sol·licitar el dipòsit</a:t>
            </a:r>
          </a:p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mateixos controls generals de qualitat</a:t>
            </a:r>
          </a:p>
          <a:p>
            <a:pPr algn="l" marL="240000" indent="-180000">
              <a:spcAft>
                <a:spcPts val="300"/>
              </a:spcAft>
              <a:buChar char="•"/>
            </a:pPr>
            <a:r>
              <a:rPr lang="ca-ES" sz="1020" b="0">
                <a:solidFill>
                  <a:srgbClr val="2D343C"/>
                </a:solidFill>
                <a:latin typeface="Arial"/>
              </a:rPr>
              <a:t>alternativa vàlida davant la incertesa editorial</a:t>
            </a:r>
          </a:p>
        </p:txBody>
      </p:sp>
      <p:sp>
        <p:nvSpPr>
          <p:cNvPr id="16" name="Línia temporal"/>
          <p:cNvSpPr/>
          <p:nvPr/>
        </p:nvSpPr>
        <p:spPr>
          <a:xfrm>
            <a:off x="822960" y="4526280"/>
            <a:ext cx="10533888" cy="438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60" b="1">
                <a:solidFill>
                  <a:srgbClr val="2A5C84"/>
                </a:solidFill>
                <a:latin typeface="Arial"/>
              </a:rPr>
              <a:t>Planificació orientada a dos anys, condicionada pel progrés de la recerca i pels processos editorials.</a:t>
            </a:r>
          </a:p>
        </p:txBody>
      </p:sp>
      <p:sp>
        <p:nvSpPr>
          <p:cNvPr id="17" name="Missatge final"/>
          <p:cNvSpPr/>
          <p:nvPr/>
        </p:nvSpPr>
        <p:spPr>
          <a:xfrm>
            <a:off x="941832" y="5138928"/>
            <a:ext cx="10296144" cy="54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140" b="1">
                <a:solidFill>
                  <a:srgbClr val="1C2B3B"/>
                </a:solidFill>
                <a:latin typeface="Arial"/>
              </a:rPr>
              <a:t>L'estratègia combina ambició científica i gestió responsable del risc: treballar pel compendi sense fer dependre la viabilitat del doctorat exclusivament dels calendaris editorials.</a:t>
            </a:r>
          </a:p>
        </p:txBody>
      </p:sp>
      <p:sp>
        <p:nvSpPr>
          <p:cNvPr id="18" name="Font normativa"/>
          <p:cNvSpPr/>
          <p:nvPr/>
        </p:nvSpPr>
        <p:spPr>
          <a:xfrm>
            <a:off x="841248" y="5870448"/>
            <a:ext cx="10515600" cy="2560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30" b="0">
                <a:solidFill>
                  <a:srgbClr val="67717C"/>
                </a:solidFill>
                <a:latin typeface="Arial"/>
              </a:rPr>
              <a:t>Font normativa: Reglament dels estudis de doctorat de la UDIMA, versió maig de 2026, articles 33 i 34.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"/>
          <p:cNvSpPr/>
          <p:nvPr/>
        </p:nvSpPr>
        <p:spPr>
          <a:xfrm>
            <a:off x="640080" y="356616"/>
            <a:ext cx="10652760" cy="43891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2500" b="1">
                <a:solidFill>
                  <a:srgbClr val="1C2B3B"/>
                </a:solidFill>
                <a:latin typeface="Arial"/>
              </a:rPr>
              <a:t>Annex D. Demanda professional de competències socioemocionals</a:t>
            </a:r>
          </a:p>
        </p:txBody>
      </p:sp>
      <p:sp>
        <p:nvSpPr>
          <p:cNvPr id="3" name="Subtítol"/>
          <p:cNvSpPr/>
          <p:nvPr/>
        </p:nvSpPr>
        <p:spPr>
          <a:xfrm>
            <a:off x="649224" y="804672"/>
            <a:ext cx="1014984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1150" b="0">
                <a:solidFill>
                  <a:srgbClr val="67717C"/>
                </a:solidFill>
                <a:latin typeface="Arial"/>
              </a:rPr>
              <a:t>Mostra internacional actual · resultats amb controls de concentració per empresa</a:t>
            </a:r>
          </a:p>
        </p:txBody>
      </p:sp>
      <p:sp>
        <p:nvSpPr>
          <p:cNvPr id="4" name="Separador"/>
          <p:cNvSpPr/>
          <p:nvPr/>
        </p:nvSpPr>
        <p:spPr>
          <a:xfrm>
            <a:off x="640080" y="1097280"/>
            <a:ext cx="10789920" cy="13716"/>
          </a:xfrm>
          <a:prstGeom prst="rect">
            <a:avLst/>
          </a:prstGeom>
          <a:solidFill>
            <a:srgbClr val="D3DAE2"/>
          </a:solidFill>
          <a:ln w="0">
            <a:noFill/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5" name="Peu esquerre"/>
          <p:cNvSpPr/>
          <p:nvPr/>
        </p:nvSpPr>
        <p:spPr>
          <a:xfrm>
            <a:off x="731520" y="6519672"/>
            <a:ext cx="868680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l">
              <a:spcAft>
                <a:spcPts val="0"/>
              </a:spcAft>
            </a:pPr>
            <a:r>
              <a:rPr lang="ca-ES" sz="740" b="0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6" name="Peu dret"/>
          <p:cNvSpPr/>
          <p:nvPr/>
        </p:nvSpPr>
        <p:spPr>
          <a:xfrm>
            <a:off x="10744200" y="6519672"/>
            <a:ext cx="685800" cy="18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r">
              <a:spcAft>
                <a:spcPts val="0"/>
              </a:spcAft>
            </a:pPr>
            <a:r>
              <a:rPr lang="ca-ES" sz="740" b="0">
                <a:solidFill>
                  <a:srgbClr val="67717C"/>
                </a:solidFill>
                <a:latin typeface="Arial"/>
              </a:rPr>
              <a:t>Annex D</a:t>
            </a:r>
          </a:p>
        </p:txBody>
      </p:sp>
      <p:sp>
        <p:nvSpPr>
          <p:cNvPr id="7" name="Etiqueta cas"/>
          <p:cNvSpPr/>
          <p:nvPr/>
        </p:nvSpPr>
        <p:spPr>
          <a:xfrm>
            <a:off x="768096" y="1280160"/>
            <a:ext cx="5669280" cy="2560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30" b="1">
                <a:solidFill>
                  <a:srgbClr val="2A5C84"/>
                </a:solidFill>
                <a:latin typeface="Arial"/>
              </a:rPr>
              <a:t>222 OFERTES · 102 EMPRESES · 6 FONTS</a:t>
            </a:r>
          </a:p>
        </p:txBody>
      </p:sp>
      <p:sp>
        <p:nvSpPr>
          <p:cNvPr id="8" name="Segment 1"/>
          <p:cNvSpPr/>
          <p:nvPr/>
        </p:nvSpPr>
        <p:spPr>
          <a:xfrm>
            <a:off x="822960" y="1664208"/>
            <a:ext cx="1581912" cy="713232"/>
          </a:xfrm>
          <a:prstGeom prst="rect">
            <a:avLst/>
          </a:prstGeom>
          <a:solidFill>
            <a:srgbClr val="E8F1F8"/>
          </a:solidFill>
          <a:ln w="19050">
            <a:solidFill>
              <a:srgbClr val="FFFFFF"/>
            </a:solidFill>
          </a:ln>
        </p:spPr>
        <p:txBody>
          <a:bodyPr lIns="25400" tIns="25400" rIns="25400" bIns="254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≥1 competència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84,7 %</a:t>
            </a:r>
          </a:p>
          <a:p>
            <a:pPr algn="ctr">
              <a:spcAft>
                <a:spcPts val="0"/>
              </a:spcAft>
            </a:pPr>
            <a:r>
              <a:rPr lang="ca-ES" sz="1100" b="1">
                <a:solidFill>
                  <a:srgbClr val="2A5C84"/>
                </a:solidFill>
                <a:latin typeface="Arial"/>
              </a:rPr>
              <a:t>188 de 222</a:t>
            </a:r>
          </a:p>
        </p:txBody>
      </p:sp>
      <p:sp>
        <p:nvSpPr>
          <p:cNvPr id="9" name="Segment 2"/>
          <p:cNvSpPr/>
          <p:nvPr/>
        </p:nvSpPr>
        <p:spPr>
          <a:xfrm>
            <a:off x="2404872" y="1664208"/>
            <a:ext cx="1581912" cy="713232"/>
          </a:xfrm>
          <a:prstGeom prst="rect">
            <a:avLst/>
          </a:prstGeom>
          <a:solidFill>
            <a:srgbClr val="FFF4DB"/>
          </a:solidFill>
          <a:ln w="19050">
            <a:solidFill>
              <a:srgbClr val="FFFFFF"/>
            </a:solidFill>
          </a:ln>
        </p:spPr>
        <p:txBody>
          <a:bodyPr lIns="25400" tIns="25400" rIns="25400" bIns="254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≥2 competències</a:t>
            </a:r>
          </a:p>
          <a:p>
            <a:pPr algn="ctr">
              <a:spcAft>
                <a:spcPts val="0"/>
              </a:spcAft>
            </a:pPr>
            <a:r>
              <a:rPr lang="ca-ES" sz="1100" b="1">
                <a:solidFill>
                  <a:srgbClr val="2A5C84"/>
                </a:solidFill>
                <a:latin typeface="Arial"/>
              </a:rPr>
              <a:t>60,8 %</a:t>
            </a:r>
          </a:p>
        </p:txBody>
      </p:sp>
      <p:sp>
        <p:nvSpPr>
          <p:cNvPr id="10" name="Segment 3"/>
          <p:cNvSpPr/>
          <p:nvPr/>
        </p:nvSpPr>
        <p:spPr>
          <a:xfrm>
            <a:off x="3986784" y="1664208"/>
            <a:ext cx="2368296" cy="713232"/>
          </a:xfrm>
          <a:prstGeom prst="rect">
            <a:avLst/>
          </a:prstGeom>
          <a:solidFill>
            <a:srgbClr val="EBF6F0"/>
          </a:solidFill>
          <a:ln w="19050">
            <a:solidFill>
              <a:srgbClr val="FFFFFF"/>
            </a:solidFill>
          </a:ln>
        </p:spPr>
        <p:txBody>
          <a:bodyPr lIns="25400" tIns="25400" rIns="25400" bIns="254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PES IGUAL</a:t>
            </a:r>
          </a:p>
          <a:p>
            <a:pPr algn="ctr">
              <a:spcAft>
                <a:spcPts val="0"/>
              </a:spcAft>
            </a:pPr>
            <a:r>
              <a:rPr lang="ca-ES" sz="870" b="1">
                <a:solidFill>
                  <a:srgbClr val="2D343C"/>
                </a:solidFill>
                <a:latin typeface="Arial"/>
              </a:rPr>
              <a:t>PER EMPRESA</a:t>
            </a:r>
          </a:p>
          <a:p>
            <a:pPr algn="ctr">
              <a:spcAft>
                <a:spcPts val="0"/>
              </a:spcAft>
            </a:pPr>
            <a:r>
              <a:rPr lang="ca-ES" sz="1100" b="1">
                <a:solidFill>
                  <a:srgbClr val="2A5C84"/>
                </a:solidFill>
                <a:latin typeface="Arial"/>
              </a:rPr>
              <a:t>79,1 %</a:t>
            </a:r>
          </a:p>
        </p:txBody>
      </p:sp>
      <p:sp>
        <p:nvSpPr>
          <p:cNvPr id="11" name="Component estimat"/>
          <p:cNvSpPr/>
          <p:nvPr/>
        </p:nvSpPr>
        <p:spPr>
          <a:xfrm>
            <a:off x="1325880" y="2679192"/>
            <a:ext cx="4526280" cy="713232"/>
          </a:xfrm>
          <a:prstGeom prst="roundRect">
            <a:avLst/>
          </a:prstGeom>
          <a:solidFill>
            <a:srgbClr val="1C2B3B"/>
          </a:solidFill>
          <a:ln w="9525">
            <a:solidFill>
              <a:srgbClr val="1C2B3B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500" b="1">
                <a:solidFill>
                  <a:srgbClr val="FFFFFF"/>
                </a:solidFill>
                <a:latin typeface="Arial"/>
              </a:rPr>
              <a:t>La hipòtesi es confirma en la mostra observada</a:t>
            </a:r>
          </a:p>
        </p:txBody>
      </p:sp>
      <p:sp>
        <p:nvSpPr>
          <p:cNvPr id="12" name="Fórmula"/>
          <p:cNvSpPr/>
          <p:nvPr/>
        </p:nvSpPr>
        <p:spPr>
          <a:xfrm>
            <a:off x="1170432" y="3502152"/>
            <a:ext cx="484632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140" b="1">
                <a:solidFill>
                  <a:srgbClr val="2A5C84"/>
                </a:solidFill>
                <a:latin typeface="Arial"/>
              </a:rPr>
              <a:t>IC95%: ≥1 79,4–88,8 · ≥2 54,3–67,0</a:t>
            </a:r>
          </a:p>
          <a:p>
            <a:pPr algn="ctr">
              <a:spcAft>
                <a:spcPts val="0"/>
              </a:spcAft>
            </a:pPr>
            <a:r>
              <a:rPr lang="ca-ES" sz="860" b="0">
                <a:solidFill>
                  <a:srgbClr val="67717C"/>
                </a:solidFill>
                <a:latin typeface="Arial"/>
              </a:rPr>
              <a:t>Pes igual per empresa: IC95% bootstrap 71,1–86,4</a:t>
            </a:r>
          </a:p>
        </p:txBody>
      </p:sp>
      <p:sp>
        <p:nvSpPr>
          <p:cNvPr id="13" name="Competències"/>
          <p:cNvSpPr/>
          <p:nvPr/>
        </p:nvSpPr>
        <p:spPr>
          <a:xfrm>
            <a:off x="6748272" y="1298448"/>
            <a:ext cx="4617720" cy="2688336"/>
          </a:xfrm>
          <a:prstGeom prst="roundRect">
            <a:avLst/>
          </a:prstGeom>
          <a:solidFill>
            <a:srgbClr val="FFF4DB"/>
          </a:solidFill>
          <a:ln w="9525">
            <a:solidFill>
              <a:srgbClr val="D3DAE2"/>
            </a:solidFill>
          </a:ln>
          <a:effectLst>
            <a:outerShdw blurRad="50000" dist="26000" dir="5400000" rotWithShape="0">
              <a:srgbClr val="000000">
                <a:alpha val="22000"/>
              </a:srgbClr>
            </a:outerShdw>
          </a:effectLst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l">
              <a:spcAft>
                <a:spcPts val="200"/>
              </a:spcAft>
            </a:pPr>
            <a:r>
              <a:rPr lang="ca-ES" sz="100" b="0">
                <a:solidFill>
                  <a:srgbClr val="2D343C"/>
                </a:solidFill>
                <a:latin typeface="Arial"/>
              </a:rPr>
              <a:t/>
            </a:r>
          </a:p>
        </p:txBody>
      </p:sp>
      <p:sp>
        <p:nvSpPr>
          <p:cNvPr id="14" name="Títol competències"/>
          <p:cNvSpPr/>
          <p:nvPr/>
        </p:nvSpPr>
        <p:spPr>
          <a:xfrm>
            <a:off x="7059168" y="1508760"/>
            <a:ext cx="3995928" cy="32918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350" b="1">
                <a:solidFill>
                  <a:srgbClr val="1C2B3B"/>
                </a:solidFill>
                <a:latin typeface="Arial"/>
              </a:rPr>
              <a:t>Què apareix explícitament</a:t>
            </a:r>
          </a:p>
        </p:txBody>
      </p:sp>
      <p:sp>
        <p:nvSpPr>
          <p:cNvPr id="15" name="Llista competències"/>
          <p:cNvSpPr/>
          <p:nvPr/>
        </p:nvSpPr>
        <p:spPr>
          <a:xfrm>
            <a:off x="7114032" y="1920240"/>
            <a:ext cx="3931920" cy="144475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rmAutofit fontScale="92000" lnSpcReduction="8000"/>
          </a:bodyPr>
          <a:lstStyle/>
          <a:p>
            <a:pPr algn="l" marL="240000" indent="-180000">
              <a:spcAft>
                <a:spcPts val="400"/>
              </a:spcAft>
              <a:buChar char="•"/>
            </a:pPr>
            <a:r>
              <a:rPr lang="ca-ES" sz="970" b="0">
                <a:solidFill>
                  <a:srgbClr val="2D343C"/>
                </a:solidFill>
                <a:latin typeface="Arial"/>
              </a:rPr>
              <a:t>col·laboració 64,0 %</a:t>
            </a:r>
          </a:p>
          <a:p>
            <a:pPr algn="l" marL="240000" indent="-180000">
              <a:spcAft>
                <a:spcPts val="400"/>
              </a:spcAft>
              <a:buChar char="•"/>
            </a:pPr>
            <a:r>
              <a:rPr lang="ca-ES" sz="970" b="0">
                <a:solidFill>
                  <a:srgbClr val="2D343C"/>
                </a:solidFill>
                <a:latin typeface="Arial"/>
              </a:rPr>
              <a:t>lideratge / influència 39,2 %</a:t>
            </a:r>
          </a:p>
          <a:p>
            <a:pPr algn="l" marL="240000" indent="-180000">
              <a:spcAft>
                <a:spcPts val="400"/>
              </a:spcAft>
              <a:buChar char="•"/>
            </a:pPr>
            <a:r>
              <a:rPr lang="ca-ES" sz="970" b="0">
                <a:solidFill>
                  <a:srgbClr val="2D343C"/>
                </a:solidFill>
                <a:latin typeface="Arial"/>
              </a:rPr>
              <a:t>feedback / revisió 36,9 %</a:t>
            </a:r>
          </a:p>
          <a:p>
            <a:pPr algn="l" marL="240000" indent="-180000">
              <a:spcAft>
                <a:spcPts val="400"/>
              </a:spcAft>
              <a:buChar char="•"/>
            </a:pPr>
            <a:r>
              <a:rPr lang="ca-ES" sz="970" b="0">
                <a:solidFill>
                  <a:srgbClr val="2D343C"/>
                </a:solidFill>
                <a:latin typeface="Arial"/>
              </a:rPr>
              <a:t>comunicació explícita 30,2 %</a:t>
            </a:r>
          </a:p>
          <a:p>
            <a:pPr algn="l" marL="240000" indent="-180000">
              <a:spcAft>
                <a:spcPts val="400"/>
              </a:spcAft>
              <a:buChar char="•"/>
            </a:pPr>
            <a:r>
              <a:rPr lang="ca-ES" sz="970" b="0">
                <a:solidFill>
                  <a:srgbClr val="2D343C"/>
                </a:solidFill>
                <a:latin typeface="Arial"/>
              </a:rPr>
              <a:t>mentoria / coaching 28,8 %</a:t>
            </a:r>
          </a:p>
          <a:p>
            <a:pPr algn="l" marL="240000" indent="-180000">
              <a:spcAft>
                <a:spcPts val="400"/>
              </a:spcAft>
              <a:buChar char="•"/>
            </a:pPr>
            <a:r>
              <a:rPr lang="ca-ES" sz="970" b="0">
                <a:solidFill>
                  <a:srgbClr val="2D343C"/>
                </a:solidFill>
                <a:latin typeface="Arial"/>
              </a:rPr>
              <a:t>aprenentatge / adaptabilitat 15,8 %</a:t>
            </a:r>
          </a:p>
        </p:txBody>
      </p:sp>
      <p:sp>
        <p:nvSpPr>
          <p:cNvPr id="16" name="Base tècnica"/>
          <p:cNvSpPr/>
          <p:nvPr/>
        </p:nvSpPr>
        <p:spPr>
          <a:xfrm>
            <a:off x="7114032" y="3493008"/>
            <a:ext cx="3931920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3DAE2"/>
            </a:solidFill>
          </a:ln>
        </p:spPr>
        <p:txBody>
          <a:bodyPr lIns="38100" tIns="25400" rIns="38100" bIns="254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850" b="1">
                <a:solidFill>
                  <a:srgbClr val="2A5C84"/>
                </a:solidFill>
                <a:latin typeface="Arial"/>
              </a:rPr>
              <a:t>Lead · Staff · Principal: 93,5 % amb ≥1 competència</a:t>
            </a:r>
          </a:p>
        </p:txBody>
      </p:sp>
      <p:sp>
        <p:nvSpPr>
          <p:cNvPr id="17" name="IA"/>
          <p:cNvSpPr/>
          <p:nvPr/>
        </p:nvSpPr>
        <p:spPr>
          <a:xfrm>
            <a:off x="822960" y="4270248"/>
            <a:ext cx="10543032" cy="512064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3DAE2"/>
            </a:solidFill>
          </a:ln>
        </p:spPr>
        <p:txBody>
          <a:bodyPr lIns="88900" tIns="50800" rIns="88900" bIns="5080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070" b="1">
                <a:solidFill>
                  <a:srgbClr val="2D343C"/>
                </a:solidFill>
                <a:latin typeface="Arial"/>
              </a:rPr>
              <a:t>La base tècnica és imprescindible; l'excel·lència sènior també exigeix coordinar, decidir, comunicar i acompanyar.</a:t>
            </a:r>
          </a:p>
        </p:txBody>
      </p:sp>
      <p:sp>
        <p:nvSpPr>
          <p:cNvPr id="18" name="Missatge principal"/>
          <p:cNvSpPr/>
          <p:nvPr/>
        </p:nvSpPr>
        <p:spPr>
          <a:xfrm>
            <a:off x="896112" y="4983480"/>
            <a:ext cx="10387584" cy="38404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1140" b="1">
                <a:solidFill>
                  <a:srgbClr val="1C2B3B"/>
                </a:solidFill>
                <a:latin typeface="Arial"/>
              </a:rPr>
              <a:t>Resultat robust: amb màxim 3 ofertes per empresa, 83,3 % en demanen ≥1 i 70,3 % en demanen ≥2.</a:t>
            </a:r>
          </a:p>
        </p:txBody>
      </p:sp>
      <p:sp>
        <p:nvSpPr>
          <p:cNvPr id="19" name="Missatge secundari"/>
          <p:cNvSpPr/>
          <p:nvPr/>
        </p:nvSpPr>
        <p:spPr>
          <a:xfrm>
            <a:off x="960120" y="5404104"/>
            <a:ext cx="10259568" cy="29260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980" b="0">
                <a:solidFill>
                  <a:srgbClr val="2D343C"/>
                </a:solidFill>
                <a:latin typeface="Arial"/>
              </a:rPr>
              <a:t>Criteri conservador · deduplicació · auditoria manual de 60 ofertes · feedback/revisió exclòs de l'indicador principal</a:t>
            </a:r>
          </a:p>
        </p:txBody>
      </p:sp>
      <p:sp>
        <p:nvSpPr>
          <p:cNvPr id="20" name="Limitació"/>
          <p:cNvSpPr/>
          <p:nvPr/>
        </p:nvSpPr>
        <p:spPr>
          <a:xfrm>
            <a:off x="859536" y="5879592"/>
            <a:ext cx="10469880" cy="27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wrap="square">
            <a:normAutofit fontScale="92000" lnSpcReduction="8000"/>
          </a:bodyPr>
          <a:lstStyle/>
          <a:p>
            <a:pPr algn="ctr">
              <a:spcAft>
                <a:spcPts val="0"/>
              </a:spcAft>
            </a:pPr>
            <a:r>
              <a:rPr lang="ca-ES" sz="790" b="0" i="1">
                <a:solidFill>
                  <a:srgbClr val="67717C"/>
                </a:solidFill>
                <a:latin typeface="Arial"/>
              </a:rPr>
              <a:t>Estudi observacional multifuente, 17/04–16/07/2026. Fonts: The Muse, Himalayas, Arbeitnow, Jobicy, Remotive i Remote OK. No és una mostra probabilística de tot el mercat.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</TotalTime>
  <Words>1088</Words>
  <Application>Microsoft Macintosh PowerPoint</Application>
  <PresentationFormat>Panorámica</PresentationFormat>
  <Paragraphs>151</Paragraphs>
  <Slides>10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38</cp:revision>
  <dcterms:created xsi:type="dcterms:W3CDTF">2013-01-27T09:14:16Z</dcterms:created>
  <dcterms:modified xsi:type="dcterms:W3CDTF">2026-07-13T19:07:56Z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