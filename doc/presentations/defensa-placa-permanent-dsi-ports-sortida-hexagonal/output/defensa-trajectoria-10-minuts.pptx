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4636"/>
  </p:normalViewPr>
  <p:slideViewPr>
    <p:cSldViewPr snapToGrid="0" snapToObjects="1">
      <p:cViewPr varScale="1">
        <p:scale>
          <a:sx n="134" d="100"/>
          <a:sy n="134" d="100"/>
        </p:scale>
        <p:origin x="87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4926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Agrair breument al tribunal.</a:t>
            </a:r>
          </a:p>
          <a:p>
            <a:r>
              <a:t>No llegir el CV: explicar el fil conductor.</a:t>
            </a:r>
          </a:p>
          <a:p>
            <a:r>
              <a:t>Idees: 2004, indústria, docència, recerca, TecnoCampus.</a:t>
            </a:r>
          </a:p>
          <a:p>
            <a:r>
              <a:t>Transició: començar per la base professional en indústria.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Vida Software: etapa tècnica exigent, no explicar-la massa.</a:t>
            </a:r>
          </a:p>
          <a:p>
            <a:r>
              <a:t>C/C++, Symbian, veu i protocols només com a senyals de profunditat tècnica.</a:t>
            </a:r>
          </a:p>
          <a:p>
            <a:r>
              <a:t>openTrends: Java, sistemes d’informació, clients i equips.</a:t>
            </a:r>
          </a:p>
          <a:p>
            <a:r>
              <a:t>Idea: de competència tècnica a comunicació i acompanyament.</a:t>
            </a:r>
          </a:p>
          <a:p>
            <a:r>
              <a:t>Transició: aquesta intuïció porta a la docència.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 a la docència com a decisió vocacional, no improvisada.</a:t>
            </a:r>
          </a:p>
          <a:p>
            <a:r>
              <a:t>Stucom: aula, FP, relació amb alumnat, escoltar i acompanyar.</a:t>
            </a:r>
          </a:p>
          <a:p>
            <a:r>
              <a:t>Agraïment a la FP; no minusvalorar-la.</a:t>
            </a:r>
          </a:p>
          <a:p>
            <a:r>
              <a:t>Límit natural: voler desenvolupar continguts tècnics universitaris.</a:t>
            </a:r>
          </a:p>
          <a:p>
            <a:r>
              <a:t>Transició: universitat.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Salle: etapa universitària tècnicament exigent.</a:t>
            </a:r>
          </a:p>
          <a:p>
            <a:r>
              <a:t>Conciliació: explicar-ho com a coherència vital, sense dramatitzar.</a:t>
            </a:r>
          </a:p>
          <a:p>
            <a:r>
              <a:t>Ester Bernadó com a pont acadèmic cap al TecnoCampus.</a:t>
            </a:r>
          </a:p>
          <a:p>
            <a:r>
              <a:t>TecnoCampus: docència universitària, proximitat i projecte vital.</a:t>
            </a:r>
          </a:p>
          <a:p>
            <a:r>
              <a:t>Frase clau: el desig de consolidar-se ve de lluny.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Aquesta</a:t>
            </a:r>
            <a:r>
              <a:rPr dirty="0"/>
              <a:t> </a:t>
            </a:r>
            <a:r>
              <a:rPr dirty="0" err="1"/>
              <a:t>és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 central.</a:t>
            </a:r>
          </a:p>
          <a:p>
            <a:r>
              <a:rPr dirty="0" err="1"/>
              <a:t>Docència</a:t>
            </a:r>
            <a:r>
              <a:rPr dirty="0"/>
              <a:t> </a:t>
            </a:r>
            <a:r>
              <a:rPr dirty="0" err="1"/>
              <a:t>continuada</a:t>
            </a:r>
            <a:r>
              <a:rPr dirty="0"/>
              <a:t> des de 2021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assignatures</a:t>
            </a:r>
            <a:r>
              <a:rPr dirty="0"/>
              <a:t> de software/</a:t>
            </a:r>
            <a:r>
              <a:rPr dirty="0" err="1"/>
              <a:t>sistemes</a:t>
            </a:r>
            <a:r>
              <a:rPr dirty="0"/>
              <a:t>.</a:t>
            </a:r>
          </a:p>
          <a:p>
            <a:r>
              <a:rPr dirty="0"/>
              <a:t>Dir “</a:t>
            </a:r>
            <a:r>
              <a:rPr dirty="0" err="1"/>
              <a:t>m’he</a:t>
            </a:r>
            <a:r>
              <a:rPr dirty="0"/>
              <a:t> </a:t>
            </a:r>
            <a:r>
              <a:rPr dirty="0" err="1"/>
              <a:t>sentit</a:t>
            </a:r>
            <a:r>
              <a:rPr dirty="0"/>
              <a:t> com a casa”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sobrietat</a:t>
            </a:r>
            <a:r>
              <a:rPr dirty="0"/>
              <a:t>.</a:t>
            </a:r>
          </a:p>
          <a:p>
            <a:r>
              <a:rPr dirty="0" err="1"/>
              <a:t>Destacar</a:t>
            </a:r>
            <a:r>
              <a:rPr dirty="0"/>
              <a:t> Josep </a:t>
            </a:r>
            <a:r>
              <a:rPr dirty="0" err="1"/>
              <a:t>Roure</a:t>
            </a:r>
            <a:r>
              <a:rPr dirty="0"/>
              <a:t>: </a:t>
            </a:r>
            <a:r>
              <a:rPr dirty="0" err="1"/>
              <a:t>arquitectura</a:t>
            </a:r>
            <a:r>
              <a:rPr dirty="0"/>
              <a:t>, DDD, Clean Architecture, hexagonal.</a:t>
            </a:r>
          </a:p>
          <a:p>
            <a:r>
              <a:rPr dirty="0"/>
              <a:t>ABP, SQAI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HexaStock</a:t>
            </a:r>
            <a:r>
              <a:rPr dirty="0"/>
              <a:t> </a:t>
            </a:r>
            <a:r>
              <a:rPr dirty="0" err="1"/>
              <a:t>integren</a:t>
            </a:r>
            <a:r>
              <a:rPr dirty="0"/>
              <a:t> </a:t>
            </a:r>
            <a:r>
              <a:rPr dirty="0" err="1"/>
              <a:t>docència</a:t>
            </a:r>
            <a:r>
              <a:rPr dirty="0"/>
              <a:t>, </a:t>
            </a:r>
            <a:r>
              <a:rPr dirty="0" err="1"/>
              <a:t>pràctica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transferència</a:t>
            </a:r>
            <a:r>
              <a:rPr dirty="0"/>
              <a:t>.</a:t>
            </a:r>
          </a:p>
          <a:p>
            <a:r>
              <a:rPr dirty="0" err="1"/>
              <a:t>Enllaçar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 magistral.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Neueda: internacionalització, anglès i indústria.</a:t>
            </a:r>
          </a:p>
          <a:p>
            <a:r>
              <a:t>Doctorat UDIMA: Educació i Tecnologia.</a:t>
            </a:r>
          </a:p>
          <a:p>
            <a:r>
              <a:t>Tesi: empatia, escolta activa i comunicació assertiva amb ABP.</a:t>
            </a:r>
          </a:p>
          <a:p>
            <a:r>
              <a:t>Plaça: consolidació d’un projecte acadèmic, no només continuïtat contractual.</a:t>
            </a:r>
          </a:p>
          <a:p>
            <a:r>
              <a:t>Tancar enllaçant amb la classe magistral següent.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Trajectòria professional, acadèmica i científica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Alfredo Rueda Unsain · Defensa de plaça de professorat permanent · TecnoCampus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9966960" cy="685800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1C2B3B"/>
                </a:solidFill>
                <a:latin typeface="Arial"/>
              </a:rPr>
              <a:t>De l’enginyeria de software a la docència, la recerca i el compromís amb el TecnoCampus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999232"/>
            <a:ext cx="1874519" cy="9601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Enginyeria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080" b="0" dirty="0" err="1">
                <a:solidFill>
                  <a:srgbClr val="67717C"/>
                </a:solidFill>
                <a:latin typeface="Arial"/>
              </a:rPr>
              <a:t>sistemes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s</a:t>
            </a:r>
            <a:r>
              <a:rPr lang="es-ES" sz="1080" dirty="0" err="1">
                <a:solidFill>
                  <a:srgbClr val="67717C"/>
                </a:solidFill>
                <a:latin typeface="Arial"/>
              </a:rPr>
              <a:t>oftware</a:t>
            </a:r>
            <a:endParaRPr sz="1080" b="0" dirty="0">
              <a:solidFill>
                <a:srgbClr val="67717C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01751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66160" y="2999232"/>
            <a:ext cx="1874519" cy="96012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7588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Docència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67717C"/>
                </a:solidFill>
                <a:latin typeface="Arial"/>
              </a:rPr>
              <a:t>aula i acompanyament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4067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89320" y="2999232"/>
            <a:ext cx="1874519" cy="9601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9904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 dirty="0" err="1">
                <a:solidFill>
                  <a:srgbClr val="1C2B3B"/>
                </a:solidFill>
                <a:latin typeface="Arial"/>
              </a:rPr>
              <a:t>Recerca</a:t>
            </a:r>
            <a:endParaRPr sz="17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0819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67717C"/>
                </a:solidFill>
                <a:latin typeface="Arial"/>
              </a:rPr>
              <a:t>educació i tecnologia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3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412480" y="2999232"/>
            <a:ext cx="206059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22208" y="3154680"/>
            <a:ext cx="1844536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1" dirty="0" err="1">
                <a:solidFill>
                  <a:srgbClr val="1C2B3B"/>
                </a:solidFill>
                <a:latin typeface="Arial"/>
              </a:rPr>
              <a:t>TecnoCampus</a:t>
            </a:r>
            <a:endParaRPr sz="17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31352" y="3474720"/>
            <a:ext cx="1835392" cy="4846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080" b="0" dirty="0">
                <a:solidFill>
                  <a:srgbClr val="67717C"/>
                </a:solidFill>
                <a:latin typeface="Arial"/>
              </a:rPr>
              <a:t>P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rojecte</a:t>
            </a:r>
            <a:r>
              <a:rPr lang="es-ES" sz="1080" b="0" dirty="0">
                <a:solidFill>
                  <a:srgbClr val="67717C"/>
                </a:solidFill>
                <a:latin typeface="Arial"/>
              </a:rPr>
              <a:t> docente i 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acadèmic</a:t>
            </a:r>
            <a:endParaRPr sz="1080" b="0" dirty="0">
              <a:solidFill>
                <a:srgbClr val="67717C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97280" y="4892040"/>
            <a:ext cx="9875520" cy="50292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500" b="0" dirty="0">
                <a:solidFill>
                  <a:srgbClr val="2D343C"/>
                </a:solidFill>
                <a:latin typeface="Arial"/>
              </a:rPr>
              <a:t>Una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trajectòria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iniciada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el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2004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orientada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a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formar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enginyers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enginyeres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tècnicament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500" b="0" dirty="0" err="1">
                <a:solidFill>
                  <a:srgbClr val="2D343C"/>
                </a:solidFill>
                <a:latin typeface="Arial"/>
              </a:rPr>
              <a:t>competents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humanament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responsables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1C2B3B"/>
                </a:solidFill>
                <a:latin typeface="Arial"/>
              </a:rPr>
              <a:t>Primera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etapa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enginyeria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 de software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i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consultoria</a:t>
            </a:r>
            <a:endParaRPr sz="24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 dirty="0">
                <a:solidFill>
                  <a:srgbClr val="67717C"/>
                </a:solidFill>
                <a:latin typeface="Arial"/>
              </a:rPr>
              <a:t>De la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competència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tècnica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a la </a:t>
            </a:r>
            <a:r>
              <a:rPr lang="es-ES" sz="1200" b="0" dirty="0" err="1">
                <a:solidFill>
                  <a:srgbClr val="67717C"/>
                </a:solidFill>
                <a:latin typeface="Arial"/>
              </a:rPr>
              <a:t>voluntat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de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comunicar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acompanyar</a:t>
            </a:r>
            <a:endParaRPr sz="1200" b="0" dirty="0">
              <a:solidFill>
                <a:srgbClr val="67717C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074920" cy="342900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377440" cy="310896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C2B3B"/>
                </a:solidFill>
                <a:latin typeface="Arial"/>
              </a:rPr>
              <a:t>Vida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664208"/>
            <a:ext cx="1234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A5C84"/>
                </a:solidFill>
                <a:latin typeface="Arial"/>
              </a:rPr>
              <a:t>innovació mòbil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240280"/>
            <a:ext cx="4345527" cy="2507546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Component</a:t>
            </a:r>
            <a:r>
              <a:rPr lang="es-ES" dirty="0"/>
              <a:t> SO Symbian per </a:t>
            </a:r>
            <a:r>
              <a:rPr lang="es-ES" dirty="0" err="1"/>
              <a:t>afegir</a:t>
            </a:r>
            <a:r>
              <a:rPr lang="es-ES" dirty="0"/>
              <a:t> </a:t>
            </a:r>
            <a:r>
              <a:rPr lang="es-ES" dirty="0" err="1"/>
              <a:t>veu</a:t>
            </a:r>
            <a:r>
              <a:rPr lang="es-ES" dirty="0"/>
              <a:t> a apps Nokia/Symbian </a:t>
            </a:r>
            <a:r>
              <a:rPr lang="es-ES" dirty="0" err="1"/>
              <a:t>devices</a:t>
            </a:r>
            <a:r>
              <a:rPr lang="es-ES" dirty="0"/>
              <a:t>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C/C++ </a:t>
            </a:r>
            <a:r>
              <a:rPr lang="es-ES" dirty="0" err="1"/>
              <a:t>amb</a:t>
            </a:r>
            <a:r>
              <a:rPr lang="es-ES" dirty="0"/>
              <a:t> </a:t>
            </a:r>
            <a:r>
              <a:rPr lang="es-ES" dirty="0" err="1"/>
              <a:t>restriccions</a:t>
            </a:r>
            <a:r>
              <a:rPr lang="es-ES" dirty="0"/>
              <a:t> de memoria, </a:t>
            </a:r>
            <a:r>
              <a:rPr lang="es-ES" dirty="0" err="1"/>
              <a:t>cpu</a:t>
            </a:r>
            <a:r>
              <a:rPr lang="es-ES" dirty="0"/>
              <a:t> i </a:t>
            </a:r>
            <a:r>
              <a:rPr lang="es-ES"/>
              <a:t>xarxa. </a:t>
            </a:r>
            <a:r>
              <a:rPr lang="es-ES" dirty="0" err="1"/>
              <a:t>Protocols</a:t>
            </a:r>
            <a:r>
              <a:rPr lang="es-ES" dirty="0"/>
              <a:t> IP, UPD, RPT, SIP, AMR.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Presentat</a:t>
            </a:r>
            <a:r>
              <a:rPr lang="es-ES" dirty="0"/>
              <a:t> al 3GSM / MWC a Cannes i Barcelona.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Patent</a:t>
            </a:r>
            <a:r>
              <a:rPr lang="es-ES" dirty="0"/>
              <a:t> internacional sobre </a:t>
            </a:r>
            <a:r>
              <a:rPr lang="es-ES" dirty="0" err="1"/>
              <a:t>interfícies</a:t>
            </a:r>
            <a:r>
              <a:rPr lang="es-ES" dirty="0"/>
              <a:t> </a:t>
            </a:r>
            <a:r>
              <a:rPr lang="es-ES" dirty="0" err="1"/>
              <a:t>d’usuari</a:t>
            </a:r>
            <a:r>
              <a:rPr lang="es-ES" dirty="0"/>
              <a:t>.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074920" cy="342900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46920" y="1664208"/>
            <a:ext cx="1234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dirty="0" err="1">
                <a:solidFill>
                  <a:srgbClr val="2A5C84"/>
                </a:solidFill>
                <a:latin typeface="Arial"/>
              </a:rPr>
              <a:t>consultoria</a:t>
            </a:r>
            <a:endParaRPr sz="105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1947" y="2580963"/>
            <a:ext cx="4343400" cy="1168077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Java</a:t>
            </a:r>
            <a:r>
              <a:rPr lang="es-ES" dirty="0"/>
              <a:t>, Spring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sistemes</a:t>
            </a:r>
            <a:r>
              <a:rPr dirty="0"/>
              <a:t> </a:t>
            </a:r>
            <a:r>
              <a:rPr dirty="0" err="1"/>
              <a:t>d’informació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clients, equips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 err="1"/>
              <a:t>treball</a:t>
            </a:r>
            <a:r>
              <a:rPr lang="es-ES" dirty="0"/>
              <a:t> </a:t>
            </a:r>
            <a:r>
              <a:rPr lang="es-ES" dirty="0" err="1"/>
              <a:t>col·laboratiu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integració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/>
              <a:t>arquitectura</a:t>
            </a:r>
            <a:r>
              <a:rPr dirty="0"/>
              <a:t> de software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comunicació</a:t>
            </a:r>
            <a:r>
              <a:rPr dirty="0"/>
              <a:t> </a:t>
            </a:r>
            <a:r>
              <a:rPr dirty="0" err="1"/>
              <a:t>tècnica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altres</a:t>
            </a:r>
            <a:r>
              <a:rPr dirty="0"/>
              <a:t> </a:t>
            </a:r>
            <a:r>
              <a:rPr dirty="0" err="1"/>
              <a:t>perfils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6419088" y="4160520"/>
            <a:ext cx="4434840" cy="38404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250" b="0" dirty="0" err="1">
                <a:solidFill>
                  <a:srgbClr val="67717C"/>
                </a:solidFill>
                <a:latin typeface="Arial"/>
              </a:rPr>
              <a:t>Transició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cap a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consultoria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,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sistemes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empresarials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treball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amb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persones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14984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dirty="0">
                <a:solidFill>
                  <a:srgbClr val="1C2B3B"/>
                </a:solidFill>
                <a:latin typeface="Arial"/>
              </a:rPr>
              <a:t>De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laboratori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producte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a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consultoria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equips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: base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tècnica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sòlida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,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comunicació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treball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col·laboratiu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.</a:t>
            </a:r>
            <a:endParaRPr sz="16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0713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4204" y="1758003"/>
            <a:ext cx="1417320" cy="320040"/>
          </a:xfrm>
          <a:prstGeom prst="rect">
            <a:avLst/>
          </a:prstGeom>
          <a:noFill/>
        </p:spPr>
        <p:txBody>
          <a:bodyPr wrap="none">
            <a:normAutofit fontScale="92500" lnSpcReduction="20000"/>
          </a:bodyPr>
          <a:lstStyle/>
          <a:p>
            <a:pPr algn="l"/>
            <a:r>
              <a:rPr sz="1800" b="1" dirty="0" err="1">
                <a:solidFill>
                  <a:srgbClr val="1C2B3B"/>
                </a:solidFill>
                <a:latin typeface="Arial"/>
              </a:rPr>
              <a:t>openTrends</a:t>
            </a:r>
            <a:endParaRPr sz="1800" b="1" dirty="0">
              <a:solidFill>
                <a:srgbClr val="1C2B3B"/>
              </a:solidFill>
              <a:latin typeface="Arial"/>
            </a:endParaRP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B6ECFDF-B584-B54F-80A3-0D4117F0A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086" y="1618488"/>
            <a:ext cx="822960" cy="82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lang="es-ES" sz="2700" b="1" dirty="0">
                <a:solidFill>
                  <a:srgbClr val="1C2B3B"/>
                </a:solidFill>
                <a:latin typeface="Arial"/>
              </a:rPr>
              <a:t>FP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el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descobriment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clar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de la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vocació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docent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Aprendre a ensenyar, escoltar i acompanyar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3337560" cy="2487168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274320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Decisió vocacional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43200" cy="1301703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Màster</a:t>
            </a:r>
            <a:r>
              <a:rPr dirty="0"/>
              <a:t> de </a:t>
            </a:r>
            <a:r>
              <a:rPr dirty="0" err="1"/>
              <a:t>Formació</a:t>
            </a:r>
            <a:r>
              <a:rPr dirty="0"/>
              <a:t> del </a:t>
            </a:r>
            <a:r>
              <a:rPr dirty="0" err="1"/>
              <a:t>Professorat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Formació</a:t>
            </a:r>
            <a:r>
              <a:rPr dirty="0"/>
              <a:t> Professional: DAW / DAM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aula, </a:t>
            </a:r>
            <a:r>
              <a:rPr dirty="0" err="1"/>
              <a:t>relació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l’alumnat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407408" y="1645920"/>
            <a:ext cx="3337560" cy="3218688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45152" y="1901952"/>
            <a:ext cx="283464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Dimensió humana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487168"/>
            <a:ext cx="2743200" cy="1142813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lang="es-ES" dirty="0"/>
              <a:t>c</a:t>
            </a:r>
            <a:r>
              <a:rPr dirty="0" err="1"/>
              <a:t>omunica</a:t>
            </a:r>
            <a:r>
              <a:rPr lang="es-ES" dirty="0" err="1"/>
              <a:t>ció</a:t>
            </a:r>
            <a:r>
              <a:rPr lang="es-ES" dirty="0"/>
              <a:t> </a:t>
            </a:r>
            <a:r>
              <a:rPr lang="es-ES" dirty="0" err="1"/>
              <a:t>assertiva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escolta</a:t>
            </a:r>
            <a:r>
              <a:rPr dirty="0"/>
              <a:t> </a:t>
            </a:r>
            <a:r>
              <a:rPr dirty="0" err="1"/>
              <a:t>activa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acompanyament</a:t>
            </a:r>
            <a:r>
              <a:rPr dirty="0"/>
              <a:t> </a:t>
            </a:r>
            <a:r>
              <a:rPr dirty="0" err="1"/>
              <a:t>emocional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confiança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criteri</a:t>
            </a:r>
            <a:r>
              <a:rPr dirty="0"/>
              <a:t> professional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337560" cy="2487168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2267712"/>
            <a:ext cx="283464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Límit natural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852928"/>
            <a:ext cx="2788920" cy="105156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1370" b="0">
                <a:solidFill>
                  <a:srgbClr val="2D343C"/>
                </a:solidFill>
                <a:latin typeface="Arial"/>
              </a:rPr>
              <a:t>Voluntat de portar a l’aula continguts més avançats d’enginyeria de software, arquitectura i disseny de sistemes.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349240"/>
            <a:ext cx="987552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Valoració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positiva de 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la FP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.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L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a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mirada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s’orienta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cap a la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universitat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La Salle i el pont cap al TecnoCampus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Universitat, conciliació i coherència vital-professional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743200" cy="2331720"/>
          </a:xfrm>
          <a:prstGeom prst="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asal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029968"/>
            <a:ext cx="987552" cy="359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39696" y="2075688"/>
            <a:ext cx="109728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La Salle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50" b="0" dirty="0" err="1">
                <a:solidFill>
                  <a:srgbClr val="2D343C"/>
                </a:solidFill>
                <a:latin typeface="Arial"/>
              </a:rPr>
              <a:t>docència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universitària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enginyeria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de software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sistemes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50" b="0" dirty="0" err="1">
                <a:solidFill>
                  <a:srgbClr val="2D343C"/>
                </a:solidFill>
                <a:latin typeface="Arial"/>
              </a:rPr>
              <a:t>operatius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999232"/>
            <a:ext cx="59436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60520" y="1828800"/>
            <a:ext cx="2743200" cy="23317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2075688"/>
            <a:ext cx="228600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Coherència vital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743200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50" b="0" dirty="0" err="1">
                <a:solidFill>
                  <a:srgbClr val="2D343C"/>
                </a:solidFill>
                <a:latin typeface="Arial"/>
              </a:rPr>
              <a:t>Llavaneres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lang="es-ES" sz="1350" b="0" dirty="0" err="1">
                <a:solidFill>
                  <a:srgbClr val="2D343C"/>
                </a:solidFill>
                <a:latin typeface="Arial"/>
              </a:rPr>
              <a:t>família</a:t>
            </a:r>
            <a:r>
              <a:rPr lang="es-ES" sz="1350" b="0" dirty="0">
                <a:solidFill>
                  <a:srgbClr val="2D343C"/>
                </a:solidFill>
                <a:latin typeface="Arial"/>
              </a:rPr>
              <a:t> i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conciliació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trajectòria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sostenible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6903720" y="2999232"/>
            <a:ext cx="594359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79" y="1828800"/>
            <a:ext cx="2743200" cy="23317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6" y="2048256"/>
            <a:ext cx="1800671" cy="340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28302" y="2462274"/>
            <a:ext cx="1653789" cy="397665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 dirty="0" err="1">
                <a:solidFill>
                  <a:srgbClr val="1C2B3B"/>
                </a:solidFill>
                <a:latin typeface="Arial"/>
              </a:rPr>
              <a:t>TecnoCampus</a:t>
            </a:r>
            <a:endParaRPr sz="16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818119" y="2873502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350" b="0" dirty="0">
                <a:solidFill>
                  <a:srgbClr val="2D343C"/>
                </a:solidFill>
                <a:latin typeface="Arial"/>
              </a:rPr>
              <a:t>Dra. 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Ester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Bernadó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com a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pont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proximitat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territorial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projecte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acadèmic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10149840" cy="54864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C2B3B"/>
                </a:solidFill>
                <a:latin typeface="Arial"/>
              </a:rPr>
              <a:t>El desig de consolidar una plaça al TecnoCampus no neix ara: ve d’una trajectòria que hi ha trobat coherència.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TecnoCampus: docència, equip i arquitectura de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Casa acadèmica, creixement compartit i transferència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3154680" cy="411480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1737360"/>
            <a:ext cx="2584613" cy="489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" y="2606040"/>
            <a:ext cx="2514600" cy="5486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Docència continuada
des de 2021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401568"/>
            <a:ext cx="2514600" cy="222689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programació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/>
              <a:t>estructura de  </a:t>
            </a:r>
            <a:r>
              <a:rPr dirty="0" err="1"/>
              <a:t>dades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aplicacions</a:t>
            </a:r>
            <a:r>
              <a:rPr dirty="0"/>
              <a:t> </a:t>
            </a:r>
            <a:r>
              <a:rPr dirty="0" err="1"/>
              <a:t>d’Internet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enginyeria</a:t>
            </a:r>
            <a:r>
              <a:rPr dirty="0"/>
              <a:t> de software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disseny</a:t>
            </a:r>
            <a:r>
              <a:rPr lang="es-ES" dirty="0"/>
              <a:t> de </a:t>
            </a:r>
            <a:r>
              <a:rPr lang="es-ES" dirty="0" err="1"/>
              <a:t>sistemes</a:t>
            </a:r>
            <a:r>
              <a:rPr lang="es-ES" dirty="0"/>
              <a:t> </a:t>
            </a:r>
            <a:r>
              <a:rPr lang="es-ES" dirty="0" err="1"/>
              <a:t>d’información</a:t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</a:t>
            </a:r>
            <a:r>
              <a:rPr lang="es-ES" dirty="0"/>
              <a:t> </a:t>
            </a:r>
            <a:r>
              <a:rPr lang="es-ES" dirty="0" err="1"/>
              <a:t>Resultats</a:t>
            </a:r>
            <a:r>
              <a:rPr lang="es-ES" dirty="0"/>
              <a:t> </a:t>
            </a:r>
            <a:r>
              <a:rPr lang="es-ES" dirty="0" err="1"/>
              <a:t>positius</a:t>
            </a:r>
            <a:r>
              <a:rPr lang="es-ES" dirty="0"/>
              <a:t> </a:t>
            </a:r>
            <a:r>
              <a:rPr lang="es-ES" dirty="0" err="1"/>
              <a:t>satisfacció</a:t>
            </a:r>
            <a:r>
              <a:rPr lang="es-ES" dirty="0"/>
              <a:t> </a:t>
            </a:r>
            <a:r>
              <a:rPr lang="es-ES" dirty="0" err="1"/>
              <a:t>docent</a:t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508760"/>
            <a:ext cx="3154680" cy="411480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260604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Equip i arquitectura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2331720"/>
            <a:ext cx="2286000" cy="32004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2A5C84"/>
                </a:solidFill>
                <a:latin typeface="Arial"/>
              </a:rPr>
              <a:t>Dr. Josep </a:t>
            </a:r>
            <a:r>
              <a:rPr sz="1600" b="1" dirty="0" err="1">
                <a:solidFill>
                  <a:srgbClr val="2A5C84"/>
                </a:solidFill>
                <a:latin typeface="Arial"/>
              </a:rPr>
              <a:t>Roure</a:t>
            </a:r>
            <a:endParaRPr sz="160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709160" y="278892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Domain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Driven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Design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endParaRPr sz="11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709160" y="329184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>
                <a:solidFill>
                  <a:srgbClr val="1C2B3B"/>
                </a:solidFill>
                <a:latin typeface="Arial"/>
              </a:rPr>
              <a:t>Hexagonal</a:t>
            </a:r>
            <a:r>
              <a:rPr sz="1150" b="1" dirty="0">
                <a:solidFill>
                  <a:srgbClr val="1C2B3B"/>
                </a:solidFill>
                <a:latin typeface="Arial"/>
              </a:rPr>
              <a:t> Architecture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79476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Microserveis</a:t>
            </a:r>
            <a:endParaRPr sz="11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08576" y="4480560"/>
            <a:ext cx="2514600" cy="502920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67717C"/>
                </a:solidFill>
                <a:latin typeface="Arial"/>
              </a:rPr>
              <a:t>Aprenentatge compartit i criteri arquitectònic aplicat a la docència.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508760"/>
            <a:ext cx="3154680" cy="411480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83296" y="1783080"/>
            <a:ext cx="2651760" cy="32004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Innovació i transferència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468880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A5C84"/>
                </a:solidFill>
                <a:latin typeface="Arial"/>
              </a:rPr>
              <a:t>ABP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035808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2A5C84"/>
                </a:solidFill>
                <a:latin typeface="Arial"/>
              </a:rPr>
              <a:t>SQAI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3602736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 err="1">
                <a:solidFill>
                  <a:srgbClr val="2A5C84"/>
                </a:solidFill>
                <a:latin typeface="Arial"/>
              </a:rPr>
              <a:t>Consultoria</a:t>
            </a:r>
            <a:r>
              <a:rPr lang="es-ES" sz="1200" b="1" dirty="0">
                <a:solidFill>
                  <a:srgbClr val="2A5C84"/>
                </a:solidFill>
                <a:latin typeface="Arial"/>
              </a:rPr>
              <a:t> </a:t>
            </a:r>
            <a:r>
              <a:rPr lang="es-ES" sz="1200" b="1" dirty="0" err="1">
                <a:solidFill>
                  <a:srgbClr val="2A5C84"/>
                </a:solidFill>
                <a:latin typeface="Arial"/>
              </a:rPr>
              <a:t>professional</a:t>
            </a:r>
            <a:endParaRPr sz="120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74736" y="4224528"/>
            <a:ext cx="2423160" cy="68580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250" b="0" dirty="0">
                <a:solidFill>
                  <a:srgbClr val="67717C"/>
                </a:solidFill>
                <a:latin typeface="Arial"/>
              </a:rPr>
              <a:t>Una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línia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que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connecta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aula,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arquitectura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de software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necessitats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reals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d’empreses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institucions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70448"/>
            <a:ext cx="10149840" cy="32004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ctr">
              <a:lnSpc>
                <a:spcPct val="100000"/>
              </a:lnSpc>
            </a:pPr>
            <a:r>
              <a:rPr sz="1450" b="1">
                <a:solidFill>
                  <a:srgbClr val="1C2B3B"/>
                </a:solidFill>
                <a:latin typeface="Arial"/>
              </a:rPr>
              <a:t>La classe magistral posterior neix d’aquest punt de trobada: docència universitària, enginyeria de software i transferència professional.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Internacionalització, recerca doctoral i projecte de futur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De la transferència professional a la maduració científica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2971800" cy="27889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neueda_fav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1773936"/>
            <a:ext cx="347472" cy="351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1812222"/>
            <a:ext cx="15544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 dirty="0" err="1">
                <a:solidFill>
                  <a:srgbClr val="1C2B3B"/>
                </a:solidFill>
                <a:latin typeface="Arial"/>
              </a:rPr>
              <a:t>Neueda</a:t>
            </a:r>
            <a:endParaRPr sz="18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70432" y="2395727"/>
            <a:ext cx="2308264" cy="1480533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marL="285750" indent="-285750" 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formació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enginyeria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del software internacional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en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anglès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
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soft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skills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per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promoure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un bon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desenvolupament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professional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1508760"/>
            <a:ext cx="2971800" cy="278892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55648"/>
            <a:ext cx="25146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Doctorat UDIMA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395727"/>
            <a:ext cx="2395728" cy="1550107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Educació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Tecnologia</a:t>
            </a:r>
            <a:br>
              <a:rPr lang="es-ES" sz="1340" b="0" dirty="0">
                <a:solidFill>
                  <a:srgbClr val="2D343C"/>
                </a:solidFill>
                <a:latin typeface="Arial"/>
              </a:rPr>
            </a:b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empatia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,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escolta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activa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comunicació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asertiva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en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l'ensenyament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de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l'enginyeria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al software. 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680960" y="1508760"/>
            <a:ext cx="2971800" cy="27889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1755648"/>
            <a:ext cx="25146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Projecte de futur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395728"/>
            <a:ext cx="2286000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docència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recerca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innovació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transferència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universitat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i empresa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4617720"/>
            <a:ext cx="2011680" cy="256032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5C84"/>
                </a:solidFill>
                <a:latin typeface="Arial"/>
              </a:rPr>
              <a:t>Tesi doctoral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058400" cy="438912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ctr">
              <a:lnSpc>
                <a:spcPct val="100000"/>
              </a:lnSpc>
            </a:pPr>
            <a:r>
              <a:rPr sz="1420" b="0" dirty="0" err="1">
                <a:solidFill>
                  <a:srgbClr val="2D343C"/>
                </a:solidFill>
                <a:latin typeface="Arial"/>
              </a:rPr>
              <a:t>Cultiu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de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l’empatia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,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l’escolta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activa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la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comunicació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assertiva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en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estudiants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universitaris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d’Enginyeria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de Software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mitjançant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ABP.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15000"/>
            <a:ext cx="9875520" cy="41148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ctr">
              <a:lnSpc>
                <a:spcPct val="100000"/>
              </a:lnSpc>
            </a:pPr>
            <a:r>
              <a:rPr sz="1480" b="1">
                <a:solidFill>
                  <a:srgbClr val="1C2B3B"/>
                </a:solidFill>
                <a:latin typeface="Arial"/>
              </a:rPr>
              <a:t>Consolidar un projecte acadèmic vinculat al TecnoCampus: formar enginyers i enginyeres tècnicament solvents i humanament responsables.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019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973</Words>
  <Application>Microsoft Macintosh PowerPoint</Application>
  <PresentationFormat>Panorámica</PresentationFormat>
  <Paragraphs>127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cp:keywords/>
  <dc:description>Generated support deck for 10-minute trajectory defense.</dc:description>
  <cp:lastModifiedBy>Alfredo Rueda Unsain</cp:lastModifiedBy>
  <cp:revision>12</cp:revision>
  <dcterms:created xsi:type="dcterms:W3CDTF">2013-01-27T09:14:16Z</dcterms:created>
  <dcterms:modified xsi:type="dcterms:W3CDTF">2026-07-05T17:22:57Z</dcterms:modified>
  <cp:category/>
</cp:coreProperties>
</file>