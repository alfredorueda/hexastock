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 snapToGrid="0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-24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BF13A1-1170-4EF5-ACBC-0D1D4D08AC9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Agrair breument al tribunal.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llegir el CV: explicar el fil conductor.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Idees: 2004, indústria del software, docència universitària en software, innovació, transferència, recerca i TecnoCampus.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començar per la base professional en indústria del software.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Vida Software: etapa tècnica exigent, no explicar-la massa.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C/C++, Symbian i restriccions com a senyals de profunditat tècnica.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Patent: context d’innovació de Vida Software, no mèrit individual.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openTrends: Java, sistemes d’informació, clients i equips.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Idea: de competència tècnica a comunicació i acompanyament.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aquesta intuïció porta a la docència.</a:t>
            </a:r>
          </a:p>
        </p:txBody>
      </p:sp>
      <p:sp>
        <p:nvSpPr>
          <p:cNvPr id="192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 a la docència com a decisió vocacional, no improvisada.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Stucom: aula, FP, relació amb alumnat, escoltar i acompanyar.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Agraïment a l’FP; no menysvalorar-la.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Evolució cap a continguts tècnics universitaris més avançats.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Transició: universitat.</a:t>
            </a:r>
          </a:p>
        </p:txBody>
      </p:sp>
      <p:sp>
        <p:nvSpPr>
          <p:cNvPr id="195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La Salle: etapa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universitària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exigent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valuosa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Evitar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comparacions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jeràrquiques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entre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institucions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Motiu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principal: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alineació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acadèmica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amb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enginyeria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del software i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sistemes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d’informació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Conciliació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com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factor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complementari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sostenibilitat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Encaix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curricular: el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grau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porta la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gestió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els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sistemes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d’informació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seu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propi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nom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No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esmentar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persones concretes.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Frase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clau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el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desig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consolidar-se ve de </a:t>
            </a:r>
            <a:r>
              <a:rPr lang="es-E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lluny</a:t>
            </a:r>
            <a:r>
              <a:rPr lang="es-E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98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Aquesta és la diapositiva central.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Docència continuada des de 2021 i assignatures alineades amb la plaça.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 registres oficials d’avaluació docent: mitjana aritmètica simple de 8,75/10.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Quatre registres dels dos darrers cursos: mitjana aritmètica simple de 9,03/10.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dir mitjana ponderada ni percentatge de satisfacció.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Destacar Josep Roure: arquitectura, DDD, Clean Architecture, hexagonal.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Participació acreditada al projecte SQAI d’ABP i HexaStock com a integració de docència, pràctica i transferència.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Enllaçar amb la classe magistral.</a:t>
            </a:r>
          </a:p>
        </p:txBody>
      </p:sp>
      <p:sp>
        <p:nvSpPr>
          <p:cNvPr id="201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Cambridge C1 Advanced: 185, Pass at Grade C, C1 MECR.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Neueda: formació internacional en anglès en enginyeria del software.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AGAUR: 60 hores de formació i consultoria especialitzada en REST, arquitectura hexagonal i sistemes d’informació.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Doctorat UDIMA: Educació en Enginyeria del Software.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Tesi: problema obert identificat per la literatura recent; integració curricular, mesura i estudis longitudinals.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Disseny mixt i quasi experimental en dues assignatures reals amb ABP.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Tancar enllaçant amb la classe magistral següent.</a:t>
            </a:r>
          </a:p>
        </p:txBody>
      </p:sp>
      <p:sp>
        <p:nvSpPr>
          <p:cNvPr id="204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Annex fora dels deu minuts. Mostrar només si el tribunal pregunta pel pas de La Salle al TecnoCampus, per l’encaix acadèmic o per la diferència d’orientació entre titulacions.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Resposta de reserva (30-45 s): El canvi no va respondre a una valoració jeràrquica entre institucions. La Salle em va permetre entrar en la docència universitària dins d’un entorn d’enginyeria molt sòlid, i hi vaig impartir assignatures directament vinculades a la informàtica i al software.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contrast entre els plans mostra orientacions curriculars diferents. La Salle manté un pes més marcat en telecomunicacions, electrònica, hardware i xarxes, coherent amb la seva tradició històrica. El grau del TecnoCampus concentra de manera més explícita l’Enginyeria del Software i els Sistemes d’Informació.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això vaig considerar que la meva experiència professional en arquitectura de software, backend, Java i sistemes d’informació podia tenir-hi un encaix més directe. No es tracta que una institució sigui millor que l’altra, sinó d’una major alineació entre especialització professional i projecte acadèmic.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 es mostri l’annex: no llegir tota la taula; assenyalar una diferència d’Enginyeria del Software o Sistemes d’Informació, una de hardware o xarxes, i concloure amb l’encaix acadèmic.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Fonts (consulta: 13 de juliol de 2026): https://www.salleurl.edu/ca/estudis/grau-en-enginyeria-informatica/pla-estudis · https://www.tecnocampus.cat/grau/grau-en-enginyeria-informatica-de-gestio-i-sistemes-dinformacio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Criteri de classificació: només assignatures amb nom verificat als plans vigents; obligatòries i optatives diferenciades. No es projecten sumes agregades d’ECTS perquè la classificació obligatòria/optativa de La Salle no va resultar estable entre consultes; per això s’usen formulacions qualitatives.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ca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esmentar persones concretes ni relacions personals.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B1D526-60EE-459B-8405-97048558AB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CFD47C-16E2-4C32-AF42-4BFA228BC7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8A97F9-77FB-45A9-8C68-86FACB9CF4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C2C4F9-A06A-4329-83CB-D57F5CEB99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4B8347-10D0-4E88-9C89-E6131585B7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19004F-A075-4CFC-A54D-7D7A8AA008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FC01E6-EACA-46D5-90B3-6947447142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3E3348-FCCB-4045-A5A9-115E11AD8F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798020-5C99-46C6-B283-6DCAAE8DE2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51E645-8C21-4B01-B549-599C31835C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303F6D-B753-497B-97E2-2D8895355D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Trajectòria professional, acadèmica i científica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Alfredo Rueda Unsain · Defensa de plaça de professorat permanent · TecnoCampus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372600" y="311040"/>
            <a:ext cx="199296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1600200"/>
            <a:ext cx="9966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Enginyeria del software: indústria, docència, recerca i TecnoCampus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1143000" y="2999159"/>
            <a:ext cx="1878330" cy="1353765"/>
          </a:xfrm>
          <a:prstGeom prst="rect">
            <a:avLst/>
          </a:prstGeom>
          <a:solidFill>
            <a:srgbClr val="E8F1F8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252799" y="3154680"/>
            <a:ext cx="1649221" cy="3219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Enginyeria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261799" y="3492465"/>
            <a:ext cx="1630821" cy="6057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145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indústria</a:t>
            </a:r>
            <a:endParaRPr lang="es-E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ca-ES" sz="145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del software</a:t>
            </a:r>
            <a:endParaRPr lang="es-E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" name="Connector 9"/>
          <p:cNvCxnSpPr>
            <a:cxnSpLocks/>
          </p:cNvCxnSpPr>
          <p:nvPr/>
        </p:nvCxnSpPr>
        <p:spPr>
          <a:xfrm>
            <a:off x="3017160" y="3483720"/>
            <a:ext cx="550582" cy="508"/>
          </a:xfrm>
          <a:prstGeom prst="straightConnector1">
            <a:avLst/>
          </a:prstGeom>
          <a:ln w="22860">
            <a:solidFill>
              <a:srgbClr val="D1891F"/>
            </a:solidFill>
            <a:round/>
          </a:ln>
        </p:spPr>
      </p:cxnSp>
      <p:sp>
        <p:nvSpPr>
          <p:cNvPr id="76" name="Rounded Rectangle 10"/>
          <p:cNvSpPr/>
          <p:nvPr/>
        </p:nvSpPr>
        <p:spPr>
          <a:xfrm>
            <a:off x="3566160" y="2999159"/>
            <a:ext cx="1878330" cy="1353765"/>
          </a:xfrm>
          <a:prstGeom prst="rect">
            <a:avLst/>
          </a:prstGeom>
          <a:solidFill>
            <a:srgbClr val="EBF6F0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3675959" y="3154680"/>
            <a:ext cx="1649221" cy="3219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Docència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3607308" y="3473415"/>
            <a:ext cx="1792224" cy="6057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132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enginyeria del software</a:t>
            </a:r>
            <a:endParaRPr lang="es-E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ca-ES" sz="132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 l’aula</a:t>
            </a:r>
            <a:endParaRPr lang="es-E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Connector 13"/>
          <p:cNvCxnSpPr>
            <a:cxnSpLocks/>
          </p:cNvCxnSpPr>
          <p:nvPr/>
        </p:nvCxnSpPr>
        <p:spPr>
          <a:xfrm>
            <a:off x="5440320" y="3483720"/>
            <a:ext cx="550582" cy="508"/>
          </a:xfrm>
          <a:prstGeom prst="straightConnector1">
            <a:avLst/>
          </a:prstGeom>
          <a:ln w="22860">
            <a:solidFill>
              <a:srgbClr val="D1891F"/>
            </a:solidFill>
            <a:round/>
          </a:ln>
        </p:spPr>
      </p:cxnSp>
      <p:sp>
        <p:nvSpPr>
          <p:cNvPr id="80" name="Rounded Rectangle 14"/>
          <p:cNvSpPr/>
          <p:nvPr/>
        </p:nvSpPr>
        <p:spPr>
          <a:xfrm>
            <a:off x="5989320" y="2999159"/>
            <a:ext cx="1878330" cy="1353765"/>
          </a:xfrm>
          <a:prstGeom prst="rect">
            <a:avLst/>
          </a:prstGeom>
          <a:solidFill>
            <a:srgbClr val="FFF4DB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6099119" y="3154680"/>
            <a:ext cx="1649221" cy="3219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Recerca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6024959" y="3463889"/>
            <a:ext cx="1788491" cy="6413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132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en Educació en</a:t>
            </a:r>
            <a:endParaRPr lang="es-E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ca-ES" sz="132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Enginyeria del Software</a:t>
            </a:r>
            <a:endParaRPr lang="es-E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Connector 17"/>
          <p:cNvCxnSpPr>
            <a:cxnSpLocks/>
          </p:cNvCxnSpPr>
          <p:nvPr/>
        </p:nvCxnSpPr>
        <p:spPr>
          <a:xfrm>
            <a:off x="7863480" y="3483720"/>
            <a:ext cx="550582" cy="508"/>
          </a:xfrm>
          <a:prstGeom prst="straightConnector1">
            <a:avLst/>
          </a:prstGeom>
          <a:ln w="22860">
            <a:solidFill>
              <a:srgbClr val="D1891F"/>
            </a:solidFill>
            <a:round/>
          </a:ln>
        </p:spPr>
      </p:cxnSp>
      <p:sp>
        <p:nvSpPr>
          <p:cNvPr id="84" name="Rounded Rectangle 18"/>
          <p:cNvSpPr/>
          <p:nvPr/>
        </p:nvSpPr>
        <p:spPr>
          <a:xfrm>
            <a:off x="8412480" y="2999159"/>
            <a:ext cx="2064864" cy="1353765"/>
          </a:xfrm>
          <a:prstGeom prst="rect">
            <a:avLst/>
          </a:prstGeom>
          <a:solidFill>
            <a:srgbClr val="F7F8FA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8522280" y="3154680"/>
            <a:ext cx="1848384" cy="360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TecnoCampus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8531279" y="3501989"/>
            <a:ext cx="1839003" cy="6413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ca-ES" sz="145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projecte docent</a:t>
            </a:r>
            <a:endParaRPr lang="es-E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ca-ES" sz="145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i acadèmic</a:t>
            </a:r>
            <a:endParaRPr lang="es-E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1097280" y="4892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Una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trajectòria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iniciada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el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2004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orientada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a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formar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enginyers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enginyeres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tècnicament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competents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professionalment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5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responsables</a:t>
            </a:r>
            <a:r>
              <a:rPr lang="en-US" sz="15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.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64008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11018520" y="644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1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Primera etapa: enginyeria del software i consultoria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De la competència tècnica a la </a:t>
            </a:r>
            <a:r>
              <a:rPr lang="es-E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voluntat</a:t>
            </a: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 de comunicar i acompanyar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372600" y="311040"/>
            <a:ext cx="199296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731520" y="1508760"/>
            <a:ext cx="5074560" cy="3428640"/>
          </a:xfrm>
          <a:prstGeom prst="rect">
            <a:avLst/>
          </a:prstGeom>
          <a:solidFill>
            <a:srgbClr val="E8F1F8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960120" y="171900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Vida Software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4160520" y="1664280"/>
            <a:ext cx="12340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A5C84"/>
                </a:solidFill>
                <a:effectLst/>
                <a:uFillTx/>
                <a:latin typeface="Arial"/>
              </a:rPr>
              <a:t>innovació mòbil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960120" y="2240280"/>
            <a:ext cx="4345200" cy="16260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Component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Symbian OS per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afegir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interacció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natural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amb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veu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a les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aplicacions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mòbils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C/C++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amb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restriccions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memòria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, CPU i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xarxa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Presentació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al 3GSM/Mobile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World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Congress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Patent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internacional de Vida Software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com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a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context</a:t>
            </a:r>
            <a:r>
              <a:rPr lang="es-E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d’innovació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6172200" y="1508760"/>
            <a:ext cx="5074560" cy="3428640"/>
          </a:xfrm>
          <a:prstGeom prst="rect">
            <a:avLst/>
          </a:prstGeom>
          <a:solidFill>
            <a:srgbClr val="EBF6F0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ounded Rectangle 12"/>
          <p:cNvSpPr/>
          <p:nvPr/>
        </p:nvSpPr>
        <p:spPr>
          <a:xfrm>
            <a:off x="9646920" y="1664280"/>
            <a:ext cx="123408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A5C84"/>
                </a:solidFill>
                <a:effectLst/>
                <a:uFillTx/>
                <a:latin typeface="Arial"/>
              </a:rPr>
              <a:t>consultoria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3"/>
          <p:cNvSpPr/>
          <p:nvPr/>
        </p:nvSpPr>
        <p:spPr>
          <a:xfrm>
            <a:off x="6441840" y="2580840"/>
            <a:ext cx="4282920" cy="14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Linux, Java, Spring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sistemes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d’informació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clients, equips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treball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col·laboratiu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enginyeria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arquitectura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software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comunicació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tècnica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amb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altres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perfils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formació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mentoria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d’enginyers</a:t>
            </a:r>
            <a:r>
              <a:rPr lang="en-US" sz="142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42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júniors</a:t>
            </a:r>
            <a:endParaRPr lang="es-ES" sz="14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4"/>
          <p:cNvSpPr/>
          <p:nvPr/>
        </p:nvSpPr>
        <p:spPr>
          <a:xfrm>
            <a:off x="6419160" y="4303440"/>
            <a:ext cx="4434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Transició cap a consultoria, sistemes empresarials i competències comunicatives.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5"/>
          <p:cNvSpPr/>
          <p:nvPr/>
        </p:nvSpPr>
        <p:spPr>
          <a:xfrm>
            <a:off x="914400" y="534924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Base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tècnica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sòlida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,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comunicació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i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acompanyament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com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a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pont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cap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a la </a:t>
            </a:r>
            <a:r>
              <a:rPr lang="es-E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docència</a:t>
            </a:r>
            <a:r>
              <a:rPr lang="es-ES" sz="160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.</a:t>
            </a:r>
            <a:endParaRPr lang="es-E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6"/>
          <p:cNvSpPr/>
          <p:nvPr/>
        </p:nvSpPr>
        <p:spPr>
          <a:xfrm>
            <a:off x="65088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11018520" y="644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2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7584120" y="17578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rmAutofit fontScale="925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openTrends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2"/>
          <p:cNvPicPr/>
          <p:nvPr/>
        </p:nvPicPr>
        <p:blipFill>
          <a:blip r:embed="rId4"/>
          <a:stretch/>
        </p:blipFill>
        <p:spPr>
          <a:xfrm>
            <a:off x="6540120" y="1618560"/>
            <a:ext cx="822600" cy="822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FP</a:t>
            </a:r>
            <a:r>
              <a:rPr lang="en-U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: el descobriment clar de la vocació docent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Aprendre a ensenyar, escoltar i acompanyar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372600" y="311040"/>
            <a:ext cx="199296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ounded Rectangle 6"/>
          <p:cNvSpPr/>
          <p:nvPr/>
        </p:nvSpPr>
        <p:spPr>
          <a:xfrm>
            <a:off x="777240" y="2011680"/>
            <a:ext cx="3337200" cy="2486880"/>
          </a:xfrm>
          <a:prstGeom prst="rect">
            <a:avLst/>
          </a:prstGeom>
          <a:solidFill>
            <a:srgbClr val="EBF6F0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1024200" y="2267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Decisió vocacional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1005840" y="2743200"/>
            <a:ext cx="2742840" cy="13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Màster de Formació del Professorat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Formació Professional: DAW i DAM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aula, relació amb l’alumnat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9"/>
          <p:cNvSpPr/>
          <p:nvPr/>
        </p:nvSpPr>
        <p:spPr>
          <a:xfrm>
            <a:off x="4407480" y="1645920"/>
            <a:ext cx="3337200" cy="3218400"/>
          </a:xfrm>
          <a:prstGeom prst="rect">
            <a:avLst/>
          </a:prstGeom>
          <a:solidFill>
            <a:srgbClr val="E8F1F8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4645080" y="190188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Competències professionals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4645080" y="2487240"/>
            <a:ext cx="274284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s-E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c</a:t>
            </a: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omunica</a:t>
            </a:r>
            <a:r>
              <a:rPr lang="es-E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ció assertiva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escolta activa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acompanyament emocional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99"/>
              </a:spcAft>
            </a:pPr>
            <a:r>
              <a:rPr lang="en-US" sz="13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• confiança i criteri professional</a:t>
            </a:r>
            <a:endParaRPr lang="es-E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2"/>
          <p:cNvSpPr/>
          <p:nvPr/>
        </p:nvSpPr>
        <p:spPr>
          <a:xfrm>
            <a:off x="8046720" y="2011680"/>
            <a:ext cx="3337200" cy="2486880"/>
          </a:xfrm>
          <a:prstGeom prst="rect">
            <a:avLst/>
          </a:prstGeom>
          <a:solidFill>
            <a:srgbClr val="FFF4DB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8284320" y="22676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Evolució acadèmica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4"/>
          <p:cNvSpPr/>
          <p:nvPr/>
        </p:nvSpPr>
        <p:spPr>
          <a:xfrm>
            <a:off x="8284320" y="2853000"/>
            <a:ext cx="27885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137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Voluntat de portar a l’aula continguts més avançats d’enginyeria del software, arquitectura i disseny de sistemes d’informació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5"/>
          <p:cNvSpPr/>
          <p:nvPr/>
        </p:nvSpPr>
        <p:spPr>
          <a:xfrm>
            <a:off x="1051560" y="534924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6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Valoració positiva de l’FP. La mirada s’orienta cap a la universitat.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64008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11018520" y="644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3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De La Salle al TecnoCampus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Alineació acadèmica i trajectòria sostenible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372600" y="311040"/>
            <a:ext cx="199296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822960" y="1828800"/>
            <a:ext cx="2742840" cy="2331360"/>
          </a:xfrm>
          <a:prstGeom prst="rect">
            <a:avLst/>
          </a:prstGeom>
          <a:solidFill>
            <a:srgbClr val="F7F8FA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Picture 6" descr="lasalle.png"/>
          <p:cNvPicPr/>
          <p:nvPr/>
        </p:nvPicPr>
        <p:blipFill>
          <a:blip r:embed="rId4"/>
          <a:stretch/>
        </p:blipFill>
        <p:spPr>
          <a:xfrm>
            <a:off x="1051560" y="2030040"/>
            <a:ext cx="987120" cy="3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7"/>
          <p:cNvSpPr/>
          <p:nvPr/>
        </p:nvSpPr>
        <p:spPr>
          <a:xfrm>
            <a:off x="2139840" y="2075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La Salle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1143000" y="274320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docència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universitària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2D343C"/>
                </a:solidFill>
                <a:latin typeface="Arial"/>
              </a:rPr>
              <a:t>programació orientada a objectes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sistemes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operatius</a:t>
            </a:r>
            <a:endParaRPr lang="en-US" sz="1350" b="0" u="none" strike="noStrike" dirty="0">
              <a:solidFill>
                <a:srgbClr val="2D343C"/>
              </a:solidFill>
              <a:effectLst/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Android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Projecte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Sallefy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/ ABP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onnector 9"/>
          <p:cNvCxnSpPr/>
          <p:nvPr/>
        </p:nvCxnSpPr>
        <p:spPr>
          <a:xfrm>
            <a:off x="3566160" y="2999160"/>
            <a:ext cx="594720" cy="360"/>
          </a:xfrm>
          <a:prstGeom prst="straightConnector1">
            <a:avLst/>
          </a:prstGeom>
          <a:ln w="22860">
            <a:solidFill>
              <a:srgbClr val="D1891F"/>
            </a:solidFill>
            <a:round/>
          </a:ln>
        </p:spPr>
      </p:cxnSp>
      <p:sp>
        <p:nvSpPr>
          <p:cNvPr id="132" name="Rounded Rectangle 10"/>
          <p:cNvSpPr/>
          <p:nvPr/>
        </p:nvSpPr>
        <p:spPr>
          <a:xfrm>
            <a:off x="4160520" y="1828800"/>
            <a:ext cx="2742840" cy="2331360"/>
          </a:xfrm>
          <a:prstGeom prst="rect">
            <a:avLst/>
          </a:prstGeom>
          <a:solidFill>
            <a:srgbClr val="FFF4DB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4389120" y="20757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Decisió reflexionada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4480560" y="274320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direcció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coordinació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encaix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acadèmic</a:t>
            </a:r>
            <a:endParaRPr lang="es-ES" sz="135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2D343C"/>
                </a:solidFill>
                <a:latin typeface="Arial"/>
              </a:rPr>
              <a:t>c</a:t>
            </a:r>
            <a:r>
              <a:rPr lang="en-US" sz="135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onciliació</a:t>
            </a:r>
            <a:r>
              <a:rPr lang="en-US" sz="135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familiar 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Connector 13"/>
          <p:cNvCxnSpPr/>
          <p:nvPr/>
        </p:nvCxnSpPr>
        <p:spPr>
          <a:xfrm>
            <a:off x="6903720" y="2999160"/>
            <a:ext cx="594360" cy="360"/>
          </a:xfrm>
          <a:prstGeom prst="straightConnector1">
            <a:avLst/>
          </a:prstGeom>
          <a:ln w="22860">
            <a:solidFill>
              <a:srgbClr val="D1891F"/>
            </a:solidFill>
            <a:round/>
          </a:ln>
        </p:spPr>
      </p:cxnSp>
      <p:sp>
        <p:nvSpPr>
          <p:cNvPr id="136" name="Rounded Rectangle 14"/>
          <p:cNvSpPr/>
          <p:nvPr/>
        </p:nvSpPr>
        <p:spPr>
          <a:xfrm>
            <a:off x="7498080" y="1828800"/>
            <a:ext cx="2742840" cy="2331360"/>
          </a:xfrm>
          <a:prstGeom prst="rect">
            <a:avLst/>
          </a:prstGeom>
          <a:solidFill>
            <a:srgbClr val="E8F1F8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7" name="Picture 15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7699320" y="2048400"/>
            <a:ext cx="2391120" cy="4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16"/>
          <p:cNvSpPr/>
          <p:nvPr/>
        </p:nvSpPr>
        <p:spPr>
          <a:xfrm>
            <a:off x="8128440" y="2529000"/>
            <a:ext cx="1653480" cy="3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TecnoCampus</a:t>
            </a:r>
            <a:endParaRPr lang="es-E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7699320" y="2930760"/>
            <a:ext cx="2541600" cy="12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grau orientat a la gestió i als sistemes d’informació</a:t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endParaRPr lang="es-E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solidFill>
                  <a:srgbClr val="2D343C"/>
                </a:solidFill>
                <a:latin typeface="Arial"/>
              </a:rPr>
              <a:t>e</a:t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nginyeria</a:t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del software i </a:t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disseny</a:t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</a:t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sistemes</a:t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d’informació</a:t>
            </a:r>
            <a:endParaRPr lang="es-E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projecte</a:t>
            </a:r>
            <a:r>
              <a:rPr lang="es-ES" sz="120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20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acadèmic</a:t>
            </a:r>
            <a:endParaRPr lang="es-E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8"/>
          <p:cNvSpPr/>
          <p:nvPr/>
        </p:nvSpPr>
        <p:spPr>
          <a:xfrm>
            <a:off x="914400" y="507492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El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desig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de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consolidar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una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plaça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al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TecnoCampus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no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neix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ara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: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ve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d’una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trajectòria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que hi ha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trobat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alineació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acadèmica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i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 </a:t>
            </a:r>
            <a:r>
              <a:rPr lang="en-US" sz="1650" b="1" u="none" strike="noStrike" dirty="0" err="1">
                <a:solidFill>
                  <a:srgbClr val="1C2B3B"/>
                </a:solidFill>
                <a:effectLst/>
                <a:uFillTx/>
                <a:latin typeface="Arial"/>
              </a:rPr>
              <a:t>institucional</a:t>
            </a:r>
            <a:r>
              <a:rPr lang="en-US" sz="1650" b="1" u="none" strike="noStrike" dirty="0">
                <a:solidFill>
                  <a:srgbClr val="1C2B3B"/>
                </a:solidFill>
                <a:effectLst/>
                <a:uFillTx/>
                <a:latin typeface="Arial"/>
              </a:rPr>
              <a:t>.</a:t>
            </a:r>
            <a:endParaRPr lang="es-ES" sz="1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9"/>
          <p:cNvSpPr/>
          <p:nvPr/>
        </p:nvSpPr>
        <p:spPr>
          <a:xfrm>
            <a:off x="64008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0"/>
          <p:cNvSpPr/>
          <p:nvPr/>
        </p:nvSpPr>
        <p:spPr>
          <a:xfrm>
            <a:off x="11018520" y="644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4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TecnoCampus: docència, equip i arquitectura de software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Docència documentada, equip i transferència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372600" y="311040"/>
            <a:ext cx="199296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777240" y="1508760"/>
            <a:ext cx="3154320" cy="4114440"/>
          </a:xfrm>
          <a:prstGeom prst="rect">
            <a:avLst/>
          </a:prstGeom>
          <a:solidFill>
            <a:srgbClr val="E8F1F8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Picture 6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1024200" y="1737360"/>
            <a:ext cx="2584080" cy="48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7"/>
          <p:cNvSpPr/>
          <p:nvPr/>
        </p:nvSpPr>
        <p:spPr>
          <a:xfrm>
            <a:off x="987480" y="2606040"/>
            <a:ext cx="2514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Docència continuada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des de 2021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1024200" y="3401640"/>
            <a:ext cx="2514240" cy="1636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119"/>
              </a:spcAft>
            </a:pP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programació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estructures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dades</a:t>
            </a:r>
            <a:endParaRPr lang="es-E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"/>
              </a:spcAft>
            </a:pP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Laboratori d’Aplicacions Internet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endParaRPr lang="es-E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"/>
              </a:spcAft>
            </a:pP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disseny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sistemes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d’informació</a:t>
            </a:r>
            <a:endParaRPr lang="es-E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"/>
              </a:spcAft>
            </a:pP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15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registres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oficials</a:t>
            </a:r>
            <a:r>
              <a:rPr lang="en-US" sz="1180" dirty="0">
                <a:solidFill>
                  <a:srgbClr val="2D343C"/>
                </a:solidFill>
                <a:latin typeface="Arial"/>
              </a:rPr>
              <a:t>: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mitjana</a:t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8,75/10</a:t>
            </a:r>
            <a:endParaRPr lang="es-E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"/>
              </a:spcAft>
            </a:pP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• Quatre registres dels dos darrers cursos: mitjana 9,03/10</a:t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dirty="0">
                <a:solidFill>
                  <a:srgbClr val="2D343C"/>
                </a:solidFill>
                <a:latin typeface="Arial"/>
              </a:rPr>
              <a:t/>
            </a:r>
            <a:r>
              <a:rPr lang="en-US" sz="1180" dirty="0" err="1">
                <a:solidFill>
                  <a:srgbClr val="2D343C"/>
                </a:solidFill>
                <a:latin typeface="Arial"/>
              </a:rPr>
              <a:t/>
            </a:r>
            <a:r>
              <a:rPr lang="en-US" sz="1180" dirty="0">
                <a:solidFill>
                  <a:srgbClr val="2D343C"/>
                </a:solidFill>
                <a:latin typeface="Arial"/>
              </a:rPr>
              <a:t/>
            </a:r>
            <a:r>
              <a:rPr lang="en-US" sz="1180">
                <a:solidFill>
                  <a:srgbClr val="2D343C"/>
                </a:solidFill>
                <a:latin typeface="Arial"/>
              </a:rPr>
              <a:t/>
            </a:r>
            <a:r>
              <a:rPr lang="en-US" sz="118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n-US" sz="118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endParaRPr lang="es-E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4297680" y="1508760"/>
            <a:ext cx="3154320" cy="4114440"/>
          </a:xfrm>
          <a:prstGeom prst="rect">
            <a:avLst/>
          </a:prstGeom>
          <a:solidFill>
            <a:srgbClr val="EBF6F0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4572000" y="17830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Equip i arquitectura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4718160" y="23317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A5C84"/>
                </a:solidFill>
                <a:effectLst/>
                <a:uFillTx/>
                <a:latin typeface="Arial"/>
              </a:rPr>
              <a:t>Dr. Josep Roure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4709160" y="2788920"/>
            <a:ext cx="23313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15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Domain-Driven Design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3"/>
          <p:cNvSpPr/>
          <p:nvPr/>
        </p:nvSpPr>
        <p:spPr>
          <a:xfrm>
            <a:off x="4709160" y="3291840"/>
            <a:ext cx="23313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15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Hexagonal</a:t>
            </a:r>
            <a:r>
              <a:rPr lang="en-US" sz="115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 Architecture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4"/>
          <p:cNvSpPr/>
          <p:nvPr/>
        </p:nvSpPr>
        <p:spPr>
          <a:xfrm>
            <a:off x="4709160" y="3794760"/>
            <a:ext cx="233136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15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Microserveis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4608720" y="448056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Aprenentatge compartit i criteri arquitectònic aplicat a la docència.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6"/>
          <p:cNvSpPr/>
          <p:nvPr/>
        </p:nvSpPr>
        <p:spPr>
          <a:xfrm>
            <a:off x="7818120" y="1508760"/>
            <a:ext cx="3154320" cy="4114440"/>
          </a:xfrm>
          <a:prstGeom prst="rect">
            <a:avLst/>
          </a:prstGeom>
          <a:solidFill>
            <a:srgbClr val="FFF4DB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7"/>
          <p:cNvSpPr/>
          <p:nvPr/>
        </p:nvSpPr>
        <p:spPr>
          <a:xfrm>
            <a:off x="8083440" y="178308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Innovació i transferència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8"/>
          <p:cNvSpPr/>
          <p:nvPr/>
        </p:nvSpPr>
        <p:spPr>
          <a:xfrm>
            <a:off x="8366760" y="2468880"/>
            <a:ext cx="20570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A5C84"/>
                </a:solidFill>
                <a:effectLst/>
                <a:uFillTx/>
                <a:latin typeface="Arial"/>
              </a:rPr>
              <a:t>ABP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19"/>
          <p:cNvSpPr/>
          <p:nvPr/>
        </p:nvSpPr>
        <p:spPr>
          <a:xfrm>
            <a:off x="8366760" y="3035880"/>
            <a:ext cx="20570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2A5C84"/>
                </a:solidFill>
                <a:effectLst/>
                <a:uFillTx/>
                <a:latin typeface="Arial"/>
              </a:rPr>
              <a:t>SQAI</a:t>
            </a:r>
            <a:endParaRPr lang="es-E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8366760" y="3602880"/>
            <a:ext cx="2057040" cy="383760"/>
          </a:xfrm>
          <a:prstGeom prst="rect">
            <a:avLst/>
          </a:prstGeom>
          <a:solidFill>
            <a:srgbClr val="FFFFFF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2A5C84"/>
                </a:solidFill>
                <a:effectLst/>
                <a:uFillTx/>
                <a:latin typeface="Arial"/>
              </a:rPr>
              <a:t>Consultoria professional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1"/>
          <p:cNvSpPr/>
          <p:nvPr/>
        </p:nvSpPr>
        <p:spPr>
          <a:xfrm>
            <a:off x="8174880" y="4224600"/>
            <a:ext cx="2422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Una línia que connecta aula, arquitectura de software i necessitats reals d’empreses i institucions.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914400" y="587052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La classe magistral posterior neix d’aquest punt de trobada: docència universitària, enginyeria del software i transferència professional.</a:t>
            </a:r>
            <a:endParaRPr lang="es-E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3"/>
          <p:cNvSpPr/>
          <p:nvPr/>
        </p:nvSpPr>
        <p:spPr>
          <a:xfrm>
            <a:off x="64008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11018520" y="644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5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eu metodològic"/>
          <p:cNvSpPr/>
          <p:nvPr/>
        </p:nvSpPr>
        <p:spPr>
          <a:xfrm>
            <a:off x="1378440" y="6171840"/>
            <a:ext cx="979956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Mitjanes aritmètiques simples calculades a partir dels registres certificats pel Centre Universitari TecnoCampus.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Internacionalització, recerca doctoral i projecte de futur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De la transferència professional a l’articulació científica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3" descr="logotip-oficial-tecnocampus-upf-horitzontal-color.png"/>
          <p:cNvPicPr/>
          <p:nvPr/>
        </p:nvPicPr>
        <p:blipFill>
          <a:blip r:embed="rId3"/>
          <a:stretch/>
        </p:blipFill>
        <p:spPr>
          <a:xfrm>
            <a:off x="9372600" y="311040"/>
            <a:ext cx="199296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5"/>
          <p:cNvSpPr/>
          <p:nvPr/>
        </p:nvSpPr>
        <p:spPr>
          <a:xfrm>
            <a:off x="822960" y="1508760"/>
            <a:ext cx="2971440" cy="2788560"/>
          </a:xfrm>
          <a:prstGeom prst="rect">
            <a:avLst/>
          </a:prstGeom>
          <a:solidFill>
            <a:srgbClr val="E8F1F8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6" descr="neueda_favicon.png"/>
          <p:cNvPicPr/>
          <p:nvPr/>
        </p:nvPicPr>
        <p:blipFill>
          <a:blip r:embed="rId4"/>
          <a:stretch/>
        </p:blipFill>
        <p:spPr>
          <a:xfrm>
            <a:off x="1325880" y="1774080"/>
            <a:ext cx="3470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7"/>
          <p:cNvSpPr/>
          <p:nvPr/>
        </p:nvSpPr>
        <p:spPr>
          <a:xfrm>
            <a:off x="1691640" y="18122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C1 i Neueda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1170360" y="2395800"/>
            <a:ext cx="2448720" cy="174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Cambridge C1 Advanced 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formació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internacional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anglès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2D343C"/>
              </a:buClr>
              <a:buFont typeface="Arial"/>
              <a:buChar char="•"/>
            </a:pP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Java, Spring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arquitectura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 software</a:t>
            </a:r>
          </a:p>
          <a:p>
            <a:pPr marL="285840" indent="-285840" defTabSz="457200">
              <a:lnSpc>
                <a:spcPct val="100000"/>
              </a:lnSpc>
              <a:buClr>
                <a:srgbClr val="2D343C"/>
              </a:buClr>
              <a:buFont typeface="Arial"/>
              <a:buChar char="•"/>
            </a:pPr>
            <a:r>
              <a:rPr lang="en-US" sz="1340" dirty="0" err="1">
                <a:solidFill>
                  <a:srgbClr val="2D343C"/>
                </a:solidFill>
                <a:latin typeface="Arial"/>
              </a:rPr>
              <a:t>competències</a:t>
            </a:r>
            <a:r>
              <a:rPr lang="en-US" sz="1340" dirty="0">
                <a:solidFill>
                  <a:srgbClr val="2D343C"/>
                </a:solidFill>
                <a:latin typeface="Arial"/>
              </a:rPr>
              <a:t> professionals transversals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9"/>
          <p:cNvSpPr/>
          <p:nvPr/>
        </p:nvSpPr>
        <p:spPr>
          <a:xfrm>
            <a:off x="4251960" y="1508760"/>
            <a:ext cx="2971440" cy="2788560"/>
          </a:xfrm>
          <a:prstGeom prst="rect">
            <a:avLst/>
          </a:prstGeom>
          <a:solidFill>
            <a:srgbClr val="EBF6F0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0"/>
          <p:cNvSpPr/>
          <p:nvPr/>
        </p:nvSpPr>
        <p:spPr>
          <a:xfrm>
            <a:off x="4480560" y="175572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Doctorat UDIMA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4599360" y="2395800"/>
            <a:ext cx="2395440" cy="154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Educació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Enginyeria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del Software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competències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s-E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comunicatives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integrades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en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ABP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2"/>
          <p:cNvSpPr/>
          <p:nvPr/>
        </p:nvSpPr>
        <p:spPr>
          <a:xfrm>
            <a:off x="7680960" y="1508760"/>
            <a:ext cx="2971440" cy="2788560"/>
          </a:xfrm>
          <a:prstGeom prst="rect">
            <a:avLst/>
          </a:prstGeom>
          <a:solidFill>
            <a:srgbClr val="FFF4DB"/>
          </a:solidFill>
          <a:ln>
            <a:solidFill>
              <a:srgbClr val="D3DA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3"/>
          <p:cNvSpPr/>
          <p:nvPr/>
        </p:nvSpPr>
        <p:spPr>
          <a:xfrm>
            <a:off x="7909560" y="175572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Projecte de futur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4"/>
          <p:cNvSpPr/>
          <p:nvPr/>
        </p:nvSpPr>
        <p:spPr>
          <a:xfrm>
            <a:off x="8028359" y="2395799"/>
            <a:ext cx="2325316" cy="1671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docència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rigorosa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recerca en Educació en Enginyeria del Software</a:t>
            </a:r>
            <a:r>
              <a:rPr lang="es-E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r>
              <a:rPr lang="es-E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/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2D343C"/>
              </a:buClr>
              <a:buFont typeface="Arial"/>
              <a:buChar char="•"/>
            </a:pP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innovació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i</a:t>
            </a:r>
            <a:r>
              <a:rPr lang="en-US" sz="1340" b="0" u="none" strike="noStrike" dirty="0">
                <a:solidFill>
                  <a:srgbClr val="2D343C"/>
                </a:solidFill>
                <a:effectLst/>
                <a:uFillTx/>
                <a:latin typeface="Arial"/>
              </a:rPr>
              <a:t> </a:t>
            </a:r>
            <a:r>
              <a:rPr lang="en-US" sz="1340" b="0" u="none" strike="noStrike" dirty="0" err="1">
                <a:solidFill>
                  <a:srgbClr val="2D343C"/>
                </a:solidFill>
                <a:effectLst/>
                <a:uFillTx/>
                <a:latin typeface="Arial"/>
              </a:rPr>
              <a:t>transferència</a:t>
            </a:r>
            <a:endParaRPr lang="es-ES" sz="13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868680" y="46177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A5C84"/>
                </a:solidFill>
                <a:effectLst/>
                <a:uFillTx/>
                <a:latin typeface="Arial"/>
              </a:rPr>
              <a:t>Tesi doctoral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6"/>
          <p:cNvSpPr/>
          <p:nvPr/>
        </p:nvSpPr>
        <p:spPr>
          <a:xfrm>
            <a:off x="868680" y="4892040"/>
            <a:ext cx="100580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20" b="0" u="none" strike="noStrike">
                <a:solidFill>
                  <a:srgbClr val="2D343C"/>
                </a:solidFill>
                <a:effectLst/>
                <a:uFillTx/>
                <a:latin typeface="Arial"/>
              </a:rPr>
              <a:t>Disseny mixt i quasiexperimental en dues assignatures reals amb ABP. Buit de recerca: integració curricular, mesura i estudis longitudinals.</a:t>
            </a:r>
            <a:endParaRPr lang="es-E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960120" y="571500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8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Consolidar un projecte acadèmic vinculat al TecnoCampus: formar enginyers i enginyeres tècnicament solvents i professionalment responsables.</a:t>
            </a:r>
            <a:endParaRPr lang="es-E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8"/>
          <p:cNvSpPr/>
          <p:nvPr/>
        </p:nvSpPr>
        <p:spPr>
          <a:xfrm>
            <a:off x="65016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11018520" y="644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6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640080" y="384120"/>
            <a:ext cx="8457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C2B3B"/>
                </a:solidFill>
                <a:effectLst/>
                <a:uFillTx/>
                <a:latin typeface="Arial"/>
              </a:rPr>
              <a:t>Annex A. Contrast d’orientació curricular</a:t>
            </a:r>
          </a:p>
        </p:txBody>
      </p:sp>
      <p:sp>
        <p:nvSpPr>
          <p:cNvPr id="169" name="TextBox 2"/>
          <p:cNvSpPr/>
          <p:nvPr/>
        </p:nvSpPr>
        <p:spPr>
          <a:xfrm>
            <a:off x="658440" y="8413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La Salle URL i TecnoCampus: diferències d’èmfasi, no de qualitat</a:t>
            </a:r>
          </a:p>
        </p:txBody>
      </p:sp>
      <p:sp>
        <p:nvSpPr>
          <p:cNvPr id="171" name="Rectangle 4"/>
          <p:cNvSpPr/>
          <p:nvPr/>
        </p:nvSpPr>
        <p:spPr>
          <a:xfrm>
            <a:off x="640080" y="1115640"/>
            <a:ext cx="10789560" cy="13320"/>
          </a:xfrm>
          <a:prstGeom prst="rect">
            <a:avLst/>
          </a:prstGeom>
          <a:solidFill>
            <a:srgbClr val="D3DAE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0" name="Taula Annex A"/>
          <p:cNvGraphicFramePr/>
          <p:nvPr/>
        </p:nvGraphicFramePr>
        <p:xfrm>
          <a:off x="640080" y="1350000"/>
          <a:ext cx="10911840" cy="32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80000"/>
                <a:gridCol w="4465920"/>
                <a:gridCol w="4465920"/>
              </a:tblGrid>
              <a:tr h="400000">
                <a:tc>
                  <a:txBody>
                    <a:bodyPr/>
                    <a:lstStyle/>
                    <a:p>
                      <a:pPr/>
                      <a:r>
                        <a:rPr lang="ca-E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Dimensió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1C2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La Salle URL · Grau en Enginyeria Informàtica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1C2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TecnoCampus (UPF) · Grau en Enginyeria Informàtica de Gestió i Sistemes d’Informació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1C2B3B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/>
                      <a:r>
                        <a:rPr lang="ca-ES" sz="1050" b="1" dirty="0">
                          <a:solidFill>
                            <a:srgbClr val="2D343C"/>
                          </a:solidFill>
                          <a:latin typeface="Arial"/>
                        </a:rPr>
                        <a:t>Enginyeria del Software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Metodologia del Software I i II · Disseny i Programació Orientats a Objectes · Projectes de Programació I i II · Projectes Web I i II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1" dirty="0">
                          <a:solidFill>
                            <a:srgbClr val="2D343C"/>
                          </a:solidFill>
                          <a:latin typeface="Arial"/>
                        </a:rPr>
                        <a:t>Enginyeria del Software I, II i III</a:t>
                      </a:r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 · Laboratori de Software I i II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/>
                      <a:r>
                        <a:rPr lang="ca-ES" sz="1050" b="1" dirty="0">
                          <a:solidFill>
                            <a:srgbClr val="2D343C"/>
                          </a:solidFill>
                          <a:latin typeface="Arial"/>
                        </a:rPr>
                        <a:t>Sistemes d’Informació i arquitectura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presència més puntual, principalment dins l’oferta optativa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1" dirty="0">
                          <a:solidFill>
                            <a:srgbClr val="2D343C"/>
                          </a:solidFill>
                          <a:latin typeface="Arial"/>
                        </a:rPr>
                        <a:t>Disseny de Sistemes d’Informació</a:t>
                      </a:r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 · Sistemes d’Informació per a les Organitzacions · Gestió de Sistemes d’Informació · Laboratori d’Aplicacions Internet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/>
                      <a:r>
                        <a:rPr lang="ca-ES" sz="1050" b="1" dirty="0">
                          <a:solidFill>
                            <a:srgbClr val="2D343C"/>
                          </a:solidFill>
                          <a:latin typeface="Arial"/>
                        </a:rPr>
                        <a:t>Electrònica i hardware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1" dirty="0">
                          <a:solidFill>
                            <a:srgbClr val="2D343C"/>
                          </a:solidFill>
                          <a:latin typeface="Arial"/>
                        </a:rPr>
                        <a:t>pes obligatori destacat</a:t>
                      </a:r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: Electrònica bàsica · Sistemes digitals i microprocessadors · Arquitectura de computadors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presència introductòria: Introducció als Computadors · Programació de Microprocessadors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/>
                      <a:r>
                        <a:rPr lang="ca-ES" sz="1050" b="1" dirty="0">
                          <a:solidFill>
                            <a:srgbClr val="2D343C"/>
                          </a:solidFill>
                          <a:latin typeface="Arial"/>
                        </a:rPr>
                        <a:t>Xarxes i telecomunicacions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obligatòries de xarxes i </a:t>
                      </a:r>
                      <a:r>
                        <a:rPr lang="ca-ES" sz="1000" b="1" dirty="0">
                          <a:solidFill>
                            <a:srgbClr val="2D343C"/>
                          </a:solidFill>
                          <a:latin typeface="Arial"/>
                        </a:rPr>
                        <a:t>àmplia oferta optativa</a:t>
                      </a:r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 de telecomunicacions: xarxes sense fils, comunicacions òptiques i digitals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Xarxes i Protocols · Xarxes i Serveis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/>
                      <a:r>
                        <a:rPr lang="ca-ES" sz="1050" b="1" dirty="0">
                          <a:solidFill>
                            <a:srgbClr val="2D343C"/>
                          </a:solidFill>
                          <a:latin typeface="Arial"/>
                        </a:rPr>
                        <a:t>Identitat del grau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tradició històrica d’enginyeria vinculada a les telecomunicacions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ca-ES" sz="1000" b="1" dirty="0">
                          <a:solidFill>
                            <a:srgbClr val="2D343C"/>
                          </a:solidFill>
                          <a:latin typeface="Arial"/>
                        </a:rPr>
                        <a:t>orientació explícita a Gestió i Sistemes d’Informació</a:t>
                      </a:r>
                      <a:r>
                        <a:rPr lang="ca-ES" sz="1000" b="0" dirty="0">
                          <a:solidFill>
                            <a:srgbClr val="2D343C"/>
                          </a:solidFill>
                          <a:latin typeface="Arial"/>
                        </a:rPr>
                        <a:t>, present al nom del grau</a:t>
                      </a:r>
                    </a:p>
                  </a:txBody>
                  <a:tcPr marL="90000" marR="90000" marT="45000" marB="45000" anchor="ctr">
                    <a:lnL w="9525">
                      <a:solidFill>
                        <a:srgbClr val="D3DAE2"/>
                      </a:solidFill>
                    </a:lnL>
                    <a:lnR w="9525">
                      <a:solidFill>
                        <a:srgbClr val="D3DAE2"/>
                      </a:solidFill>
                    </a:lnR>
                    <a:lnT w="9525">
                      <a:solidFill>
                        <a:srgbClr val="D3DAE2"/>
                      </a:solidFill>
                    </a:lnT>
                    <a:lnB w="9525">
                      <a:solidFill>
                        <a:srgbClr val="D3DA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Conclusio"/>
          <p:cNvSpPr txBox="1"/>
          <p:nvPr/>
        </p:nvSpPr>
        <p:spPr>
          <a:xfrm>
            <a:off x="640080" y="5000000"/>
            <a:ext cx="10911840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ca-ES" sz="1450" b="1" dirty="0">
                <a:solidFill>
                  <a:srgbClr val="1C2B3B"/>
                </a:solidFill>
                <a:latin typeface="Arial"/>
              </a:rPr>
              <a:t>Aquest contrast ajuda a explicar un encaix més directe entre la meva especialització i el projecte acadèmic del TecnoCampus.</a:t>
            </a:r>
          </a:p>
        </p:txBody>
      </p:sp>
      <p:sp>
        <p:nvSpPr>
          <p:cNvPr id="32" name="TextBox NotaQualitat"/>
          <p:cNvSpPr txBox="1"/>
          <p:nvPr/>
        </p:nvSpPr>
        <p:spPr>
          <a:xfrm>
            <a:off x="640080" y="5480000"/>
            <a:ext cx="10911840" cy="3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ca-ES" sz="1150" i="1" dirty="0">
                <a:solidFill>
                  <a:srgbClr val="67717C"/>
                </a:solidFill>
                <a:latin typeface="Arial"/>
              </a:rPr>
              <a:t>No és una comparació de qualitat, sinó d’orientació curricular.</a:t>
            </a:r>
          </a:p>
        </p:txBody>
      </p:sp>
      <p:sp>
        <p:nvSpPr>
          <p:cNvPr id="33" name="TextBox Fonts"/>
          <p:cNvSpPr txBox="1"/>
          <p:nvPr/>
        </p:nvSpPr>
        <p:spPr>
          <a:xfrm>
            <a:off x="640080" y="6050000"/>
            <a:ext cx="10911840" cy="2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ca-ES" sz="860" dirty="0">
                <a:solidFill>
                  <a:srgbClr val="67717C"/>
                </a:solidFill>
                <a:latin typeface="Arial"/>
              </a:rPr>
              <a:t>Fonts: plans d’estudis oficials publicats del Grau en Enginyeria Informàtica (La Salle URL) i del Grau en Enginyeria Informàtica de Gestió i Sistemes d’Informació (TecnoCampus). Assignatures verificades el 13 de juliol de 2026.</a:t>
            </a:r>
          </a:p>
        </p:txBody>
      </p:sp>
      <p:sp>
        <p:nvSpPr>
          <p:cNvPr id="185" name="TextBox 18"/>
          <p:cNvSpPr/>
          <p:nvPr/>
        </p:nvSpPr>
        <p:spPr>
          <a:xfrm>
            <a:off x="650160" y="644652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Trajectòria professional, acadèmica i científica · Defensa de plaça de professorat permanent</a:t>
            </a:r>
            <a:endParaRPr lang="es-E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10240000" y="6446520"/>
            <a:ext cx="1098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9999"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60" b="0" u="none" strike="noStrike">
                <a:solidFill>
                  <a:srgbClr val="67717C"/>
                </a:solidFill>
                <a:effectLst/>
                <a:uFillTx/>
                <a:latin typeface="Arial"/>
              </a:rPr>
              <a:t>Annex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1088</Words>
  <Application>Microsoft Macintosh PowerPoint</Application>
  <PresentationFormat>Panorámica</PresentationFormat>
  <Paragraphs>151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Trajectòria professional, acadèmica i científica</dc:title>
  <dc:subject>Defensa de plaça de professorat permanent · TecnoCampus</dc:subject>
  <dc:creator>Alfredo Rueda Unsain</dc:creator>
  <dc:description>Generated support deck for 10-minute trajectory defense.</dc:description>
  <cp:lastModifiedBy>Alfredo Rueda Unsain</cp:lastModifiedBy>
  <cp:revision>38</cp:revision>
  <dcterms:created xsi:type="dcterms:W3CDTF">2013-01-27T09:14:16Z</dcterms:created>
  <dcterms:modified xsi:type="dcterms:W3CDTF">2026-07-13T19:07:56Z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Panorámica</vt:lpwstr>
  </property>
  <property fmtid="{D5CDD505-2E9C-101B-9397-08002B2CF9AE}" pid="4" name="Slides">
    <vt:r8>6</vt:r8>
  </property>
</Properties>
</file>