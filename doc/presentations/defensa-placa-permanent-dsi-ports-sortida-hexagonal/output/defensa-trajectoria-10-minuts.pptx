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6"/>
  </p:normalViewPr>
  <p:slideViewPr>
    <p:cSldViewPr snapToGrid="0">
      <p:cViewPr varScale="1">
        <p:scale>
          <a:sx n="134" d="100"/>
          <a:sy n="134" d="100"/>
        </p:scale>
        <p:origin x="12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FBF13A1-1170-4EF5-ACBC-0D1D4D08AC91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Agrair breument al tribunal.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llegir el CV: explicar el fil conductor.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Idees: 2004, indústria del software, docència universitària en software, innovació, transferència, recerca i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començar per la base professional en indústria del software.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Vida Software: etapa tècnica exigent, no explicar-la massa.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C/C++, Symbian i restriccions com a senyals de profunditat tècnica.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Patent: context d’innovació de Vida Software, no mèrit individual.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openTrends: Java, sistemes d’informació, clients i equips.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de competència tècnica a comunicació i acompanyament.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aquesta intuïció porta a la docència.</a:t>
            </a:r>
          </a:p>
        </p:txBody>
      </p:sp>
      <p:sp>
        <p:nvSpPr>
          <p:cNvPr id="19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 a la docència com a decisió vocacional, no improvisada.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Stucom: aula, FP, relació amb alumnat, escoltar i acompanyar.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Agraïment a l’FP; no menysvalorar-la.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Evolució cap a continguts tècnics universitaris més avançats.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universitat.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Salle: etapa universitària exigent i valuosa.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Evitar comparacions jeràrquiques entre institucions.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Motiu principal: alineació acadèmica amb enginyeria del software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Conciliació com a factor complementari de sostenibilitat.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Dra. Ester Bernadó va facilitar el contacte acadèmic amb el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el desig de consolidar-se ve de lluny.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Aquesta és la diapositiva central.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Docència continuada des de 2021 i assignatures alineades amb la plaça.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registres oficials d’avaluació docent: mitjana aritmètica simple de 8,75/10.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Quatre registres dels dos darrers cursos: mitjana aritmètica simple de 9,03/10.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dir mitjana ponderada ni percentatge de satisfacció.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Destacar Josep Roure: arquitectura, DDD, Clean Architecture, hexagonal.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Participació acreditada al projecte SQAI d’ABP i HexaStock com a integració de docència, pràctica i transferència.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Enllaçar amb la classe magistral.</a:t>
            </a:r>
          </a:p>
        </p:txBody>
      </p:sp>
      <p:sp>
        <p:nvSpPr>
          <p:cNvPr id="20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Cambridge C1 Advanced: 185, Pass at Grade C, C1 MECR.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Neueda: formació internacional en anglès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AGAUR: 60 hores de formació i consultoria especialitzada en REST, arquitectura hexagonal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Doctorat UDIMA: Educació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Tesi: problema obert identificat per la literatura recent; integració curricular, mesura i estudis longitudinals.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Disseny mixt i quasi experimental en dues assignatures reals amb ABP.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Tancar enllaçant amb la classe magistral següent.</a:t>
            </a:r>
          </a:p>
        </p:txBody>
      </p:sp>
      <p:sp>
        <p:nvSpPr>
          <p:cNvPr id="20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B1D526-60EE-459B-8405-97048558AB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CFD47C-16E2-4C32-AF42-4BFA228BC7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8A97F9-77FB-45A9-8C68-86FACB9CF4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C2C4F9-A06A-4329-83CB-D57F5CEB99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4B8347-10D0-4E88-9C89-E6131585B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9004F-A075-4CFC-A54D-7D7A8AA008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FC01E6-EACA-46D5-90B3-6947447142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3E3348-FCCB-4045-A5A9-115E11AD8F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798020-5C99-46C6-B283-6DCAAE8DE2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51E645-8C21-4B01-B549-599C31835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03F6D-B753-497B-97E2-2D8895355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Trajectòria professional, acadèmica i científica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Alfredo Rueda Unsain · Defensa de plaça de professorat permanent · TecnoCampus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1600200"/>
            <a:ext cx="9966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Enginyeria del software: indústria, docència, recerca i TecnoCampus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1143000" y="2999159"/>
            <a:ext cx="1878330" cy="1353765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25279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Enginyeria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261799" y="349246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indústria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Connector 9"/>
          <p:cNvCxnSpPr>
            <a:cxnSpLocks/>
          </p:cNvCxnSpPr>
          <p:nvPr/>
        </p:nvCxnSpPr>
        <p:spPr>
          <a:xfrm>
            <a:off x="301716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76" name="Rounded Rectangle 10"/>
          <p:cNvSpPr/>
          <p:nvPr/>
        </p:nvSpPr>
        <p:spPr>
          <a:xfrm>
            <a:off x="3566160" y="2999159"/>
            <a:ext cx="1878330" cy="1353765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367595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3684959" y="347341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 l’aula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Connector 13"/>
          <p:cNvCxnSpPr>
            <a:cxnSpLocks/>
          </p:cNvCxnSpPr>
          <p:nvPr/>
        </p:nvCxnSpPr>
        <p:spPr>
          <a:xfrm>
            <a:off x="544032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0" name="Rounded Rectangle 14"/>
          <p:cNvSpPr/>
          <p:nvPr/>
        </p:nvSpPr>
        <p:spPr>
          <a:xfrm>
            <a:off x="5989320" y="2999159"/>
            <a:ext cx="1878330" cy="1353765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609911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Recerca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6024959" y="3463889"/>
            <a:ext cx="1788491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educació en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17"/>
          <p:cNvCxnSpPr>
            <a:cxnSpLocks/>
          </p:cNvCxnSpPr>
          <p:nvPr/>
        </p:nvCxnSpPr>
        <p:spPr>
          <a:xfrm>
            <a:off x="786348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4" name="Rounded Rectangle 18"/>
          <p:cNvSpPr/>
          <p:nvPr/>
        </p:nvSpPr>
        <p:spPr>
          <a:xfrm>
            <a:off x="8412480" y="2999159"/>
            <a:ext cx="2064864" cy="1353765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8522280" y="3154680"/>
            <a:ext cx="1848384" cy="3605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0"/>
          <p:cNvSpPr/>
          <p:nvPr/>
        </p:nvSpPr>
        <p:spPr>
          <a:xfrm>
            <a:off x="8531279" y="3501989"/>
            <a:ext cx="1839003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projecte docent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 acadèmic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1"/>
          <p:cNvSpPr/>
          <p:nvPr/>
        </p:nvSpPr>
        <p:spPr>
          <a:xfrm>
            <a:off x="1097280" y="4892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Una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trajectòria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iniciada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el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2004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formar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competents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professionalment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responsables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.</a:t>
            </a:r>
            <a:endParaRPr lang="es-E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2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1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Primera etapa: enginyeria del software i consultoria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competència tècnica a la </a:t>
            </a:r>
            <a:r>
              <a:rPr lang="es-E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voluntat</a:t>
            </a: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 de comunicar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5"/>
          <p:cNvSpPr/>
          <p:nvPr/>
        </p:nvSpPr>
        <p:spPr>
          <a:xfrm>
            <a:off x="731520" y="1508760"/>
            <a:ext cx="5074560" cy="34286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960120" y="17190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Vida Software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7"/>
          <p:cNvSpPr/>
          <p:nvPr/>
        </p:nvSpPr>
        <p:spPr>
          <a:xfrm>
            <a:off x="41605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innovació mòbil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960120" y="2240280"/>
            <a:ext cx="4345200" cy="16260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Component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Symbian OS per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afegir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interacció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natural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veu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les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mòbils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C/C++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restriccions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memòria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, CPU i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xarxa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Presentació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al 3GSM / Mobile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World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Congress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Patent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internacional de Vida Software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context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d’innovació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0"/>
          <p:cNvSpPr/>
          <p:nvPr/>
        </p:nvSpPr>
        <p:spPr>
          <a:xfrm>
            <a:off x="6172200" y="1508760"/>
            <a:ext cx="5074560" cy="34286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2"/>
          <p:cNvSpPr/>
          <p:nvPr/>
        </p:nvSpPr>
        <p:spPr>
          <a:xfrm>
            <a:off x="96469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3"/>
          <p:cNvSpPr/>
          <p:nvPr/>
        </p:nvSpPr>
        <p:spPr>
          <a:xfrm>
            <a:off x="6441840" y="2580840"/>
            <a:ext cx="428292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Linux, Java, Spring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clients, equips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treball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col·laboratiu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comunicació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altres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perfils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mentoria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d’enginyers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júniors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4"/>
          <p:cNvSpPr/>
          <p:nvPr/>
        </p:nvSpPr>
        <p:spPr>
          <a:xfrm>
            <a:off x="6419160" y="4303440"/>
            <a:ext cx="4434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Transició cap a consultoria, sistemes empresarials i competències comunicatives.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914400" y="5349240"/>
            <a:ext cx="10149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Base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tècnica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sòlida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,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comunicació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i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acompanyament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pont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cap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la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6508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2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7584120" y="175788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openTrends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"/>
          <p:cNvPicPr/>
          <p:nvPr/>
        </p:nvPicPr>
        <p:blipFill>
          <a:blip r:embed="rId4"/>
          <a:stretch/>
        </p:blipFill>
        <p:spPr>
          <a:xfrm>
            <a:off x="6540120" y="1618560"/>
            <a:ext cx="822600" cy="822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FP</a:t>
            </a: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: el descobriment clar de la vocació docent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Aprendre a ensenyar, escoltar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777240" y="2011680"/>
            <a:ext cx="3337200" cy="248688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24200" y="22676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vocacional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1005840" y="2743200"/>
            <a:ext cx="2742840" cy="130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Màster de Formació del Professorat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Formació Professional: DAW / DAM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aula, relació amb l’alumnat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9"/>
          <p:cNvSpPr/>
          <p:nvPr/>
        </p:nvSpPr>
        <p:spPr>
          <a:xfrm>
            <a:off x="4407480" y="1645920"/>
            <a:ext cx="3337200" cy="321840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4645080" y="190188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Competències professionals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4645080" y="2487240"/>
            <a:ext cx="274284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</a:t>
            </a: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omunica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ció assertiva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escolta activa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acompanyament emocional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confiança i criteri professional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12"/>
          <p:cNvSpPr/>
          <p:nvPr/>
        </p:nvSpPr>
        <p:spPr>
          <a:xfrm>
            <a:off x="8046720" y="2011680"/>
            <a:ext cx="3337200" cy="248688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8284320" y="226764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Evolució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8284320" y="2853000"/>
            <a:ext cx="27885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37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Voluntat de portar a l’aula continguts més avançats d’enginyeria del software, arquitectura i disseny de sistemes d’informació</a:t>
            </a:r>
            <a:endParaRPr lang="es-E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5"/>
          <p:cNvSpPr/>
          <p:nvPr/>
        </p:nvSpPr>
        <p:spPr>
          <a:xfrm>
            <a:off x="1051560" y="5349240"/>
            <a:ext cx="9875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Valoració positiva de l’FP. La mirada s’orienta cap a la universitat.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3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 i el pont cap al TecnoCampus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Alineació acadèmica i trajectòria sostenible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ounded Rectangle 5"/>
          <p:cNvSpPr/>
          <p:nvPr/>
        </p:nvSpPr>
        <p:spPr>
          <a:xfrm>
            <a:off x="822960" y="1828800"/>
            <a:ext cx="2742840" cy="2331360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8" name="Picture 6" descr="lasalle.png"/>
          <p:cNvPicPr/>
          <p:nvPr/>
        </p:nvPicPr>
        <p:blipFill>
          <a:blip r:embed="rId4"/>
          <a:stretch/>
        </p:blipFill>
        <p:spPr>
          <a:xfrm>
            <a:off x="1051560" y="2030040"/>
            <a:ext cx="987120" cy="35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Box 7"/>
          <p:cNvSpPr/>
          <p:nvPr/>
        </p:nvSpPr>
        <p:spPr>
          <a:xfrm>
            <a:off x="2139840" y="20757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8"/>
          <p:cNvSpPr/>
          <p:nvPr/>
        </p:nvSpPr>
        <p:spPr>
          <a:xfrm>
            <a:off x="114300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universitària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operatius</a:t>
            </a:r>
            <a:endParaRPr lang="en-US" sz="1350" b="0" u="none" strike="noStrike" dirty="0">
              <a:solidFill>
                <a:srgbClr val="2D343C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Sallefy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/ ABP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Connector 9"/>
          <p:cNvCxnSpPr/>
          <p:nvPr/>
        </p:nvCxnSpPr>
        <p:spPr>
          <a:xfrm>
            <a:off x="3566160" y="2999160"/>
            <a:ext cx="59472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2" name="Rounded Rectangle 10"/>
          <p:cNvSpPr/>
          <p:nvPr/>
        </p:nvSpPr>
        <p:spPr>
          <a:xfrm>
            <a:off x="4160520" y="1828800"/>
            <a:ext cx="2742840" cy="23313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1"/>
          <p:cNvSpPr/>
          <p:nvPr/>
        </p:nvSpPr>
        <p:spPr>
          <a:xfrm>
            <a:off x="4389120" y="2075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reflexionada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448056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direcció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coordinació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encaix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c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onciliació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familiar 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5" name="Connector 13"/>
          <p:cNvCxnSpPr/>
          <p:nvPr/>
        </p:nvCxnSpPr>
        <p:spPr>
          <a:xfrm>
            <a:off x="6903720" y="2999160"/>
            <a:ext cx="59436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6" name="Rounded Rectangle 14"/>
          <p:cNvSpPr/>
          <p:nvPr/>
        </p:nvSpPr>
        <p:spPr>
          <a:xfrm>
            <a:off x="7498080" y="1828800"/>
            <a:ext cx="2742840" cy="23313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7" name="Picture 15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7699320" y="2048400"/>
            <a:ext cx="2391120" cy="4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Box 16"/>
          <p:cNvSpPr/>
          <p:nvPr/>
        </p:nvSpPr>
        <p:spPr>
          <a:xfrm>
            <a:off x="8128440" y="2529000"/>
            <a:ext cx="165348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7"/>
          <p:cNvSpPr/>
          <p:nvPr/>
        </p:nvSpPr>
        <p:spPr>
          <a:xfrm>
            <a:off x="7818120" y="293076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r>
              <a:rPr lang="es-E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La Dra. Ester </a:t>
            </a:r>
            <a:r>
              <a:rPr lang="es-E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Bernadó</a:t>
            </a:r>
            <a:r>
              <a:rPr lang="es-E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va facilitar el contacte </a:t>
            </a:r>
            <a:r>
              <a:rPr lang="es-E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software i </a:t>
            </a:r>
            <a:r>
              <a:rPr lang="es-E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s-E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914400" y="5074920"/>
            <a:ext cx="10149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El desig de consolidar una plaça al TecnoCampus no neix ara: ve d’una trajectòria que hi ha trobat alineació acadèmica i institucional.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0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4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TecnoCampus: docència, equip i arquitectura de software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Docència documentada, equip i transferència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777240" y="1508760"/>
            <a:ext cx="3154320" cy="41144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6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1024200" y="1737360"/>
            <a:ext cx="2584080" cy="4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7"/>
          <p:cNvSpPr/>
          <p:nvPr/>
        </p:nvSpPr>
        <p:spPr>
          <a:xfrm>
            <a:off x="987480" y="2606040"/>
            <a:ext cx="2514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 continuada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des de 2021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1024200" y="3401640"/>
            <a:ext cx="2514240" cy="184021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programació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estructures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dades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d’Internet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15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oficials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8,75/10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4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dos </a:t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>últims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 </a:t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>anys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9,03/10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9"/>
          <p:cNvSpPr/>
          <p:nvPr/>
        </p:nvSpPr>
        <p:spPr>
          <a:xfrm>
            <a:off x="4297680" y="1508760"/>
            <a:ext cx="3154320" cy="41144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4572000" y="17830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Equip i arquitectura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4718160" y="23317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Dr. Josep Roure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12"/>
          <p:cNvSpPr/>
          <p:nvPr/>
        </p:nvSpPr>
        <p:spPr>
          <a:xfrm>
            <a:off x="4709160" y="278892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Domain Driven Design 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13"/>
          <p:cNvSpPr/>
          <p:nvPr/>
        </p:nvSpPr>
        <p:spPr>
          <a:xfrm>
            <a:off x="4709160" y="329184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Hexagonal</a:t>
            </a:r>
            <a:r>
              <a:rPr lang="en-U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 Architecture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4"/>
          <p:cNvSpPr/>
          <p:nvPr/>
        </p:nvSpPr>
        <p:spPr>
          <a:xfrm>
            <a:off x="4709160" y="379476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Microserveis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4608720" y="4480560"/>
            <a:ext cx="2514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Aprenentatge compartit i criteri arquitectònic aplicat a la docència.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6"/>
          <p:cNvSpPr/>
          <p:nvPr/>
        </p:nvSpPr>
        <p:spPr>
          <a:xfrm>
            <a:off x="7818120" y="1508760"/>
            <a:ext cx="3154320" cy="411444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8083440" y="178308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Innovació i transferència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8"/>
          <p:cNvSpPr/>
          <p:nvPr/>
        </p:nvSpPr>
        <p:spPr>
          <a:xfrm>
            <a:off x="8366760" y="2468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ABP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19"/>
          <p:cNvSpPr/>
          <p:nvPr/>
        </p:nvSpPr>
        <p:spPr>
          <a:xfrm>
            <a:off x="8366760" y="3035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SQAI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0"/>
          <p:cNvSpPr/>
          <p:nvPr/>
        </p:nvSpPr>
        <p:spPr>
          <a:xfrm>
            <a:off x="8366760" y="3602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 professional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8174880" y="4224600"/>
            <a:ext cx="24228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Una línia que connecta aula, arquitectura de software i necessitats reals d’empreses i institucions.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914400" y="5870520"/>
            <a:ext cx="101494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classe magistral posterior neix d’aquest punt de trobada: docència universitària, enginyeria del software i transferència professional.</a:t>
            </a:r>
            <a:endParaRPr lang="es-E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3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4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5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eu metodològic"/>
          <p:cNvSpPr/>
          <p:nvPr/>
        </p:nvSpPr>
        <p:spPr>
          <a:xfrm>
            <a:off x="1378440" y="6171840"/>
            <a:ext cx="9799560" cy="21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Mitjanes aritmètiques simples calculades a partir dels registres certificats pel Centre Universitari TecnoCampus.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Internacionalització, recerca doctoral i projecte de futur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transferència professional a la maduració científica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822960" y="1508760"/>
            <a:ext cx="2971440" cy="27885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" name="Picture 6" descr="neueda_favicon.png"/>
          <p:cNvPicPr/>
          <p:nvPr/>
        </p:nvPicPr>
        <p:blipFill>
          <a:blip r:embed="rId4"/>
          <a:stretch/>
        </p:blipFill>
        <p:spPr>
          <a:xfrm>
            <a:off x="1325880" y="1774080"/>
            <a:ext cx="347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7"/>
          <p:cNvSpPr/>
          <p:nvPr/>
        </p:nvSpPr>
        <p:spPr>
          <a:xfrm>
            <a:off x="1691640" y="1812240"/>
            <a:ext cx="1554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C1 i Neueda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170360" y="2395800"/>
            <a:ext cx="2448720" cy="174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Cambridge C1 Advanced 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internacional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anglès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Java, Spring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dirty="0" err="1">
                <a:solidFill>
                  <a:srgbClr val="2D343C"/>
                </a:solidFill>
                <a:latin typeface="Arial"/>
              </a:rPr>
              <a:t>competències</a:t>
            </a:r>
            <a:r>
              <a:rPr lang="en-US" sz="1340" dirty="0">
                <a:solidFill>
                  <a:srgbClr val="2D343C"/>
                </a:solidFill>
                <a:latin typeface="Arial"/>
              </a:rPr>
              <a:t> professionals transversals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9"/>
          <p:cNvSpPr/>
          <p:nvPr/>
        </p:nvSpPr>
        <p:spPr>
          <a:xfrm>
            <a:off x="4251960" y="1508760"/>
            <a:ext cx="2971440" cy="278856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80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Doctorat UDIMA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4599360" y="2395800"/>
            <a:ext cx="2395440" cy="154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competències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comunicatives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integrades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ABP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12"/>
          <p:cNvSpPr/>
          <p:nvPr/>
        </p:nvSpPr>
        <p:spPr>
          <a:xfrm>
            <a:off x="7680960" y="1508760"/>
            <a:ext cx="2971440" cy="27885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7909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Projecte de futur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8028360" y="2395800"/>
            <a:ext cx="2285640" cy="95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rigorosa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recerca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innovació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transferència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5"/>
          <p:cNvSpPr/>
          <p:nvPr/>
        </p:nvSpPr>
        <p:spPr>
          <a:xfrm>
            <a:off x="868680" y="461772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Tesi doctoral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6"/>
          <p:cNvSpPr/>
          <p:nvPr/>
        </p:nvSpPr>
        <p:spPr>
          <a:xfrm>
            <a:off x="868680" y="4892040"/>
            <a:ext cx="100580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Disseny mixt i quasiexperimental en dues assignatures reals amb ABP. Buit: integració curricular, mesura i estudis longitudinals.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7"/>
          <p:cNvSpPr/>
          <p:nvPr/>
        </p:nvSpPr>
        <p:spPr>
          <a:xfrm>
            <a:off x="960120" y="571500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8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Consolidar un projecte acadèmic vinculat al TecnoCampus: formar enginyers i enginyeres tècnicament solvents i professionalment responsables.</a:t>
            </a:r>
            <a:endParaRPr lang="es-E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6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</TotalTime>
  <Words>1080</Words>
  <Application>Microsoft Macintosh PowerPoint</Application>
  <PresentationFormat>Panorámica</PresentationFormat>
  <Paragraphs>151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dc:description>Generated support deck for 10-minute trajectory defense.</dc:description>
  <cp:lastModifiedBy>Alfredo Rueda Unsain</cp:lastModifiedBy>
  <cp:revision>30</cp:revision>
  <dcterms:created xsi:type="dcterms:W3CDTF">2013-01-27T09:14:16Z</dcterms:created>
  <dcterms:modified xsi:type="dcterms:W3CDTF">2026-07-12T11:03:07Z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Panorámica</vt:lpwstr>
  </property>
  <property fmtid="{D5CDD505-2E9C-101B-9397-08002B2CF9AE}" pid="4" name="Slides">
    <vt:r8>6</vt:r8>
  </property>
</Properties>
</file>